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  <p:sldId id="381" r:id="rId129"/>
    <p:sldId id="382" r:id="rId130"/>
    <p:sldId id="383" r:id="rId131"/>
    <p:sldId id="384" r:id="rId132"/>
    <p:sldId id="385" r:id="rId133"/>
    <p:sldId id="386" r:id="rId134"/>
    <p:sldId id="387" r:id="rId135"/>
    <p:sldId id="388" r:id="rId136"/>
    <p:sldId id="389" r:id="rId137"/>
    <p:sldId id="390" r:id="rId138"/>
    <p:sldId id="391" r:id="rId139"/>
    <p:sldId id="392" r:id="rId140"/>
    <p:sldId id="393" r:id="rId141"/>
    <p:sldId id="394" r:id="rId142"/>
    <p:sldId id="395" r:id="rId143"/>
    <p:sldId id="396" r:id="rId144"/>
    <p:sldId id="397" r:id="rId145"/>
    <p:sldId id="398" r:id="rId146"/>
    <p:sldId id="399" r:id="rId147"/>
    <p:sldId id="400" r:id="rId148"/>
    <p:sldId id="401" r:id="rId149"/>
    <p:sldId id="402" r:id="rId15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3" Type="http://schemas.openxmlformats.org/officeDocument/2006/relationships/tableStyles" Target="tableStyles.xml"/><Relationship Id="rId152" Type="http://schemas.openxmlformats.org/officeDocument/2006/relationships/viewProps" Target="viewProps.xml"/><Relationship Id="rId151" Type="http://schemas.openxmlformats.org/officeDocument/2006/relationships/presProps" Target="presProps.xml"/><Relationship Id="rId150" Type="http://schemas.openxmlformats.org/officeDocument/2006/relationships/slide" Target="slides/slide147.xml"/><Relationship Id="rId15" Type="http://schemas.openxmlformats.org/officeDocument/2006/relationships/slide" Target="slides/slide12.xml"/><Relationship Id="rId149" Type="http://schemas.openxmlformats.org/officeDocument/2006/relationships/slide" Target="slides/slide146.xml"/><Relationship Id="rId148" Type="http://schemas.openxmlformats.org/officeDocument/2006/relationships/slide" Target="slides/slide145.xml"/><Relationship Id="rId147" Type="http://schemas.openxmlformats.org/officeDocument/2006/relationships/slide" Target="slides/slide144.xml"/><Relationship Id="rId146" Type="http://schemas.openxmlformats.org/officeDocument/2006/relationships/slide" Target="slides/slide143.xml"/><Relationship Id="rId145" Type="http://schemas.openxmlformats.org/officeDocument/2006/relationships/slide" Target="slides/slide142.xml"/><Relationship Id="rId144" Type="http://schemas.openxmlformats.org/officeDocument/2006/relationships/slide" Target="slides/slide141.xml"/><Relationship Id="rId143" Type="http://schemas.openxmlformats.org/officeDocument/2006/relationships/slide" Target="slides/slide140.xml"/><Relationship Id="rId142" Type="http://schemas.openxmlformats.org/officeDocument/2006/relationships/slide" Target="slides/slide139.xml"/><Relationship Id="rId141" Type="http://schemas.openxmlformats.org/officeDocument/2006/relationships/slide" Target="slides/slide138.xml"/><Relationship Id="rId140" Type="http://schemas.openxmlformats.org/officeDocument/2006/relationships/slide" Target="slides/slide137.xml"/><Relationship Id="rId14" Type="http://schemas.openxmlformats.org/officeDocument/2006/relationships/slide" Target="slides/slide11.xml"/><Relationship Id="rId139" Type="http://schemas.openxmlformats.org/officeDocument/2006/relationships/slide" Target="slides/slide136.xml"/><Relationship Id="rId138" Type="http://schemas.openxmlformats.org/officeDocument/2006/relationships/slide" Target="slides/slide135.xml"/><Relationship Id="rId137" Type="http://schemas.openxmlformats.org/officeDocument/2006/relationships/slide" Target="slides/slide134.xml"/><Relationship Id="rId136" Type="http://schemas.openxmlformats.org/officeDocument/2006/relationships/slide" Target="slides/slide133.xml"/><Relationship Id="rId135" Type="http://schemas.openxmlformats.org/officeDocument/2006/relationships/slide" Target="slides/slide132.xml"/><Relationship Id="rId134" Type="http://schemas.openxmlformats.org/officeDocument/2006/relationships/slide" Target="slides/slide131.xml"/><Relationship Id="rId133" Type="http://schemas.openxmlformats.org/officeDocument/2006/relationships/slide" Target="slides/slide130.xml"/><Relationship Id="rId132" Type="http://schemas.openxmlformats.org/officeDocument/2006/relationships/slide" Target="slides/slide129.xml"/><Relationship Id="rId131" Type="http://schemas.openxmlformats.org/officeDocument/2006/relationships/slide" Target="slides/slide128.xml"/><Relationship Id="rId130" Type="http://schemas.openxmlformats.org/officeDocument/2006/relationships/slide" Target="slides/slide127.xml"/><Relationship Id="rId13" Type="http://schemas.openxmlformats.org/officeDocument/2006/relationships/slide" Target="slides/slide10.xml"/><Relationship Id="rId129" Type="http://schemas.openxmlformats.org/officeDocument/2006/relationships/slide" Target="slides/slide126.xml"/><Relationship Id="rId128" Type="http://schemas.openxmlformats.org/officeDocument/2006/relationships/slide" Target="slides/slide125.xml"/><Relationship Id="rId127" Type="http://schemas.openxmlformats.org/officeDocument/2006/relationships/slide" Target="slides/slide124.xml"/><Relationship Id="rId126" Type="http://schemas.openxmlformats.org/officeDocument/2006/relationships/slide" Target="slides/slide123.xml"/><Relationship Id="rId125" Type="http://schemas.openxmlformats.org/officeDocument/2006/relationships/slide" Target="slides/slide122.xml"/><Relationship Id="rId124" Type="http://schemas.openxmlformats.org/officeDocument/2006/relationships/slide" Target="slides/slide121.xml"/><Relationship Id="rId123" Type="http://schemas.openxmlformats.org/officeDocument/2006/relationships/slide" Target="slides/slide120.xml"/><Relationship Id="rId122" Type="http://schemas.openxmlformats.org/officeDocument/2006/relationships/slide" Target="slides/slide119.xml"/><Relationship Id="rId121" Type="http://schemas.openxmlformats.org/officeDocument/2006/relationships/slide" Target="slides/slide118.xml"/><Relationship Id="rId120" Type="http://schemas.openxmlformats.org/officeDocument/2006/relationships/slide" Target="slides/slide117.xml"/><Relationship Id="rId12" Type="http://schemas.openxmlformats.org/officeDocument/2006/relationships/slide" Target="slides/slide9.xml"/><Relationship Id="rId119" Type="http://schemas.openxmlformats.org/officeDocument/2006/relationships/slide" Target="slides/slide116.xml"/><Relationship Id="rId118" Type="http://schemas.openxmlformats.org/officeDocument/2006/relationships/slide" Target="slides/slide115.xml"/><Relationship Id="rId117" Type="http://schemas.openxmlformats.org/officeDocument/2006/relationships/slide" Target="slides/slide114.xml"/><Relationship Id="rId116" Type="http://schemas.openxmlformats.org/officeDocument/2006/relationships/slide" Target="slides/slide113.xml"/><Relationship Id="rId115" Type="http://schemas.openxmlformats.org/officeDocument/2006/relationships/slide" Target="slides/slide112.xml"/><Relationship Id="rId114" Type="http://schemas.openxmlformats.org/officeDocument/2006/relationships/slide" Target="slides/slide111.xml"/><Relationship Id="rId113" Type="http://schemas.openxmlformats.org/officeDocument/2006/relationships/slide" Target="slides/slide110.xml"/><Relationship Id="rId112" Type="http://schemas.openxmlformats.org/officeDocument/2006/relationships/slide" Target="slides/slide109.xml"/><Relationship Id="rId111" Type="http://schemas.openxmlformats.org/officeDocument/2006/relationships/slide" Target="slides/slide108.xml"/><Relationship Id="rId110" Type="http://schemas.openxmlformats.org/officeDocument/2006/relationships/slide" Target="slides/slide107.xml"/><Relationship Id="rId11" Type="http://schemas.openxmlformats.org/officeDocument/2006/relationships/slide" Target="slides/slide8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0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2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3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4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5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6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7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8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9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0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2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3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4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5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6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7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8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9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0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2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3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4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5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6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7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8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9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0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2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3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4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5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6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7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8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9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0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2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3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4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5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6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top"/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oundRect">
            <a:avLst>
              <a:gd name="adj" fmla="val 44444"/>
            </a:avLst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" name="txt-0.23838150339538244"/>
          <p:cNvSpPr>
            <a:spLocks noGrp="1"/>
          </p:cNvSpPr>
          <p:nvPr/>
        </p:nvSpPr>
        <p:spPr>
          <a:xfrm>
            <a:off x="647700" y="81915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5912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ITOM 系统培训</a:t>
            </a:r>
            <a:endParaRPr sz="1500" b="1">
              <a:solidFill>
                <a:srgbClr val="3D8D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023094690891060976"/>
          <p:cNvSpPr>
            <a:spLocks noGrp="1"/>
          </p:cNvSpPr>
          <p:nvPr/>
        </p:nvSpPr>
        <p:spPr>
          <a:xfrm>
            <a:off x="767080" y="2287905"/>
            <a:ext cx="553974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3757"/>
          </a:bodyPr>
          <a:lstStyle/>
          <a:p>
            <a:pPr algn="l">
              <a:lnSpc>
                <a:spcPct val="106000"/>
              </a:lnSpc>
              <a:buNone/>
              <a:defRPr sz="40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0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从 ITIL 概念到系统落地</a:t>
            </a:r>
            <a:endParaRPr sz="40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685800" y="3286125"/>
            <a:ext cx="5505450" cy="0"/>
          </a:xfrm>
          <a:prstGeom prst="line">
            <a:avLst/>
          </a:prstGeom>
          <a:noFill/>
          <a:ln w="38100">
            <a:solidFill>
              <a:srgbClr val="3D8DFF"/>
            </a:solidFill>
            <a:prstDash val="solid"/>
          </a:ln>
        </p:spPr>
      </p:sp>
      <p:sp>
        <p:nvSpPr>
          <p:cNvPr id="7" name="cover"/>
          <p:cNvSpPr>
            <a:spLocks noGrp="1"/>
          </p:cNvSpPr>
          <p:nvPr/>
        </p:nvSpPr>
        <p:spPr>
          <a:xfrm>
            <a:off x="6743700" y="1414780"/>
            <a:ext cx="2857500" cy="3381375"/>
          </a:xfrm>
          <a:prstGeom prst="roundRect">
            <a:avLst>
              <a:gd name="adj" fmla="val 8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8" name="txt-0.1417692869851198"/>
          <p:cNvSpPr>
            <a:spLocks noGrp="1"/>
          </p:cNvSpPr>
          <p:nvPr/>
        </p:nvSpPr>
        <p:spPr>
          <a:xfrm>
            <a:off x="7124700" y="1833880"/>
            <a:ext cx="2095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0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理解概念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124700" y="2748280"/>
            <a:ext cx="2047875" cy="0"/>
          </a:xfrm>
          <a:prstGeom prst="line">
            <a:avLst/>
          </a:prstGeom>
          <a:noFill/>
          <a:ln w="19050">
            <a:solidFill>
              <a:srgbClr val="B9C3CB"/>
            </a:solidFill>
            <a:prstDash val="solid"/>
          </a:ln>
        </p:spPr>
      </p:sp>
      <p:sp>
        <p:nvSpPr>
          <p:cNvPr id="10" name="txt-0.7446244450436121"/>
          <p:cNvSpPr>
            <a:spLocks noGrp="1"/>
          </p:cNvSpPr>
          <p:nvPr/>
        </p:nvSpPr>
        <p:spPr>
          <a:xfrm>
            <a:off x="7124700" y="3034030"/>
            <a:ext cx="2095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0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看懂系统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7124700" y="3948430"/>
            <a:ext cx="2047875" cy="0"/>
          </a:xfrm>
          <a:prstGeom prst="line">
            <a:avLst/>
          </a:prstGeom>
          <a:noFill/>
          <a:ln w="19050">
            <a:solidFill>
              <a:srgbClr val="B9C3CB"/>
            </a:solidFill>
            <a:prstDash val="solid"/>
          </a:ln>
        </p:spPr>
      </p:sp>
      <p:sp>
        <p:nvSpPr>
          <p:cNvPr id="12" name="txt-0.4207132986754831"/>
          <p:cNvSpPr>
            <a:spLocks noGrp="1"/>
          </p:cNvSpPr>
          <p:nvPr/>
        </p:nvSpPr>
        <p:spPr>
          <a:xfrm>
            <a:off x="7124700" y="4234180"/>
            <a:ext cx="2095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0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能做判断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4" name="txt-0.7620951040674441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ITOM 系统培训｜深度版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txt-0.6667773733403214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001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1504205381573115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7C6AE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7C6AE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课程说明</a:t>
            </a:r>
            <a:endParaRPr sz="975" b="1">
              <a:solidFill>
                <a:srgbClr val="7C6AE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23695510489137261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为什么你会看到“通用 ITIL”和“当前 ITOM”两套语言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1598948476715829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先学理论，再明确系统做了哪些取舍。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6" name="txt-0.7574575942407983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ITIL 是服务管理的通用知识体系，不是一张固定审批表。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8" name="txt-0.6090555726205451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ITOM 是轻量运营平台：把高频、可追溯的核心闭环先做实。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10" name="txt-0.08559802915670611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系统明确不建设独立 CAB、CSI、组合治理等重装置；需要时以流程配置和审计留痕承载。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2812761990410375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课程说明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3836089670010916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002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txt-0.08786350592368464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课程地图</a:t>
            </a:r>
            <a:endParaRPr sz="975" b="1">
              <a:solidFill>
                <a:srgbClr val="24A67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16868314665220763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两节课的学习路径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left"/>
          <p:cNvSpPr>
            <a:spLocks noGrp="1"/>
          </p:cNvSpPr>
          <p:nvPr/>
        </p:nvSpPr>
        <p:spPr>
          <a:xfrm>
            <a:off x="609600" y="1809750"/>
            <a:ext cx="4953000" cy="3333750"/>
          </a:xfrm>
          <a:prstGeom prst="roundRect">
            <a:avLst>
              <a:gd name="adj" fmla="val 5143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4" name="right"/>
          <p:cNvSpPr>
            <a:spLocks noGrp="1"/>
          </p:cNvSpPr>
          <p:nvPr/>
        </p:nvSpPr>
        <p:spPr>
          <a:xfrm>
            <a:off x="5943600" y="1809750"/>
            <a:ext cx="4953000" cy="3333750"/>
          </a:xfrm>
          <a:prstGeom prst="roundRect">
            <a:avLst>
              <a:gd name="adj" fmla="val 5143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txt-0.8384510185356923"/>
          <p:cNvSpPr>
            <a:spLocks noGrp="1"/>
          </p:cNvSpPr>
          <p:nvPr/>
        </p:nvSpPr>
        <p:spPr>
          <a:xfrm>
            <a:off x="876300" y="2095500"/>
            <a:ext cx="419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899"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第一节｜建立共同语言</a:t>
            </a:r>
            <a:endParaRPr sz="16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dot"/>
          <p:cNvSpPr>
            <a:spLocks noGrp="1"/>
          </p:cNvSpPr>
          <p:nvPr/>
        </p:nvSpPr>
        <p:spPr>
          <a:xfrm>
            <a:off x="876300" y="26765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7" name="txt-0.495092095436673"/>
          <p:cNvSpPr>
            <a:spLocks noGrp="1"/>
          </p:cNvSpPr>
          <p:nvPr/>
        </p:nvSpPr>
        <p:spPr>
          <a:xfrm>
            <a:off x="1085850" y="2619375"/>
            <a:ext cx="3981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ITIL/ITSM 基础术语</a:t>
            </a:r>
            <a:endParaRPr sz="127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dot"/>
          <p:cNvSpPr>
            <a:spLocks noGrp="1"/>
          </p:cNvSpPr>
          <p:nvPr/>
        </p:nvSpPr>
        <p:spPr>
          <a:xfrm>
            <a:off x="876300" y="30956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9" name="txt-0.24754423986765006"/>
          <p:cNvSpPr>
            <a:spLocks noGrp="1"/>
          </p:cNvSpPr>
          <p:nvPr/>
        </p:nvSpPr>
        <p:spPr>
          <a:xfrm>
            <a:off x="1085850" y="3038475"/>
            <a:ext cx="3981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六大域与六类单据</a:t>
            </a:r>
            <a:endParaRPr sz="127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dot"/>
          <p:cNvSpPr>
            <a:spLocks noGrp="1"/>
          </p:cNvSpPr>
          <p:nvPr/>
        </p:nvSpPr>
        <p:spPr>
          <a:xfrm>
            <a:off x="876300" y="35147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11" name="txt-0.016736301436369838"/>
          <p:cNvSpPr>
            <a:spLocks noGrp="1"/>
          </p:cNvSpPr>
          <p:nvPr/>
        </p:nvSpPr>
        <p:spPr>
          <a:xfrm>
            <a:off x="1085850" y="3457575"/>
            <a:ext cx="3981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用户、角色、权限、组织主数据</a:t>
            </a:r>
            <a:endParaRPr sz="127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dot"/>
          <p:cNvSpPr>
            <a:spLocks noGrp="1"/>
          </p:cNvSpPr>
          <p:nvPr/>
        </p:nvSpPr>
        <p:spPr>
          <a:xfrm>
            <a:off x="876300" y="39338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13" name="txt-0.3496865493121455"/>
          <p:cNvSpPr>
            <a:spLocks noGrp="1"/>
          </p:cNvSpPr>
          <p:nvPr/>
        </p:nvSpPr>
        <p:spPr>
          <a:xfrm>
            <a:off x="1085850" y="3876675"/>
            <a:ext cx="3981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当前变更流程的真实跑法</a:t>
            </a:r>
            <a:endParaRPr sz="127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txt-0.4071055901984467"/>
          <p:cNvSpPr>
            <a:spLocks noGrp="1"/>
          </p:cNvSpPr>
          <p:nvPr/>
        </p:nvSpPr>
        <p:spPr>
          <a:xfrm>
            <a:off x="6210300" y="2095500"/>
            <a:ext cx="419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899"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第二节｜把规则和数据讲透</a:t>
            </a:r>
            <a:endParaRPr sz="16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dot"/>
          <p:cNvSpPr>
            <a:spLocks noGrp="1"/>
          </p:cNvSpPr>
          <p:nvPr/>
        </p:nvSpPr>
        <p:spPr>
          <a:xfrm>
            <a:off x="6210300" y="26765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16" name="txt-0.46060863339419367"/>
          <p:cNvSpPr>
            <a:spLocks noGrp="1"/>
          </p:cNvSpPr>
          <p:nvPr/>
        </p:nvSpPr>
        <p:spPr>
          <a:xfrm>
            <a:off x="6419850" y="2619375"/>
            <a:ext cx="3981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需求如何评分与分流</a:t>
            </a:r>
            <a:endParaRPr sz="127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dot"/>
          <p:cNvSpPr>
            <a:spLocks noGrp="1"/>
          </p:cNvSpPr>
          <p:nvPr/>
        </p:nvSpPr>
        <p:spPr>
          <a:xfrm>
            <a:off x="6210300" y="30956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18" name="txt-0.7665933193295277"/>
          <p:cNvSpPr>
            <a:spLocks noGrp="1"/>
          </p:cNvSpPr>
          <p:nvPr/>
        </p:nvSpPr>
        <p:spPr>
          <a:xfrm>
            <a:off x="6419850" y="3038475"/>
            <a:ext cx="3981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流程定义、实例、任务与版本</a:t>
            </a:r>
            <a:endParaRPr sz="127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dot"/>
          <p:cNvSpPr>
            <a:spLocks noGrp="1"/>
          </p:cNvSpPr>
          <p:nvPr/>
        </p:nvSpPr>
        <p:spPr>
          <a:xfrm>
            <a:off x="6210300" y="35147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20" name="txt-0.6367704956032566"/>
          <p:cNvSpPr>
            <a:spLocks noGrp="1"/>
          </p:cNvSpPr>
          <p:nvPr/>
        </p:nvSpPr>
        <p:spPr>
          <a:xfrm>
            <a:off x="6419850" y="3457575"/>
            <a:ext cx="3981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活动积分、角色绩效与 80/20 模型</a:t>
            </a:r>
            <a:endParaRPr sz="127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" name="dot"/>
          <p:cNvSpPr>
            <a:spLocks noGrp="1"/>
          </p:cNvSpPr>
          <p:nvPr/>
        </p:nvSpPr>
        <p:spPr>
          <a:xfrm>
            <a:off x="6210300" y="39338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22" name="txt-0.06666796942048447"/>
          <p:cNvSpPr>
            <a:spLocks noGrp="1"/>
          </p:cNvSpPr>
          <p:nvPr/>
        </p:nvSpPr>
        <p:spPr>
          <a:xfrm>
            <a:off x="6419850" y="3876675"/>
            <a:ext cx="3981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未来 Feishu Agent 的边界</a:t>
            </a:r>
            <a:endParaRPr sz="127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24" name="txt-0.17847354693079587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课程地图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" name="txt-0.915981988823675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003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txt-0.804241450162544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开课前提</a:t>
            </a:r>
            <a:endParaRPr sz="975" b="1">
              <a:solidFill>
                <a:srgbClr val="3D8D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18055492965790432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先记住一个判断顺序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13034328935510975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每次处理工作时，先问四个问题。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6" name="txt-0.5574174531868308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这是标准服务交付、当前故障、计划改变，还是反复根因？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8" name="txt-0.07268914462351117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谁是提交人，谁是当前节点处理人，谁只是知会？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0" name="txt-0.5950896760890201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数据来自哪一张业务表、哪个字段、哪个时间窗？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dot"/>
          <p:cNvSpPr>
            <a:spLocks noGrp="1"/>
          </p:cNvSpPr>
          <p:nvPr/>
        </p:nvSpPr>
        <p:spPr>
          <a:xfrm>
            <a:off x="895350" y="37814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2" name="txt-0.19951280666109916"/>
          <p:cNvSpPr>
            <a:spLocks noGrp="1"/>
          </p:cNvSpPr>
          <p:nvPr/>
        </p:nvSpPr>
        <p:spPr>
          <a:xfrm>
            <a:off x="1104900" y="37242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这个动作是否会影响流程状态、积分流水、绩效周期或审计？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4" name="txt-0.7330993492664316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开课前提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txt-0.7776959313349873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004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5" name="txt-0.5660949888041333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开课前提</a:t>
            </a:r>
            <a:endParaRPr sz="975" b="1">
              <a:solidFill>
                <a:srgbClr val="3D8D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21436834445199904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把系统用成团队共同工作台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flow"/>
          <p:cNvSpPr>
            <a:spLocks noGrp="1"/>
          </p:cNvSpPr>
          <p:nvPr/>
        </p:nvSpPr>
        <p:spPr>
          <a:xfrm>
            <a:off x="609600" y="2333625"/>
            <a:ext cx="1920240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4" name="dot"/>
          <p:cNvSpPr>
            <a:spLocks noGrp="1"/>
          </p:cNvSpPr>
          <p:nvPr/>
        </p:nvSpPr>
        <p:spPr>
          <a:xfrm>
            <a:off x="781050" y="2524125"/>
            <a:ext cx="266700" cy="26670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5" name="txt-0.6101696762471435"/>
          <p:cNvSpPr>
            <a:spLocks noGrp="1"/>
          </p:cNvSpPr>
          <p:nvPr/>
        </p:nvSpPr>
        <p:spPr>
          <a:xfrm>
            <a:off x="78105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txt-0.594766282749357"/>
          <p:cNvSpPr>
            <a:spLocks noGrp="1"/>
          </p:cNvSpPr>
          <p:nvPr/>
        </p:nvSpPr>
        <p:spPr>
          <a:xfrm>
            <a:off x="781050" y="2990850"/>
            <a:ext cx="157734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统一入口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txt-0.7781806901336206"/>
          <p:cNvSpPr>
            <a:spLocks noGrp="1"/>
          </p:cNvSpPr>
          <p:nvPr/>
        </p:nvSpPr>
        <p:spPr>
          <a:xfrm>
            <a:off x="781050" y="3409950"/>
            <a:ext cx="157734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不靠口头分派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arrow"/>
          <p:cNvSpPr>
            <a:spLocks noGrp="1"/>
          </p:cNvSpPr>
          <p:nvPr/>
        </p:nvSpPr>
        <p:spPr>
          <a:xfrm>
            <a:off x="2567940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9" name="flow"/>
          <p:cNvSpPr>
            <a:spLocks noGrp="1"/>
          </p:cNvSpPr>
          <p:nvPr/>
        </p:nvSpPr>
        <p:spPr>
          <a:xfrm>
            <a:off x="2701290" y="2333625"/>
            <a:ext cx="1920240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10" name="dot"/>
          <p:cNvSpPr>
            <a:spLocks noGrp="1"/>
          </p:cNvSpPr>
          <p:nvPr/>
        </p:nvSpPr>
        <p:spPr>
          <a:xfrm>
            <a:off x="2872740" y="2524125"/>
            <a:ext cx="266700" cy="26670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1" name="txt-0.5655209793214336"/>
          <p:cNvSpPr>
            <a:spLocks noGrp="1"/>
          </p:cNvSpPr>
          <p:nvPr/>
        </p:nvSpPr>
        <p:spPr>
          <a:xfrm>
            <a:off x="287274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txt-0.7195590658921851"/>
          <p:cNvSpPr>
            <a:spLocks noGrp="1"/>
          </p:cNvSpPr>
          <p:nvPr/>
        </p:nvSpPr>
        <p:spPr>
          <a:xfrm>
            <a:off x="2872740" y="2990850"/>
            <a:ext cx="157734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明确类型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35490542006299775"/>
          <p:cNvSpPr>
            <a:spLocks noGrp="1"/>
          </p:cNvSpPr>
          <p:nvPr/>
        </p:nvSpPr>
        <p:spPr>
          <a:xfrm>
            <a:off x="2872740" y="3409950"/>
            <a:ext cx="157734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不把不同问题混在一起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arrow"/>
          <p:cNvSpPr>
            <a:spLocks noGrp="1"/>
          </p:cNvSpPr>
          <p:nvPr/>
        </p:nvSpPr>
        <p:spPr>
          <a:xfrm>
            <a:off x="4659630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15" name="flow"/>
          <p:cNvSpPr>
            <a:spLocks noGrp="1"/>
          </p:cNvSpPr>
          <p:nvPr/>
        </p:nvSpPr>
        <p:spPr>
          <a:xfrm>
            <a:off x="4792980" y="2333625"/>
            <a:ext cx="1920240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16" name="dot"/>
          <p:cNvSpPr>
            <a:spLocks noGrp="1"/>
          </p:cNvSpPr>
          <p:nvPr/>
        </p:nvSpPr>
        <p:spPr>
          <a:xfrm>
            <a:off x="4964430" y="2524125"/>
            <a:ext cx="266700" cy="26670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7" name="txt-0.7447723579953651"/>
          <p:cNvSpPr>
            <a:spLocks noGrp="1"/>
          </p:cNvSpPr>
          <p:nvPr/>
        </p:nvSpPr>
        <p:spPr>
          <a:xfrm>
            <a:off x="496443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txt-0.9247325699712288"/>
          <p:cNvSpPr>
            <a:spLocks noGrp="1"/>
          </p:cNvSpPr>
          <p:nvPr/>
        </p:nvSpPr>
        <p:spPr>
          <a:xfrm>
            <a:off x="4964430" y="2990850"/>
            <a:ext cx="157734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流程推进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txt-0.7689632879497502"/>
          <p:cNvSpPr>
            <a:spLocks noGrp="1"/>
          </p:cNvSpPr>
          <p:nvPr/>
        </p:nvSpPr>
        <p:spPr>
          <a:xfrm>
            <a:off x="4964430" y="3409950"/>
            <a:ext cx="157734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状态由系统编排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arrow"/>
          <p:cNvSpPr>
            <a:spLocks noGrp="1"/>
          </p:cNvSpPr>
          <p:nvPr/>
        </p:nvSpPr>
        <p:spPr>
          <a:xfrm>
            <a:off x="6751320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21" name="flow"/>
          <p:cNvSpPr>
            <a:spLocks noGrp="1"/>
          </p:cNvSpPr>
          <p:nvPr/>
        </p:nvSpPr>
        <p:spPr>
          <a:xfrm>
            <a:off x="6884670" y="2333625"/>
            <a:ext cx="1920240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22" name="dot"/>
          <p:cNvSpPr>
            <a:spLocks noGrp="1"/>
          </p:cNvSpPr>
          <p:nvPr/>
        </p:nvSpPr>
        <p:spPr>
          <a:xfrm>
            <a:off x="7056120" y="2524125"/>
            <a:ext cx="266700" cy="26670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23" name="txt-0.050839083913838956"/>
          <p:cNvSpPr>
            <a:spLocks noGrp="1"/>
          </p:cNvSpPr>
          <p:nvPr/>
        </p:nvSpPr>
        <p:spPr>
          <a:xfrm>
            <a:off x="705612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" name="txt-0.36635417680380034"/>
          <p:cNvSpPr>
            <a:spLocks noGrp="1"/>
          </p:cNvSpPr>
          <p:nvPr/>
        </p:nvSpPr>
        <p:spPr>
          <a:xfrm>
            <a:off x="7056120" y="2990850"/>
            <a:ext cx="157734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证据沉淀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" name="txt-0.10622767171888026"/>
          <p:cNvSpPr>
            <a:spLocks noGrp="1"/>
          </p:cNvSpPr>
          <p:nvPr/>
        </p:nvSpPr>
        <p:spPr>
          <a:xfrm>
            <a:off x="7056120" y="3409950"/>
            <a:ext cx="157734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结果可以复盘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" name="arrow"/>
          <p:cNvSpPr>
            <a:spLocks noGrp="1"/>
          </p:cNvSpPr>
          <p:nvPr/>
        </p:nvSpPr>
        <p:spPr>
          <a:xfrm>
            <a:off x="8843010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27" name="flow"/>
          <p:cNvSpPr>
            <a:spLocks noGrp="1"/>
          </p:cNvSpPr>
          <p:nvPr/>
        </p:nvSpPr>
        <p:spPr>
          <a:xfrm>
            <a:off x="8976360" y="2333625"/>
            <a:ext cx="1920240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28" name="dot"/>
          <p:cNvSpPr>
            <a:spLocks noGrp="1"/>
          </p:cNvSpPr>
          <p:nvPr/>
        </p:nvSpPr>
        <p:spPr>
          <a:xfrm>
            <a:off x="9147810" y="2524125"/>
            <a:ext cx="266700" cy="26670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29" name="txt-0.8219192719874536"/>
          <p:cNvSpPr>
            <a:spLocks noGrp="1"/>
          </p:cNvSpPr>
          <p:nvPr/>
        </p:nvSpPr>
        <p:spPr>
          <a:xfrm>
            <a:off x="914781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" name="txt-0.4912258035481919"/>
          <p:cNvSpPr>
            <a:spLocks noGrp="1"/>
          </p:cNvSpPr>
          <p:nvPr/>
        </p:nvSpPr>
        <p:spPr>
          <a:xfrm>
            <a:off x="9147810" y="2990850"/>
            <a:ext cx="157734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数据度量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1" name="txt-0.37113594294919783"/>
          <p:cNvSpPr>
            <a:spLocks noGrp="1"/>
          </p:cNvSpPr>
          <p:nvPr/>
        </p:nvSpPr>
        <p:spPr>
          <a:xfrm>
            <a:off x="9147810" y="3409950"/>
            <a:ext cx="157734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规则可解释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2" name="直接连接符 31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33" name="txt-0.15253830226524168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开课前提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4" name="txt-0.7798436580595378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005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txt-0.7471571724385128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学习结果</a:t>
            </a:r>
            <a:endParaRPr sz="975" b="1">
              <a:solidFill>
                <a:srgbClr val="24A67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36565556770849805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完成两节课后，团队应该能做什么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3373380547956454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学习结果不是记住页面，而是能在真实工作中做判断。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6" name="txt-0.24219920754071123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能说清 ITIL/ITSM 的基本概念，并指出它们在 ITOM 中对应的单据和字段。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8" name="txt-0.48845912018544646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能按角色和数据范围创建、处理、审批、验收和关闭单据。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10" name="txt-0.42390226195809366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能解释当前六类流程、流程版本、RACI 快照与状态机的关系。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dot"/>
          <p:cNvSpPr>
            <a:spLocks noGrp="1"/>
          </p:cNvSpPr>
          <p:nvPr/>
        </p:nvSpPr>
        <p:spPr>
          <a:xfrm>
            <a:off x="895350" y="37814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12" name="txt-0.9714029264679075"/>
          <p:cNvSpPr>
            <a:spLocks noGrp="1"/>
          </p:cNvSpPr>
          <p:nvPr/>
        </p:nvSpPr>
        <p:spPr>
          <a:xfrm>
            <a:off x="1104900" y="37242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能看懂活动积分与角色绩效的取数边界，知道为什么不能混算。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4" name="txt-0.2132921976501343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学习结果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txt-0.6239096306078429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006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section"/>
          <p:cNvSpPr>
            <a:spLocks noGrp="1"/>
          </p:cNvSpPr>
          <p:nvPr/>
        </p:nvSpPr>
        <p:spPr>
          <a:xfrm>
            <a:off x="0" y="0"/>
            <a:ext cx="3524250" cy="6858000"/>
          </a:xfrm>
          <a:prstGeom prst="roundRect">
            <a:avLst>
              <a:gd name="adj" fmla="val 2162"/>
            </a:avLst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" name="txt-0.05557704382354345"/>
          <p:cNvSpPr>
            <a:spLocks noGrp="1"/>
          </p:cNvSpPr>
          <p:nvPr/>
        </p:nvSpPr>
        <p:spPr>
          <a:xfrm>
            <a:off x="628650" y="800100"/>
            <a:ext cx="2190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2220"/>
          </a:bodyPr>
          <a:lstStyle/>
          <a:p>
            <a:pPr algn="l">
              <a:lnSpc>
                <a:spcPct val="106000"/>
              </a:lnSpc>
              <a:buNone/>
              <a:defRPr sz="72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72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07</a:t>
            </a:r>
            <a:endParaRPr sz="72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20103855623019162"/>
          <p:cNvSpPr>
            <a:spLocks noGrp="1"/>
          </p:cNvSpPr>
          <p:nvPr/>
        </p:nvSpPr>
        <p:spPr>
          <a:xfrm>
            <a:off x="647700" y="22098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0363"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ITOM 系统培训</a:t>
            </a:r>
            <a:endParaRPr sz="135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txt-0.05737712420038277"/>
          <p:cNvSpPr>
            <a:spLocks noGrp="1"/>
          </p:cNvSpPr>
          <p:nvPr/>
        </p:nvSpPr>
        <p:spPr>
          <a:xfrm>
            <a:off x="4057650" y="1543050"/>
            <a:ext cx="7048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2000"/>
              </a:lnSpc>
              <a:buNone/>
              <a:defRPr sz="39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9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第一节｜ITIL 与 ITSM 基础</a:t>
            </a:r>
            <a:endParaRPr sz="39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txt-0.9284900205504728"/>
          <p:cNvSpPr>
            <a:spLocks noGrp="1"/>
          </p:cNvSpPr>
          <p:nvPr/>
        </p:nvSpPr>
        <p:spPr>
          <a:xfrm>
            <a:off x="4057650" y="2533650"/>
            <a:ext cx="6953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25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先建立理论地图，再把每个概念落到 ITOM 的页面、字段和流程。</a:t>
            </a:r>
            <a:endParaRPr sz="1725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4057650" y="3752850"/>
            <a:ext cx="6610350" cy="0"/>
          </a:xfrm>
          <a:prstGeom prst="line">
            <a:avLst/>
          </a:prstGeom>
          <a:noFill/>
          <a:ln w="28575">
            <a:solidFill>
              <a:srgbClr val="3D8DFF"/>
            </a:solidFill>
            <a:prstDash val="solid"/>
          </a:ln>
        </p:spPr>
      </p:sp>
      <p:sp>
        <p:nvSpPr>
          <p:cNvPr id="7" name="txt-0.9325536553413257"/>
          <p:cNvSpPr>
            <a:spLocks noGrp="1"/>
          </p:cNvSpPr>
          <p:nvPr/>
        </p:nvSpPr>
        <p:spPr>
          <a:xfrm>
            <a:off x="4057650" y="4038600"/>
            <a:ext cx="657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2684"/>
          </a:bodyPr>
          <a:lstStyle/>
          <a:p>
            <a:pPr algn="l">
              <a:lnSpc>
                <a:spcPct val="106000"/>
              </a:lnSpc>
              <a:buNone/>
              <a:defRPr sz="1425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课程原则：先理解概念，再看系统如何落地，最后练习如何判断。</a:t>
            </a:r>
            <a:endParaRPr sz="1425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3852091188227976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ITIL 基础</a:t>
            </a:r>
            <a:endParaRPr sz="975" b="1">
              <a:solidFill>
                <a:srgbClr val="3D8D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6407138113968608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ITIL 不是“审批流程模板”，而是一套服务管理语言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041750287710814904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它帮助团队把技术活动和业务结果连接起来。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6" name="txt-0.1435481952688905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服务（Service）：让客户获得想要的结果，而不必自己承担全部成本与风险。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8" name="txt-0.3378565872306285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价值（Value）：不是 IT 做了多少，而是业务得到什么结果、体验与风险控制。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0" name="txt-0.1748793562993155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实践（Practice）：组织、流程、信息和技术一起运转，不是单点工具。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4730553643952725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ITIL 基础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15400784588547844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008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txt-0.6832902468041193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ITIL 基础</a:t>
            </a:r>
            <a:endParaRPr sz="975" b="1">
              <a:solidFill>
                <a:srgbClr val="24A67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03322162116452565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ITSM 在解决什么管理问题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left"/>
          <p:cNvSpPr>
            <a:spLocks noGrp="1"/>
          </p:cNvSpPr>
          <p:nvPr/>
        </p:nvSpPr>
        <p:spPr>
          <a:xfrm>
            <a:off x="609600" y="1809750"/>
            <a:ext cx="4953000" cy="3333750"/>
          </a:xfrm>
          <a:prstGeom prst="roundRect">
            <a:avLst>
              <a:gd name="adj" fmla="val 5143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4" name="right"/>
          <p:cNvSpPr>
            <a:spLocks noGrp="1"/>
          </p:cNvSpPr>
          <p:nvPr/>
        </p:nvSpPr>
        <p:spPr>
          <a:xfrm>
            <a:off x="5943600" y="1809750"/>
            <a:ext cx="4953000" cy="3333750"/>
          </a:xfrm>
          <a:prstGeom prst="roundRect">
            <a:avLst>
              <a:gd name="adj" fmla="val 5143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txt-0.12715107522945168"/>
          <p:cNvSpPr>
            <a:spLocks noGrp="1"/>
          </p:cNvSpPr>
          <p:nvPr/>
        </p:nvSpPr>
        <p:spPr>
          <a:xfrm>
            <a:off x="876300" y="2095500"/>
            <a:ext cx="419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899"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没有 ITSM</a:t>
            </a:r>
            <a:endParaRPr sz="16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dot"/>
          <p:cNvSpPr>
            <a:spLocks noGrp="1"/>
          </p:cNvSpPr>
          <p:nvPr/>
        </p:nvSpPr>
        <p:spPr>
          <a:xfrm>
            <a:off x="876300" y="26765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7" name="txt-0.5380885162411464"/>
          <p:cNvSpPr>
            <a:spLocks noGrp="1"/>
          </p:cNvSpPr>
          <p:nvPr/>
        </p:nvSpPr>
        <p:spPr>
          <a:xfrm>
            <a:off x="1085850" y="2619375"/>
            <a:ext cx="3981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请求散落在群里</a:t>
            </a:r>
            <a:endParaRPr sz="127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dot"/>
          <p:cNvSpPr>
            <a:spLocks noGrp="1"/>
          </p:cNvSpPr>
          <p:nvPr/>
        </p:nvSpPr>
        <p:spPr>
          <a:xfrm>
            <a:off x="876300" y="30956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9" name="txt-0.05487449804928357"/>
          <p:cNvSpPr>
            <a:spLocks noGrp="1"/>
          </p:cNvSpPr>
          <p:nvPr/>
        </p:nvSpPr>
        <p:spPr>
          <a:xfrm>
            <a:off x="1085850" y="3038475"/>
            <a:ext cx="3981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优先级靠声音大小</a:t>
            </a:r>
            <a:endParaRPr sz="127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dot"/>
          <p:cNvSpPr>
            <a:spLocks noGrp="1"/>
          </p:cNvSpPr>
          <p:nvPr/>
        </p:nvSpPr>
        <p:spPr>
          <a:xfrm>
            <a:off x="876300" y="35147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11" name="txt-0.7376773632500261"/>
          <p:cNvSpPr>
            <a:spLocks noGrp="1"/>
          </p:cNvSpPr>
          <p:nvPr/>
        </p:nvSpPr>
        <p:spPr>
          <a:xfrm>
            <a:off x="1085850" y="3457575"/>
            <a:ext cx="3981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状态靠个人记忆</a:t>
            </a:r>
            <a:endParaRPr sz="127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dot"/>
          <p:cNvSpPr>
            <a:spLocks noGrp="1"/>
          </p:cNvSpPr>
          <p:nvPr/>
        </p:nvSpPr>
        <p:spPr>
          <a:xfrm>
            <a:off x="876300" y="39338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13" name="txt-0.9488509000285673"/>
          <p:cNvSpPr>
            <a:spLocks noGrp="1"/>
          </p:cNvSpPr>
          <p:nvPr/>
        </p:nvSpPr>
        <p:spPr>
          <a:xfrm>
            <a:off x="1085850" y="3876675"/>
            <a:ext cx="3981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复盘无法还原事实</a:t>
            </a:r>
            <a:endParaRPr sz="127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txt-0.973353590383544"/>
          <p:cNvSpPr>
            <a:spLocks noGrp="1"/>
          </p:cNvSpPr>
          <p:nvPr/>
        </p:nvSpPr>
        <p:spPr>
          <a:xfrm>
            <a:off x="6210300" y="2095500"/>
            <a:ext cx="419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899"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有 ITSM</a:t>
            </a:r>
            <a:endParaRPr sz="16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dot"/>
          <p:cNvSpPr>
            <a:spLocks noGrp="1"/>
          </p:cNvSpPr>
          <p:nvPr/>
        </p:nvSpPr>
        <p:spPr>
          <a:xfrm>
            <a:off x="6210300" y="26765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16" name="txt-0.6287635170100954"/>
          <p:cNvSpPr>
            <a:spLocks noGrp="1"/>
          </p:cNvSpPr>
          <p:nvPr/>
        </p:nvSpPr>
        <p:spPr>
          <a:xfrm>
            <a:off x="6419850" y="2619375"/>
            <a:ext cx="3981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统一入口与分类</a:t>
            </a:r>
            <a:endParaRPr sz="127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dot"/>
          <p:cNvSpPr>
            <a:spLocks noGrp="1"/>
          </p:cNvSpPr>
          <p:nvPr/>
        </p:nvSpPr>
        <p:spPr>
          <a:xfrm>
            <a:off x="6210300" y="30956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18" name="txt-0.13203018535477928"/>
          <p:cNvSpPr>
            <a:spLocks noGrp="1"/>
          </p:cNvSpPr>
          <p:nvPr/>
        </p:nvSpPr>
        <p:spPr>
          <a:xfrm>
            <a:off x="6419850" y="3038475"/>
            <a:ext cx="3981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SLA 与优先级可见</a:t>
            </a:r>
            <a:endParaRPr sz="127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dot"/>
          <p:cNvSpPr>
            <a:spLocks noGrp="1"/>
          </p:cNvSpPr>
          <p:nvPr/>
        </p:nvSpPr>
        <p:spPr>
          <a:xfrm>
            <a:off x="6210300" y="35147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20" name="txt-0.38165210212478184"/>
          <p:cNvSpPr>
            <a:spLocks noGrp="1"/>
          </p:cNvSpPr>
          <p:nvPr/>
        </p:nvSpPr>
        <p:spPr>
          <a:xfrm>
            <a:off x="6419850" y="3457575"/>
            <a:ext cx="3981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任务、责任、状态可追踪</a:t>
            </a:r>
            <a:endParaRPr sz="127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" name="dot"/>
          <p:cNvSpPr>
            <a:spLocks noGrp="1"/>
          </p:cNvSpPr>
          <p:nvPr/>
        </p:nvSpPr>
        <p:spPr>
          <a:xfrm>
            <a:off x="6210300" y="39338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22" name="txt-0.3300207946510286"/>
          <p:cNvSpPr>
            <a:spLocks noGrp="1"/>
          </p:cNvSpPr>
          <p:nvPr/>
        </p:nvSpPr>
        <p:spPr>
          <a:xfrm>
            <a:off x="6419850" y="3876675"/>
            <a:ext cx="3981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结果、证据和改进可复用</a:t>
            </a:r>
            <a:endParaRPr sz="127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24" name="txt-0.753607625672394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ITIL 基础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" name="txt-0.24387498711904898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009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txt-0.5921474666766274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7C6AE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7C6AE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ITIL 基础</a:t>
            </a:r>
            <a:endParaRPr sz="975" b="1">
              <a:solidFill>
                <a:srgbClr val="7C6AE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018742890690310654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四个维度：技术只是其中一个维度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03292174414567428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成熟的服务管理同时看人、流程、技术和供应商。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6" name="txt-0.8744268210060914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组织与人员：角色、能力、责任、文化和协同机制。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8" name="txt-0.8246154806939462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信息与技术：工单、CMDB、知识、通知、审计和数据。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10" name="txt-0.5105580754816891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合作伙伴与供应商：合同、外部交付和服务边界。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dot"/>
          <p:cNvSpPr>
            <a:spLocks noGrp="1"/>
          </p:cNvSpPr>
          <p:nvPr/>
        </p:nvSpPr>
        <p:spPr>
          <a:xfrm>
            <a:off x="895350" y="37814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12" name="txt-0.6556444123589816"/>
          <p:cNvSpPr>
            <a:spLocks noGrp="1"/>
          </p:cNvSpPr>
          <p:nvPr/>
        </p:nvSpPr>
        <p:spPr>
          <a:xfrm>
            <a:off x="1104900" y="37242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价值流与流程：从需求到结果的端到端流转。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4" name="txt-0.11529054907461578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ITIL 基础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txt-0.9971762025330423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010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5" name="txt-0.2941270212214845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ITIL 基础</a:t>
            </a:r>
            <a:endParaRPr sz="975" b="1">
              <a:solidFill>
                <a:srgbClr val="3D8D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0023636479715789527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服务价值系统：需求进入，价值结果出来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flow"/>
          <p:cNvSpPr>
            <a:spLocks noGrp="1"/>
          </p:cNvSpPr>
          <p:nvPr/>
        </p:nvSpPr>
        <p:spPr>
          <a:xfrm>
            <a:off x="609600" y="2333625"/>
            <a:ext cx="1920240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4" name="dot"/>
          <p:cNvSpPr>
            <a:spLocks noGrp="1"/>
          </p:cNvSpPr>
          <p:nvPr/>
        </p:nvSpPr>
        <p:spPr>
          <a:xfrm>
            <a:off x="781050" y="2524125"/>
            <a:ext cx="266700" cy="26670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5" name="txt-0.18825524853369924"/>
          <p:cNvSpPr>
            <a:spLocks noGrp="1"/>
          </p:cNvSpPr>
          <p:nvPr/>
        </p:nvSpPr>
        <p:spPr>
          <a:xfrm>
            <a:off x="78105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txt-0.25070326799612364"/>
          <p:cNvSpPr>
            <a:spLocks noGrp="1"/>
          </p:cNvSpPr>
          <p:nvPr/>
        </p:nvSpPr>
        <p:spPr>
          <a:xfrm>
            <a:off x="781050" y="2990850"/>
            <a:ext cx="157734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需求/机会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txt-0.8398906770676381"/>
          <p:cNvSpPr>
            <a:spLocks noGrp="1"/>
          </p:cNvSpPr>
          <p:nvPr/>
        </p:nvSpPr>
        <p:spPr>
          <a:xfrm>
            <a:off x="781050" y="3409950"/>
            <a:ext cx="157734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Demand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arrow"/>
          <p:cNvSpPr>
            <a:spLocks noGrp="1"/>
          </p:cNvSpPr>
          <p:nvPr/>
        </p:nvSpPr>
        <p:spPr>
          <a:xfrm>
            <a:off x="2567940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9" name="flow"/>
          <p:cNvSpPr>
            <a:spLocks noGrp="1"/>
          </p:cNvSpPr>
          <p:nvPr/>
        </p:nvSpPr>
        <p:spPr>
          <a:xfrm>
            <a:off x="2701290" y="2333625"/>
            <a:ext cx="1920240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10" name="dot"/>
          <p:cNvSpPr>
            <a:spLocks noGrp="1"/>
          </p:cNvSpPr>
          <p:nvPr/>
        </p:nvSpPr>
        <p:spPr>
          <a:xfrm>
            <a:off x="2872740" y="2524125"/>
            <a:ext cx="266700" cy="26670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1" name="txt-0.10980576798002839"/>
          <p:cNvSpPr>
            <a:spLocks noGrp="1"/>
          </p:cNvSpPr>
          <p:nvPr/>
        </p:nvSpPr>
        <p:spPr>
          <a:xfrm>
            <a:off x="287274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txt-0.6397519599877697"/>
          <p:cNvSpPr>
            <a:spLocks noGrp="1"/>
          </p:cNvSpPr>
          <p:nvPr/>
        </p:nvSpPr>
        <p:spPr>
          <a:xfrm>
            <a:off x="2872740" y="2990850"/>
            <a:ext cx="157734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计划与设计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43969378589356445"/>
          <p:cNvSpPr>
            <a:spLocks noGrp="1"/>
          </p:cNvSpPr>
          <p:nvPr/>
        </p:nvSpPr>
        <p:spPr>
          <a:xfrm>
            <a:off x="2872740" y="3409950"/>
            <a:ext cx="157734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Plan/Design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arrow"/>
          <p:cNvSpPr>
            <a:spLocks noGrp="1"/>
          </p:cNvSpPr>
          <p:nvPr/>
        </p:nvSpPr>
        <p:spPr>
          <a:xfrm>
            <a:off x="4659630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15" name="flow"/>
          <p:cNvSpPr>
            <a:spLocks noGrp="1"/>
          </p:cNvSpPr>
          <p:nvPr/>
        </p:nvSpPr>
        <p:spPr>
          <a:xfrm>
            <a:off x="4792980" y="2333625"/>
            <a:ext cx="1920240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16" name="dot"/>
          <p:cNvSpPr>
            <a:spLocks noGrp="1"/>
          </p:cNvSpPr>
          <p:nvPr/>
        </p:nvSpPr>
        <p:spPr>
          <a:xfrm>
            <a:off x="4964430" y="2524125"/>
            <a:ext cx="266700" cy="26670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7" name="txt-0.30724413596710887"/>
          <p:cNvSpPr>
            <a:spLocks noGrp="1"/>
          </p:cNvSpPr>
          <p:nvPr/>
        </p:nvSpPr>
        <p:spPr>
          <a:xfrm>
            <a:off x="496443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txt-0.2892731968997373"/>
          <p:cNvSpPr>
            <a:spLocks noGrp="1"/>
          </p:cNvSpPr>
          <p:nvPr/>
        </p:nvSpPr>
        <p:spPr>
          <a:xfrm>
            <a:off x="4964430" y="2990850"/>
            <a:ext cx="157734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交付与支持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txt-0.8981121635314105"/>
          <p:cNvSpPr>
            <a:spLocks noGrp="1"/>
          </p:cNvSpPr>
          <p:nvPr/>
        </p:nvSpPr>
        <p:spPr>
          <a:xfrm>
            <a:off x="4964430" y="3409950"/>
            <a:ext cx="157734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Deliver &amp; Support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arrow"/>
          <p:cNvSpPr>
            <a:spLocks noGrp="1"/>
          </p:cNvSpPr>
          <p:nvPr/>
        </p:nvSpPr>
        <p:spPr>
          <a:xfrm>
            <a:off x="6751320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21" name="flow"/>
          <p:cNvSpPr>
            <a:spLocks noGrp="1"/>
          </p:cNvSpPr>
          <p:nvPr/>
        </p:nvSpPr>
        <p:spPr>
          <a:xfrm>
            <a:off x="6884670" y="2333625"/>
            <a:ext cx="1920240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22" name="dot"/>
          <p:cNvSpPr>
            <a:spLocks noGrp="1"/>
          </p:cNvSpPr>
          <p:nvPr/>
        </p:nvSpPr>
        <p:spPr>
          <a:xfrm>
            <a:off x="7056120" y="2524125"/>
            <a:ext cx="266700" cy="26670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23" name="txt-0.5335910504188112"/>
          <p:cNvSpPr>
            <a:spLocks noGrp="1"/>
          </p:cNvSpPr>
          <p:nvPr/>
        </p:nvSpPr>
        <p:spPr>
          <a:xfrm>
            <a:off x="705612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" name="txt-0.6656863424461548"/>
          <p:cNvSpPr>
            <a:spLocks noGrp="1"/>
          </p:cNvSpPr>
          <p:nvPr/>
        </p:nvSpPr>
        <p:spPr>
          <a:xfrm>
            <a:off x="7056120" y="2990850"/>
            <a:ext cx="157734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稳定运行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" name="txt-0.7015225372268623"/>
          <p:cNvSpPr>
            <a:spLocks noGrp="1"/>
          </p:cNvSpPr>
          <p:nvPr/>
        </p:nvSpPr>
        <p:spPr>
          <a:xfrm>
            <a:off x="7056120" y="3409950"/>
            <a:ext cx="157734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Operate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" name="arrow"/>
          <p:cNvSpPr>
            <a:spLocks noGrp="1"/>
          </p:cNvSpPr>
          <p:nvPr/>
        </p:nvSpPr>
        <p:spPr>
          <a:xfrm>
            <a:off x="8843010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27" name="flow"/>
          <p:cNvSpPr>
            <a:spLocks noGrp="1"/>
          </p:cNvSpPr>
          <p:nvPr/>
        </p:nvSpPr>
        <p:spPr>
          <a:xfrm>
            <a:off x="8976360" y="2333625"/>
            <a:ext cx="1920240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28" name="dot"/>
          <p:cNvSpPr>
            <a:spLocks noGrp="1"/>
          </p:cNvSpPr>
          <p:nvPr/>
        </p:nvSpPr>
        <p:spPr>
          <a:xfrm>
            <a:off x="9147810" y="2524125"/>
            <a:ext cx="266700" cy="26670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29" name="txt-0.7923420458872801"/>
          <p:cNvSpPr>
            <a:spLocks noGrp="1"/>
          </p:cNvSpPr>
          <p:nvPr/>
        </p:nvSpPr>
        <p:spPr>
          <a:xfrm>
            <a:off x="914781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" name="txt-0.3564862171233778"/>
          <p:cNvSpPr>
            <a:spLocks noGrp="1"/>
          </p:cNvSpPr>
          <p:nvPr/>
        </p:nvSpPr>
        <p:spPr>
          <a:xfrm>
            <a:off x="9147810" y="2990850"/>
            <a:ext cx="157734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反馈与改进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1" name="txt-0.9963896789257651"/>
          <p:cNvSpPr>
            <a:spLocks noGrp="1"/>
          </p:cNvSpPr>
          <p:nvPr/>
        </p:nvSpPr>
        <p:spPr>
          <a:xfrm>
            <a:off x="9147810" y="3409950"/>
            <a:ext cx="157734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Improve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2" name="直接连接符 31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33" name="txt-0.7116963948940669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ITIL 基础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4" name="txt-0.667225943844965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011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2759149393543213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ITIL 基础</a:t>
            </a:r>
            <a:endParaRPr sz="975" b="1">
              <a:solidFill>
                <a:srgbClr val="F4A34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6668954081110213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服务关系有三方：提供方、消费者、其他利益相关者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5122551243851222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这解释了为什么工单结束后仍要关注业务满意度。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6" name="txt-0.6503178551240678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服务提供方：IT 团队、专业线、供应商，负责能力与交付。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8" name="txt-0.1163518692213984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服务消费者：业务部门、员工、管理层，使用服务并评价结果。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10" name="txt-0.09567661760247825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其他利益相关者：安全、审计、财务、合规等，对风险和价值有要求。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7742141203590934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ITIL 基础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3103161534457467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012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6633875125021026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E56B6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E56B6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ITIL 基础</a:t>
            </a:r>
            <a:endParaRPr sz="975" b="1">
              <a:solidFill>
                <a:srgbClr val="E56B6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6839177808853141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事件 Incident：优先恢复服务，不先追求根因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5467810096436918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事件是已经发生的服务中断或服务质量下降。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E56B6F"/>
          </a:solidFill>
          <a:ln w="9525">
            <a:solidFill>
              <a:srgbClr val="E56B6F"/>
            </a:solidFill>
            <a:prstDash val="solid"/>
          </a:ln>
        </p:spPr>
      </p:sp>
      <p:sp>
        <p:nvSpPr>
          <p:cNvPr id="6" name="txt-0.35625809425121624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目标：尽快恢复可用服务、降低影响，不等于一次性消除根因。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E56B6F"/>
          </a:solidFill>
          <a:ln w="9525">
            <a:solidFill>
              <a:srgbClr val="E56B6F"/>
            </a:solidFill>
            <a:prstDash val="solid"/>
          </a:ln>
        </p:spPr>
      </p:sp>
      <p:sp>
        <p:nvSpPr>
          <p:cNvPr id="8" name="txt-0.30971141136838765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ITOM 对应：事件工单，P1–P4 优先级，SLA、受理、诊断、恢复、用户确认。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E56B6F"/>
          </a:solidFill>
          <a:ln w="9525">
            <a:solidFill>
              <a:srgbClr val="E56B6F"/>
            </a:solidFill>
            <a:prstDash val="solid"/>
          </a:ln>
        </p:spPr>
      </p:sp>
      <p:sp>
        <p:nvSpPr>
          <p:cNvPr id="10" name="txt-0.4456698179381329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事件可以升级为问题；问题关注根因，事件关注当前恢复。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9840494127509117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ITIL 基础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09160549871548607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013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4408083796373595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ITIL 基础</a:t>
            </a:r>
            <a:endParaRPr sz="975" b="1">
              <a:solidFill>
                <a:srgbClr val="3D8D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1668332288590777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服务请求 Service Request：标准交付，不是故障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7069717564471645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用户要的是一个已有的、可重复交付的服务。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6" name="txt-0.5759733976942543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例子：账号开通、软件安装、权限申请、共享资源配置。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8" name="txt-0.933150266028148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ITOM 对应：服务请求工单，服务目录和服务项带出服务线与 SLA。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0" name="txt-0.4206320150963544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服务请求通常不需要完整风险审批；若涉及改变系统，应重新分类为变更。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6158070680279422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ITIL 基础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2175224729088877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014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2093724766091103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7C6AE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7C6AE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ITIL 基础</a:t>
            </a:r>
            <a:endParaRPr sz="975" b="1">
              <a:solidFill>
                <a:srgbClr val="7C6AE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5493962889619035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问题 Problem：管理“为什么会反复发生”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7363497045542271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问题管理把多次事件串起来，推动根因和永久修复。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6" name="txt-0.14061416120060344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输入：事件升级、人工创建、需求关闭遗留问题。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8" name="txt-0.3829461324324823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ITOM 状态：新建 → 分析中 → 已知错误 → 已解决 → 已关闭。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10" name="txt-0.1328138578532927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关键字段：根因、临时规避方案、关联工单、验证与关闭说明。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28016150355754543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ITIL 基础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002895044638000832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015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15601032058368813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ITIL 基础</a:t>
            </a:r>
            <a:endParaRPr sz="975" b="1">
              <a:solidFill>
                <a:srgbClr val="F4A34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8310738467325918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变更 Change：在可接受风险下改变服务或配置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29442140107540704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变更不是“谁都能提的高级工单”，而是一类受控的改变。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6" name="txt-0.6977184028429627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它回答：改什么、影响谁、风险多大、怎么实施、失败怎么回退。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8" name="txt-0.3408202747761828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ITOM 对应：变更工单 + 独立 ticket_change 状态机 + 变更管理流程。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10" name="txt-0.04488205112149124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变更是否由业务用户发起，取决于组织实际与权限配置；当前</a:t>
            </a: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ITOM</a:t>
            </a: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，</a:t>
            </a: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业务用户</a:t>
            </a: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没有 ticket_change 新建权限。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10198071894747451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ITIL 基础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8842439592040989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016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07883590172974053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ITIL 基础</a:t>
            </a:r>
            <a:endParaRPr sz="975" b="1">
              <a:solidFill>
                <a:srgbClr val="24A67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7516462038644349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服务级别管理：把“及时”写成可计算的承诺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17201435207288995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SLA 不是看板上的装饰，而是响应和解决目标。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6" name="txt-0.544466066640934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系统按优先级 P1–P4 和服务项解析响应/解决目标。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8" name="txt-0.7846540732794299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首次响应、解决时间、挂起时长、是否达成由系统打点。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10" name="txt-0.5344826930355311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临期预警在目标的 80% 产生升级通知；挂起时间按规则扣除。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9988482891210997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ITIL 基础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06624655778237565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017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7830594740199323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1D4E8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1D4E8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ITIL 基础</a:t>
            </a:r>
            <a:endParaRPr sz="975" b="1">
              <a:solidFill>
                <a:srgbClr val="1D4E8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17961439993877348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配置管理：先知道“影响什么”，再谈风险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5280728799445629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CMDB 不是资产台账的同义词，而是支持影响分析的配置项关系。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1D4E89"/>
          </a:solidFill>
          <a:ln w="9525">
            <a:solidFill>
              <a:srgbClr val="1D4E89"/>
            </a:solidFill>
            <a:prstDash val="solid"/>
          </a:ln>
        </p:spPr>
      </p:sp>
      <p:sp>
        <p:nvSpPr>
          <p:cNvPr id="6" name="txt-0.32792031445977377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ITOM 支持应用、服务器、云资源、网络、安全、协作、终端、基础设施、咨询服务等类别。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1D4E89"/>
          </a:solidFill>
          <a:ln w="9525">
            <a:solidFill>
              <a:srgbClr val="1D4E89"/>
            </a:solidFill>
            <a:prstDash val="solid"/>
          </a:ln>
        </p:spPr>
      </p:sp>
      <p:sp>
        <p:nvSpPr>
          <p:cNvPr id="8" name="txt-0.30217463966691926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工单/变更可关联 CI；CI 详情可反查关联工单历史。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1D4E89"/>
          </a:solidFill>
          <a:ln w="9525">
            <a:solidFill>
              <a:srgbClr val="1D4E89"/>
            </a:solidFill>
            <a:prstDash val="solid"/>
          </a:ln>
        </p:spPr>
      </p:sp>
      <p:sp>
        <p:nvSpPr>
          <p:cNvPr id="10" name="txt-0.8564240660476802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关系类型：运行于、依赖、连接，用于判断影响范围。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29974435030005986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ITIL 基础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26367161655275784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018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5575186789388566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7C6AE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7C6AE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ITIL 基础</a:t>
            </a:r>
            <a:endParaRPr sz="975" b="1">
              <a:solidFill>
                <a:srgbClr val="7C6AE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39069316537325804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知识管理：把一次解决变成下一次更快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16234061270857703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知识的价值是减少重复解释和重复排查。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6" name="txt-0.9516415289066457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知识库文章最少填写标题、正文；标签和关联工单可选。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8" name="txt-0.3571086532810227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工单详情可一键沉淀知识；需求关闭也可带出经验草稿。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10" name="txt-0.7618678118964138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发表知识、被点“有用”都会产生团队贡献积分事件。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6774124154036921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ITIL 基础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5060135051190604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019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4720539911865813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ITIL 基础</a:t>
            </a:r>
            <a:endParaRPr sz="975" b="1">
              <a:solidFill>
                <a:srgbClr val="F4A34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8597322397815186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持续改进 CSI：ITOM 选择了轻量化实现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20038075349950024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系统不建设独立 CSI 装置，但保留改进所需的事实和审计。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6" name="txt-0.1820038267414108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复盘证据：PIR、问题根因、知识文章、满意度、SLA、绩效与积分。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8" name="txt-0.3893261544599561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改进动作可以进入需求、项目、流程新版本或团队活动。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10" name="txt-0.998139941473842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系统不提供单独 CSI 组合看板，也不自动替代管理者做改进决策。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7598618709798263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ITIL 基础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7454367297845609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020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1" name="txt-0.9754817212660011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ITIL 基础</a:t>
            </a:r>
            <a:endParaRPr sz="975" b="1">
              <a:solidFill>
                <a:srgbClr val="3D8D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5507796963143107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四类工作如何分辨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flow"/>
          <p:cNvSpPr>
            <a:spLocks noGrp="1"/>
          </p:cNvSpPr>
          <p:nvPr/>
        </p:nvSpPr>
        <p:spPr>
          <a:xfrm>
            <a:off x="609600" y="2333625"/>
            <a:ext cx="1571625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4" name="dot"/>
          <p:cNvSpPr>
            <a:spLocks noGrp="1"/>
          </p:cNvSpPr>
          <p:nvPr/>
        </p:nvSpPr>
        <p:spPr>
          <a:xfrm>
            <a:off x="781050" y="2524125"/>
            <a:ext cx="266700" cy="26670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5" name="txt-0.48234213061405007"/>
          <p:cNvSpPr>
            <a:spLocks noGrp="1"/>
          </p:cNvSpPr>
          <p:nvPr/>
        </p:nvSpPr>
        <p:spPr>
          <a:xfrm>
            <a:off x="78105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txt-0.0658452396135365"/>
          <p:cNvSpPr>
            <a:spLocks noGrp="1"/>
          </p:cNvSpPr>
          <p:nvPr/>
        </p:nvSpPr>
        <p:spPr>
          <a:xfrm>
            <a:off x="781050" y="2990850"/>
            <a:ext cx="12287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标准服务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txt-0.6039810111973899"/>
          <p:cNvSpPr>
            <a:spLocks noGrp="1"/>
          </p:cNvSpPr>
          <p:nvPr/>
        </p:nvSpPr>
        <p:spPr>
          <a:xfrm>
            <a:off x="781050" y="3409950"/>
            <a:ext cx="12287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服务请求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arrow"/>
          <p:cNvSpPr>
            <a:spLocks noGrp="1"/>
          </p:cNvSpPr>
          <p:nvPr/>
        </p:nvSpPr>
        <p:spPr>
          <a:xfrm>
            <a:off x="2219325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9" name="flow"/>
          <p:cNvSpPr>
            <a:spLocks noGrp="1"/>
          </p:cNvSpPr>
          <p:nvPr/>
        </p:nvSpPr>
        <p:spPr>
          <a:xfrm>
            <a:off x="2352675" y="2333625"/>
            <a:ext cx="1571625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10" name="dot"/>
          <p:cNvSpPr>
            <a:spLocks noGrp="1"/>
          </p:cNvSpPr>
          <p:nvPr/>
        </p:nvSpPr>
        <p:spPr>
          <a:xfrm>
            <a:off x="2524125" y="2524125"/>
            <a:ext cx="266700" cy="26670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1" name="txt-0.9944925852215771"/>
          <p:cNvSpPr>
            <a:spLocks noGrp="1"/>
          </p:cNvSpPr>
          <p:nvPr/>
        </p:nvSpPr>
        <p:spPr>
          <a:xfrm>
            <a:off x="2524125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txt-0.9782384179498539"/>
          <p:cNvSpPr>
            <a:spLocks noGrp="1"/>
          </p:cNvSpPr>
          <p:nvPr/>
        </p:nvSpPr>
        <p:spPr>
          <a:xfrm>
            <a:off x="2524125" y="2990850"/>
            <a:ext cx="12287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当前受影响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6577416270065924"/>
          <p:cNvSpPr>
            <a:spLocks noGrp="1"/>
          </p:cNvSpPr>
          <p:nvPr/>
        </p:nvSpPr>
        <p:spPr>
          <a:xfrm>
            <a:off x="2524125" y="3409950"/>
            <a:ext cx="12287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事件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arrow"/>
          <p:cNvSpPr>
            <a:spLocks noGrp="1"/>
          </p:cNvSpPr>
          <p:nvPr/>
        </p:nvSpPr>
        <p:spPr>
          <a:xfrm>
            <a:off x="3962400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15" name="flow"/>
          <p:cNvSpPr>
            <a:spLocks noGrp="1"/>
          </p:cNvSpPr>
          <p:nvPr/>
        </p:nvSpPr>
        <p:spPr>
          <a:xfrm>
            <a:off x="4095750" y="2333625"/>
            <a:ext cx="1571625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16" name="dot"/>
          <p:cNvSpPr>
            <a:spLocks noGrp="1"/>
          </p:cNvSpPr>
          <p:nvPr/>
        </p:nvSpPr>
        <p:spPr>
          <a:xfrm>
            <a:off x="4267200" y="2524125"/>
            <a:ext cx="266700" cy="26670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7" name="txt-0.7403541726742203"/>
          <p:cNvSpPr>
            <a:spLocks noGrp="1"/>
          </p:cNvSpPr>
          <p:nvPr/>
        </p:nvSpPr>
        <p:spPr>
          <a:xfrm>
            <a:off x="426720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txt-0.7527903119640764"/>
          <p:cNvSpPr>
            <a:spLocks noGrp="1"/>
          </p:cNvSpPr>
          <p:nvPr/>
        </p:nvSpPr>
        <p:spPr>
          <a:xfrm>
            <a:off x="4267200" y="2990850"/>
            <a:ext cx="12287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计划改变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txt-0.8546598739845277"/>
          <p:cNvSpPr>
            <a:spLocks noGrp="1"/>
          </p:cNvSpPr>
          <p:nvPr/>
        </p:nvSpPr>
        <p:spPr>
          <a:xfrm>
            <a:off x="4267200" y="3409950"/>
            <a:ext cx="12287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变更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arrow"/>
          <p:cNvSpPr>
            <a:spLocks noGrp="1"/>
          </p:cNvSpPr>
          <p:nvPr/>
        </p:nvSpPr>
        <p:spPr>
          <a:xfrm>
            <a:off x="5705475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21" name="flow"/>
          <p:cNvSpPr>
            <a:spLocks noGrp="1"/>
          </p:cNvSpPr>
          <p:nvPr/>
        </p:nvSpPr>
        <p:spPr>
          <a:xfrm>
            <a:off x="5838825" y="2333625"/>
            <a:ext cx="1571625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22" name="dot"/>
          <p:cNvSpPr>
            <a:spLocks noGrp="1"/>
          </p:cNvSpPr>
          <p:nvPr/>
        </p:nvSpPr>
        <p:spPr>
          <a:xfrm>
            <a:off x="6010275" y="2524125"/>
            <a:ext cx="266700" cy="26670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23" name="txt-0.7157822462062079"/>
          <p:cNvSpPr>
            <a:spLocks noGrp="1"/>
          </p:cNvSpPr>
          <p:nvPr/>
        </p:nvSpPr>
        <p:spPr>
          <a:xfrm>
            <a:off x="6010275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" name="txt-0.9093456888761848"/>
          <p:cNvSpPr>
            <a:spLocks noGrp="1"/>
          </p:cNvSpPr>
          <p:nvPr/>
        </p:nvSpPr>
        <p:spPr>
          <a:xfrm>
            <a:off x="6010275" y="2990850"/>
            <a:ext cx="12287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反复根因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" name="txt-0.0830679287696442"/>
          <p:cNvSpPr>
            <a:spLocks noGrp="1"/>
          </p:cNvSpPr>
          <p:nvPr/>
        </p:nvSpPr>
        <p:spPr>
          <a:xfrm>
            <a:off x="6010275" y="3409950"/>
            <a:ext cx="12287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问题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" name="arrow"/>
          <p:cNvSpPr>
            <a:spLocks noGrp="1"/>
          </p:cNvSpPr>
          <p:nvPr/>
        </p:nvSpPr>
        <p:spPr>
          <a:xfrm>
            <a:off x="7448550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27" name="flow"/>
          <p:cNvSpPr>
            <a:spLocks noGrp="1"/>
          </p:cNvSpPr>
          <p:nvPr/>
        </p:nvSpPr>
        <p:spPr>
          <a:xfrm>
            <a:off x="7581900" y="2333625"/>
            <a:ext cx="1571625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28" name="dot"/>
          <p:cNvSpPr>
            <a:spLocks noGrp="1"/>
          </p:cNvSpPr>
          <p:nvPr/>
        </p:nvSpPr>
        <p:spPr>
          <a:xfrm>
            <a:off x="7753350" y="2524125"/>
            <a:ext cx="266700" cy="26670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29" name="txt-0.8895694158049805"/>
          <p:cNvSpPr>
            <a:spLocks noGrp="1"/>
          </p:cNvSpPr>
          <p:nvPr/>
        </p:nvSpPr>
        <p:spPr>
          <a:xfrm>
            <a:off x="775335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" name="txt-0.7240444792617171"/>
          <p:cNvSpPr>
            <a:spLocks noGrp="1"/>
          </p:cNvSpPr>
          <p:nvPr/>
        </p:nvSpPr>
        <p:spPr>
          <a:xfrm>
            <a:off x="7753350" y="2990850"/>
            <a:ext cx="12287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价值评估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1" name="txt-0.6696393422562189"/>
          <p:cNvSpPr>
            <a:spLocks noGrp="1"/>
          </p:cNvSpPr>
          <p:nvPr/>
        </p:nvSpPr>
        <p:spPr>
          <a:xfrm>
            <a:off x="7753350" y="3409950"/>
            <a:ext cx="12287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需求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2" name="arrow"/>
          <p:cNvSpPr>
            <a:spLocks noGrp="1"/>
          </p:cNvSpPr>
          <p:nvPr/>
        </p:nvSpPr>
        <p:spPr>
          <a:xfrm>
            <a:off x="9191625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33" name="flow"/>
          <p:cNvSpPr>
            <a:spLocks noGrp="1"/>
          </p:cNvSpPr>
          <p:nvPr/>
        </p:nvSpPr>
        <p:spPr>
          <a:xfrm>
            <a:off x="9324975" y="2333625"/>
            <a:ext cx="1571625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34" name="dot"/>
          <p:cNvSpPr>
            <a:spLocks noGrp="1"/>
          </p:cNvSpPr>
          <p:nvPr/>
        </p:nvSpPr>
        <p:spPr>
          <a:xfrm>
            <a:off x="9496425" y="2524125"/>
            <a:ext cx="266700" cy="26670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35" name="txt-0.5812669428894512"/>
          <p:cNvSpPr>
            <a:spLocks noGrp="1"/>
          </p:cNvSpPr>
          <p:nvPr/>
        </p:nvSpPr>
        <p:spPr>
          <a:xfrm>
            <a:off x="9496425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6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6" name="txt-0.9947420065434798"/>
          <p:cNvSpPr>
            <a:spLocks noGrp="1"/>
          </p:cNvSpPr>
          <p:nvPr/>
        </p:nvSpPr>
        <p:spPr>
          <a:xfrm>
            <a:off x="9496425" y="2990850"/>
            <a:ext cx="12287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组织交付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7" name="txt-0.48970390447273116"/>
          <p:cNvSpPr>
            <a:spLocks noGrp="1"/>
          </p:cNvSpPr>
          <p:nvPr/>
        </p:nvSpPr>
        <p:spPr>
          <a:xfrm>
            <a:off x="9496425" y="3409950"/>
            <a:ext cx="12287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项目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8" name="直接连接符 37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39" name="txt-0.22189029828559526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ITIL 基础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0" name="txt-0.8711260084870578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021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3741826857488031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ITIL 基础</a:t>
            </a:r>
            <a:endParaRPr sz="975" b="1">
              <a:solidFill>
                <a:srgbClr val="3D8D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0729497758078067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ITIL 术语与 ITOM 单据不是一一等价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5797580299215114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系统把理论中常见实践，收敛成可运行的业务对象。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6" name="txt-0.7116005648511297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事件/服务请求/变更共用 Ticket 表，靠 ticket_type 区分；问题是独立实体。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8" name="txt-0.8246655396017618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需求不是 ITIL 4 中一个固定单据模板，而是 ITOM 用来承载价值评估和交付分流的域。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0" name="txt-0.8730870162628459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项目不是流程替代品；项目把跨团队、分阶段交付组织起来。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15168811860150355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ITIL 基础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7221811123727733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022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5994793447292629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E56B6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E56B6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ITIL 基础</a:t>
            </a:r>
            <a:endParaRPr sz="975" b="1">
              <a:solidFill>
                <a:srgbClr val="E56B6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6269784134343181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ITOM 与成熟 ITSM 套件的差异要讲清楚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6669182271251214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轻量化不是低标准，而是选择先把高频闭环做实。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E56B6F"/>
          </a:solidFill>
          <a:ln w="9525">
            <a:solidFill>
              <a:srgbClr val="E56B6F"/>
            </a:solidFill>
            <a:prstDash val="solid"/>
          </a:ln>
        </p:spPr>
      </p:sp>
      <p:sp>
        <p:nvSpPr>
          <p:cNvPr id="6" name="txt-0.1895232474163473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有：角色/组/权限、服务目录、SLA、CMDB、流程、通知、审计、知识、需求、项目和绩效。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E56B6F"/>
          </a:solidFill>
          <a:ln w="9525">
            <a:solidFill>
              <a:srgbClr val="E56B6F"/>
            </a:solidFill>
            <a:prstDash val="solid"/>
          </a:ln>
        </p:spPr>
      </p:sp>
      <p:sp>
        <p:nvSpPr>
          <p:cNvPr id="8" name="txt-0.7831885005597946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暂不做独立：CAB 评审装置、CSI、组合治理、完整 EVM、Portfolio 阶段门、AI Agent 注册与编排。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E56B6F"/>
          </a:solidFill>
          <a:ln w="9525">
            <a:solidFill>
              <a:srgbClr val="E56B6F"/>
            </a:solidFill>
            <a:prstDash val="solid"/>
          </a:ln>
        </p:spPr>
      </p:sp>
      <p:sp>
        <p:nvSpPr>
          <p:cNvPr id="10" name="txt-0.7390824881429984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未来跨系统自动化可以订阅通知发件箱，而不是让 n8n 参与每个核心状态变更。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7764644266825211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ITIL 基础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9872495566060249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023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txt-0.47649469646071996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ITIL 基础</a:t>
            </a:r>
            <a:endParaRPr sz="975" b="1">
              <a:solidFill>
                <a:srgbClr val="24A67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2366185156519286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ITSM 成熟度不是“页面更多”，而是控制力更强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957140170240623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团队可以用这五级判断自己在哪。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6" name="txt-0.47901579141858264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救火：群聊、口头、个人记忆。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8" name="txt-0.7885936825894452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可见：工单和状态可见，但责任与证据不稳。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10" name="txt-0.8708436394437823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可控：SLA、流程、角色和权限开始统一。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dot"/>
          <p:cNvSpPr>
            <a:spLocks noGrp="1"/>
          </p:cNvSpPr>
          <p:nvPr/>
        </p:nvSpPr>
        <p:spPr>
          <a:xfrm>
            <a:off x="895350" y="37814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12" name="txt-0.9333518841910242"/>
          <p:cNvSpPr>
            <a:spLocks noGrp="1"/>
          </p:cNvSpPr>
          <p:nvPr/>
        </p:nvSpPr>
        <p:spPr>
          <a:xfrm>
            <a:off x="1104900" y="37242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可度量：结果、满意度、风险和人效可计算。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dot"/>
          <p:cNvSpPr>
            <a:spLocks noGrp="1"/>
          </p:cNvSpPr>
          <p:nvPr/>
        </p:nvSpPr>
        <p:spPr>
          <a:xfrm>
            <a:off x="895350" y="42767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14" name="txt-0.15058303930568606"/>
          <p:cNvSpPr>
            <a:spLocks noGrp="1"/>
          </p:cNvSpPr>
          <p:nvPr/>
        </p:nvSpPr>
        <p:spPr>
          <a:xfrm>
            <a:off x="1104900" y="42195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可改进：复盘结果会改变流程、规则和能力。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6" name="txt-0.15658460576597077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ITIL 基础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txt-0.8921801946064355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024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5132069415630454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1D4E8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1D4E8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ITIL 基础</a:t>
            </a:r>
            <a:endParaRPr sz="975" b="1">
              <a:solidFill>
                <a:srgbClr val="1D4E8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21336448655552553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本课的核心句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24148852013765254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如果只记住一句话，请记住它。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1D4E89"/>
          </a:solidFill>
          <a:ln w="9525">
            <a:solidFill>
              <a:srgbClr val="1D4E89"/>
            </a:solidFill>
            <a:prstDash val="solid"/>
          </a:ln>
        </p:spPr>
      </p:sp>
      <p:sp>
        <p:nvSpPr>
          <p:cNvPr id="6" name="txt-0.3124020419576121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ITIL 解决“应该怎样管理服务”的共识问题。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1D4E89"/>
          </a:solidFill>
          <a:ln w="9525">
            <a:solidFill>
              <a:srgbClr val="1D4E89"/>
            </a:solidFill>
            <a:prstDash val="solid"/>
          </a:ln>
        </p:spPr>
      </p:sp>
      <p:sp>
        <p:nvSpPr>
          <p:cNvPr id="8" name="txt-0.6524585286026167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ITSM 解决“怎样让这套共识持续运行”的系统问题。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1D4E89"/>
          </a:solidFill>
          <a:ln w="9525">
            <a:solidFill>
              <a:srgbClr val="1D4E89"/>
            </a:solidFill>
            <a:prstDash val="solid"/>
          </a:ln>
        </p:spPr>
      </p:sp>
      <p:sp>
        <p:nvSpPr>
          <p:cNvPr id="10" name="txt-0.23360822498917466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ITOM 把两者落在单据、流程、角色、规则、数据和审计上。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3474517782322971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ITIL 基础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259194985682469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025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section"/>
          <p:cNvSpPr>
            <a:spLocks noGrp="1"/>
          </p:cNvSpPr>
          <p:nvPr/>
        </p:nvSpPr>
        <p:spPr>
          <a:xfrm>
            <a:off x="0" y="0"/>
            <a:ext cx="3524250" cy="6858000"/>
          </a:xfrm>
          <a:prstGeom prst="roundRect">
            <a:avLst>
              <a:gd name="adj" fmla="val 2162"/>
            </a:avLst>
          </a:prstGeom>
          <a:solidFill>
            <a:srgbClr val="1D4E89"/>
          </a:solidFill>
          <a:ln w="0">
            <a:noFill/>
            <a:prstDash val="solid"/>
          </a:ln>
        </p:spPr>
      </p:sp>
      <p:sp>
        <p:nvSpPr>
          <p:cNvPr id="2" name="txt-0.21097842504167008"/>
          <p:cNvSpPr>
            <a:spLocks noGrp="1"/>
          </p:cNvSpPr>
          <p:nvPr/>
        </p:nvSpPr>
        <p:spPr>
          <a:xfrm>
            <a:off x="628650" y="800100"/>
            <a:ext cx="2190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2220"/>
          </a:bodyPr>
          <a:lstStyle/>
          <a:p>
            <a:pPr algn="l">
              <a:lnSpc>
                <a:spcPct val="106000"/>
              </a:lnSpc>
              <a:buNone/>
              <a:defRPr sz="72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72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26</a:t>
            </a:r>
            <a:endParaRPr sz="72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6717510989234821"/>
          <p:cNvSpPr>
            <a:spLocks noGrp="1"/>
          </p:cNvSpPr>
          <p:nvPr/>
        </p:nvSpPr>
        <p:spPr>
          <a:xfrm>
            <a:off x="647700" y="22098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0363"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ITOM 系统培训</a:t>
            </a:r>
            <a:endParaRPr sz="135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txt-0.9959676726771091"/>
          <p:cNvSpPr>
            <a:spLocks noGrp="1"/>
          </p:cNvSpPr>
          <p:nvPr/>
        </p:nvSpPr>
        <p:spPr>
          <a:xfrm>
            <a:off x="4057650" y="1543050"/>
            <a:ext cx="7048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2000"/>
              </a:lnSpc>
              <a:buNone/>
              <a:defRPr sz="39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9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第二章｜ITOM 的系统骨架</a:t>
            </a:r>
            <a:endParaRPr sz="39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txt-0.8851532598947668"/>
          <p:cNvSpPr>
            <a:spLocks noGrp="1"/>
          </p:cNvSpPr>
          <p:nvPr/>
        </p:nvSpPr>
        <p:spPr>
          <a:xfrm>
            <a:off x="4057650" y="2533650"/>
            <a:ext cx="6953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25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从界面看是菜单，从代码看是领域模型、服务逻辑、事件总线与权限守卫。</a:t>
            </a:r>
            <a:endParaRPr sz="1725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4057650" y="3752850"/>
            <a:ext cx="6610350" cy="0"/>
          </a:xfrm>
          <a:prstGeom prst="line">
            <a:avLst/>
          </a:prstGeom>
          <a:noFill/>
          <a:ln w="28575">
            <a:solidFill>
              <a:srgbClr val="1D4E89"/>
            </a:solidFill>
            <a:prstDash val="solid"/>
          </a:ln>
        </p:spPr>
      </p:sp>
      <p:sp>
        <p:nvSpPr>
          <p:cNvPr id="7" name="txt-0.6685369868280928"/>
          <p:cNvSpPr>
            <a:spLocks noGrp="1"/>
          </p:cNvSpPr>
          <p:nvPr/>
        </p:nvSpPr>
        <p:spPr>
          <a:xfrm>
            <a:off x="4057650" y="4038600"/>
            <a:ext cx="657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2684"/>
          </a:bodyPr>
          <a:lstStyle/>
          <a:p>
            <a:pPr algn="l">
              <a:lnSpc>
                <a:spcPct val="106000"/>
              </a:lnSpc>
              <a:buNone/>
              <a:defRPr sz="1425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课程原则：先理解概念，再看系统如何落地，最后练习如何判断。</a:t>
            </a:r>
            <a:endParaRPr sz="1425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5" name="txt-0.03283246228013603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1D4E8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1D4E8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系统骨架</a:t>
            </a:r>
            <a:endParaRPr sz="975" b="1">
              <a:solidFill>
                <a:srgbClr val="1D4E8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3106128291692384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一次业务动作经过哪些层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flow"/>
          <p:cNvSpPr>
            <a:spLocks noGrp="1"/>
          </p:cNvSpPr>
          <p:nvPr/>
        </p:nvSpPr>
        <p:spPr>
          <a:xfrm>
            <a:off x="609600" y="2333625"/>
            <a:ext cx="1920240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4" name="dot"/>
          <p:cNvSpPr>
            <a:spLocks noGrp="1"/>
          </p:cNvSpPr>
          <p:nvPr/>
        </p:nvSpPr>
        <p:spPr>
          <a:xfrm>
            <a:off x="781050" y="2524125"/>
            <a:ext cx="266700" cy="266700"/>
          </a:xfrm>
          <a:prstGeom prst="ellipse">
            <a:avLst/>
          </a:prstGeom>
          <a:solidFill>
            <a:srgbClr val="1D4E89"/>
          </a:solidFill>
          <a:ln w="9525">
            <a:solidFill>
              <a:srgbClr val="1D4E89"/>
            </a:solidFill>
            <a:prstDash val="solid"/>
          </a:ln>
        </p:spPr>
      </p:sp>
      <p:sp>
        <p:nvSpPr>
          <p:cNvPr id="5" name="txt-0.2153050233573508"/>
          <p:cNvSpPr>
            <a:spLocks noGrp="1"/>
          </p:cNvSpPr>
          <p:nvPr/>
        </p:nvSpPr>
        <p:spPr>
          <a:xfrm>
            <a:off x="78105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txt-0.7948203924516779"/>
          <p:cNvSpPr>
            <a:spLocks noGrp="1"/>
          </p:cNvSpPr>
          <p:nvPr/>
        </p:nvSpPr>
        <p:spPr>
          <a:xfrm>
            <a:off x="781050" y="2990850"/>
            <a:ext cx="157734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页面表单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txt-0.5050223456605173"/>
          <p:cNvSpPr>
            <a:spLocks noGrp="1"/>
          </p:cNvSpPr>
          <p:nvPr/>
        </p:nvSpPr>
        <p:spPr>
          <a:xfrm>
            <a:off x="781050" y="3409950"/>
            <a:ext cx="157734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渐进披露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arrow"/>
          <p:cNvSpPr>
            <a:spLocks noGrp="1"/>
          </p:cNvSpPr>
          <p:nvPr/>
        </p:nvSpPr>
        <p:spPr>
          <a:xfrm>
            <a:off x="2567940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9" name="flow"/>
          <p:cNvSpPr>
            <a:spLocks noGrp="1"/>
          </p:cNvSpPr>
          <p:nvPr/>
        </p:nvSpPr>
        <p:spPr>
          <a:xfrm>
            <a:off x="2701290" y="2333625"/>
            <a:ext cx="1920240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10" name="dot"/>
          <p:cNvSpPr>
            <a:spLocks noGrp="1"/>
          </p:cNvSpPr>
          <p:nvPr/>
        </p:nvSpPr>
        <p:spPr>
          <a:xfrm>
            <a:off x="2872740" y="2524125"/>
            <a:ext cx="266700" cy="266700"/>
          </a:xfrm>
          <a:prstGeom prst="ellipse">
            <a:avLst/>
          </a:prstGeom>
          <a:solidFill>
            <a:srgbClr val="1D4E89"/>
          </a:solidFill>
          <a:ln w="9525">
            <a:solidFill>
              <a:srgbClr val="1D4E89"/>
            </a:solidFill>
            <a:prstDash val="solid"/>
          </a:ln>
        </p:spPr>
      </p:sp>
      <p:sp>
        <p:nvSpPr>
          <p:cNvPr id="11" name="txt-0.9585972723270533"/>
          <p:cNvSpPr>
            <a:spLocks noGrp="1"/>
          </p:cNvSpPr>
          <p:nvPr/>
        </p:nvSpPr>
        <p:spPr>
          <a:xfrm>
            <a:off x="287274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txt-0.16108707947341172"/>
          <p:cNvSpPr>
            <a:spLocks noGrp="1"/>
          </p:cNvSpPr>
          <p:nvPr/>
        </p:nvSpPr>
        <p:spPr>
          <a:xfrm>
            <a:off x="2872740" y="2990850"/>
            <a:ext cx="157734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API 路由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1480036944710581"/>
          <p:cNvSpPr>
            <a:spLocks noGrp="1"/>
          </p:cNvSpPr>
          <p:nvPr/>
        </p:nvSpPr>
        <p:spPr>
          <a:xfrm>
            <a:off x="2872740" y="3409950"/>
            <a:ext cx="157734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权限与输入校验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arrow"/>
          <p:cNvSpPr>
            <a:spLocks noGrp="1"/>
          </p:cNvSpPr>
          <p:nvPr/>
        </p:nvSpPr>
        <p:spPr>
          <a:xfrm>
            <a:off x="4659630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15" name="flow"/>
          <p:cNvSpPr>
            <a:spLocks noGrp="1"/>
          </p:cNvSpPr>
          <p:nvPr/>
        </p:nvSpPr>
        <p:spPr>
          <a:xfrm>
            <a:off x="4792980" y="2333625"/>
            <a:ext cx="1920240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16" name="dot"/>
          <p:cNvSpPr>
            <a:spLocks noGrp="1"/>
          </p:cNvSpPr>
          <p:nvPr/>
        </p:nvSpPr>
        <p:spPr>
          <a:xfrm>
            <a:off x="4964430" y="2524125"/>
            <a:ext cx="266700" cy="266700"/>
          </a:xfrm>
          <a:prstGeom prst="ellipse">
            <a:avLst/>
          </a:prstGeom>
          <a:solidFill>
            <a:srgbClr val="1D4E89"/>
          </a:solidFill>
          <a:ln w="9525">
            <a:solidFill>
              <a:srgbClr val="1D4E89"/>
            </a:solidFill>
            <a:prstDash val="solid"/>
          </a:ln>
        </p:spPr>
      </p:sp>
      <p:sp>
        <p:nvSpPr>
          <p:cNvPr id="17" name="txt-0.9162263750683399"/>
          <p:cNvSpPr>
            <a:spLocks noGrp="1"/>
          </p:cNvSpPr>
          <p:nvPr/>
        </p:nvSpPr>
        <p:spPr>
          <a:xfrm>
            <a:off x="496443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txt-0.8688379605338494"/>
          <p:cNvSpPr>
            <a:spLocks noGrp="1"/>
          </p:cNvSpPr>
          <p:nvPr/>
        </p:nvSpPr>
        <p:spPr>
          <a:xfrm>
            <a:off x="4964430" y="2990850"/>
            <a:ext cx="157734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领域服务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txt-0.7626550159705251"/>
          <p:cNvSpPr>
            <a:spLocks noGrp="1"/>
          </p:cNvSpPr>
          <p:nvPr/>
        </p:nvSpPr>
        <p:spPr>
          <a:xfrm>
            <a:off x="4964430" y="3409950"/>
            <a:ext cx="157734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计算、状态、流程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arrow"/>
          <p:cNvSpPr>
            <a:spLocks noGrp="1"/>
          </p:cNvSpPr>
          <p:nvPr/>
        </p:nvSpPr>
        <p:spPr>
          <a:xfrm>
            <a:off x="6751320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21" name="flow"/>
          <p:cNvSpPr>
            <a:spLocks noGrp="1"/>
          </p:cNvSpPr>
          <p:nvPr/>
        </p:nvSpPr>
        <p:spPr>
          <a:xfrm>
            <a:off x="6884670" y="2333625"/>
            <a:ext cx="1920240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22" name="dot"/>
          <p:cNvSpPr>
            <a:spLocks noGrp="1"/>
          </p:cNvSpPr>
          <p:nvPr/>
        </p:nvSpPr>
        <p:spPr>
          <a:xfrm>
            <a:off x="7056120" y="2524125"/>
            <a:ext cx="266700" cy="266700"/>
          </a:xfrm>
          <a:prstGeom prst="ellipse">
            <a:avLst/>
          </a:prstGeom>
          <a:solidFill>
            <a:srgbClr val="1D4E89"/>
          </a:solidFill>
          <a:ln w="9525">
            <a:solidFill>
              <a:srgbClr val="1D4E89"/>
            </a:solidFill>
            <a:prstDash val="solid"/>
          </a:ln>
        </p:spPr>
      </p:sp>
      <p:sp>
        <p:nvSpPr>
          <p:cNvPr id="23" name="txt-0.3592409224480224"/>
          <p:cNvSpPr>
            <a:spLocks noGrp="1"/>
          </p:cNvSpPr>
          <p:nvPr/>
        </p:nvSpPr>
        <p:spPr>
          <a:xfrm>
            <a:off x="705612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" name="txt-0.5820072946158847"/>
          <p:cNvSpPr>
            <a:spLocks noGrp="1"/>
          </p:cNvSpPr>
          <p:nvPr/>
        </p:nvSpPr>
        <p:spPr>
          <a:xfrm>
            <a:off x="7056120" y="2990850"/>
            <a:ext cx="157734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模型/数据库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" name="txt-0.29963261063225977"/>
          <p:cNvSpPr>
            <a:spLocks noGrp="1"/>
          </p:cNvSpPr>
          <p:nvPr/>
        </p:nvSpPr>
        <p:spPr>
          <a:xfrm>
            <a:off x="7056120" y="3409950"/>
            <a:ext cx="157734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事实与快照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" name="arrow"/>
          <p:cNvSpPr>
            <a:spLocks noGrp="1"/>
          </p:cNvSpPr>
          <p:nvPr/>
        </p:nvSpPr>
        <p:spPr>
          <a:xfrm>
            <a:off x="8843010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27" name="flow"/>
          <p:cNvSpPr>
            <a:spLocks noGrp="1"/>
          </p:cNvSpPr>
          <p:nvPr/>
        </p:nvSpPr>
        <p:spPr>
          <a:xfrm>
            <a:off x="8976360" y="2333625"/>
            <a:ext cx="1920240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28" name="dot"/>
          <p:cNvSpPr>
            <a:spLocks noGrp="1"/>
          </p:cNvSpPr>
          <p:nvPr/>
        </p:nvSpPr>
        <p:spPr>
          <a:xfrm>
            <a:off x="9147810" y="2524125"/>
            <a:ext cx="266700" cy="266700"/>
          </a:xfrm>
          <a:prstGeom prst="ellipse">
            <a:avLst/>
          </a:prstGeom>
          <a:solidFill>
            <a:srgbClr val="1D4E89"/>
          </a:solidFill>
          <a:ln w="9525">
            <a:solidFill>
              <a:srgbClr val="1D4E89"/>
            </a:solidFill>
            <a:prstDash val="solid"/>
          </a:ln>
        </p:spPr>
      </p:sp>
      <p:sp>
        <p:nvSpPr>
          <p:cNvPr id="29" name="txt-0.42843910581101063"/>
          <p:cNvSpPr>
            <a:spLocks noGrp="1"/>
          </p:cNvSpPr>
          <p:nvPr/>
        </p:nvSpPr>
        <p:spPr>
          <a:xfrm>
            <a:off x="914781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" name="txt-0.7543287128231186"/>
          <p:cNvSpPr>
            <a:spLocks noGrp="1"/>
          </p:cNvSpPr>
          <p:nvPr/>
        </p:nvSpPr>
        <p:spPr>
          <a:xfrm>
            <a:off x="9147810" y="2990850"/>
            <a:ext cx="157734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事件/通知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1" name="txt-0.6279591379938612"/>
          <p:cNvSpPr>
            <a:spLocks noGrp="1"/>
          </p:cNvSpPr>
          <p:nvPr/>
        </p:nvSpPr>
        <p:spPr>
          <a:xfrm>
            <a:off x="9147810" y="3409950"/>
            <a:ext cx="157734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积分、提醒、审计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2" name="直接连接符 31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33" name="txt-0.2634941500985757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系统骨架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4" name="txt-0.7412524663222737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027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445346588290248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系统骨架</a:t>
            </a:r>
            <a:endParaRPr sz="975" b="1">
              <a:solidFill>
                <a:srgbClr val="3D8D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03143099032374219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六大域是产品边界，不是六个数据库孤岛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8027721306055113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用户看到的总览，来自各域的真实数据。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6" name="txt-0.19257080032109952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总览 Dashboard：聚合服务、变更、事件、问题、项目、需求和团队指标。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8" name="txt-0.8139277904188355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ITSM、项目、需求分别保存业务事实；流程引擎把它们串成可执行步骤。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0" name="txt-0.9290590345761066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团队域从业务事实和活动事实中取数，但不反向修改业务结果。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49184885639000864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系统骨架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5704417239015712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028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2049864722251734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系统骨架</a:t>
            </a:r>
            <a:endParaRPr sz="975" b="1">
              <a:solidFill>
                <a:srgbClr val="24A67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9705000237167207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系统有三类数据：事实、派生、快照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586255949980045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三类数据不能混着填。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6" name="txt-0.47152377237865317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事实：标题、描述、处理人、状态、计划日期、意见、附件。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8" name="txt-0.8055769356927526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派生：编号、SLA、进度、健康度、积分、排行榜、总分。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10" name="txt-0.809965905657392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快照：流程版本、RACI、角色权重、规则配置、发布结果。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981613752506176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系统骨架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1825337534109438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029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23507403892390322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系统骨架</a:t>
            </a:r>
            <a:endParaRPr sz="975" b="1">
              <a:solidFill>
                <a:srgbClr val="F4A34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19667242946720165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“派生数据零录入”是全局设计约束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8664232286268903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凡是能从事实算出来的字段，就不让用户重复维护。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6" name="txt-0.07220005892886017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编号由 GLID/业务编码器生成，用户不手填。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8" name="txt-0.22942971673519996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SLA 从优先级与服务项解析，实际时长从时间戳计算。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10" name="txt-0.9685887389304698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项目进度从 WBS 叶子任务汇总，积分从事件流水聚合，人效从角色组件聚合。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37449631351818236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系统骨架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4015753040555723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030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8216531443709584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7C6AE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7C6AE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系统骨架</a:t>
            </a:r>
            <a:endParaRPr sz="975" b="1">
              <a:solidFill>
                <a:srgbClr val="7C6AE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4660132165810733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渐进披露：先让人完成第一步，再展示复杂字段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003823238369747406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表单复杂度要跟着业务阶段出现。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6" name="txt-0.4274262314972841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工单基础必填 ≤ 5 项；选择 change 类型才展开变更类型、风险、回退、窗口、实施方案。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8" name="txt-0.46686733983717654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需求登记只填标题、类型、业务域、描述；六维评分只在评估阶段出现。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10" name="txt-0.6079046136892317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生命周期后期字段（解决方案、关闭代码、验收标准）在对应阶段填写。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10837459175153397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系统骨架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244634955426431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031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22938663893998779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系统骨架</a:t>
            </a:r>
            <a:endParaRPr sz="975" b="1">
              <a:solidFill>
                <a:srgbClr val="24A67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42355737602220644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事件驱动：动作发生，多个后果一起被触发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3940794701722701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领域事件让通知、积分和闭环不会依赖页面按钮的偶然性。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6" name="txt-0.8683743284816927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工单解决 → SLA 打点、通知提交人；写入 role_result 流水（非活动积分）。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8" name="txt-0.48914060350159005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工单关闭 → 若 SLA 双达成；写入 role_result 流水（非活动积分）。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10" name="txt-0.04257043151326079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需求/项目/WBS 事件写 role_result；知识/培训等团队贡献事件写 team_contribution。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3034354720448197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系统骨架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9617873064699292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032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3816679426135263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E56B6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E56B6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系统骨架</a:t>
            </a:r>
            <a:endParaRPr sz="975" b="1">
              <a:solidFill>
                <a:srgbClr val="E56B6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9571525764376645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状态机和流程引擎不是同一个东西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34420273298553616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一个控制状态，一个控制步骤。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E56B6F"/>
          </a:solidFill>
          <a:ln w="9525">
            <a:solidFill>
              <a:srgbClr val="E56B6F"/>
            </a:solidFill>
            <a:prstDash val="solid"/>
          </a:ln>
        </p:spPr>
      </p:sp>
      <p:sp>
        <p:nvSpPr>
          <p:cNvPr id="6" name="txt-0.2583547752465687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状态机：允许从哪个业务状态到哪个业务状态，哪些角色可做。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E56B6F"/>
          </a:solidFill>
          <a:ln w="9525">
            <a:solidFill>
              <a:srgbClr val="E56B6F"/>
            </a:solidFill>
            <a:prstDash val="solid"/>
          </a:ln>
        </p:spPr>
      </p:sp>
      <p:sp>
        <p:nvSpPr>
          <p:cNvPr id="8" name="txt-0.39357215119352207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流程引擎：当前实例在哪个步骤，谁负责完成，谁只被知会。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E56B6F"/>
          </a:solidFill>
          <a:ln w="9525">
            <a:solidFill>
              <a:srgbClr val="E56B6F"/>
            </a:solidFill>
            <a:prstDash val="solid"/>
          </a:ln>
        </p:spPr>
      </p:sp>
      <p:sp>
        <p:nvSpPr>
          <p:cNvPr id="10" name="txt-0.2762454004745971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流程完成会回调业务服务，自动把状态推进到 resolved/closed 等业务终态。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4648058808028688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系统骨架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06753458131500223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033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03520318660106525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系统骨架</a:t>
            </a:r>
            <a:endParaRPr sz="975" b="1">
              <a:solidFill>
                <a:srgbClr val="3D8D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596791529147566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通知是事实的回声，不是新的业务事实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8028713894545193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通知告诉人“该做什么”，不替代系统记录。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6" name="txt-0.5906681727965676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待办通知：任务落到谁头上，通知谁。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8" name="txt-0.5384592802268449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知会通知：只读到信息，不产生任务，也不阻塞流程。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0" name="txt-0.15519764708999884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通知发件箱保留 event_type、entity_type、entity_id、channel、status，未来可接飞书。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6798421146396189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系统骨架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20394465211730028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034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txt-0.838491152788116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7C6AE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7C6AE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系统骨架</a:t>
            </a:r>
            <a:endParaRPr sz="975" b="1">
              <a:solidFill>
                <a:srgbClr val="7C6AE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6681875030653472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审计日志的最小结构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9881301528642634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每次管理动作都要能回答四个问题。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6" name="txt-0.31875241099924423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谁：actor / actor_name。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8" name="txt-0.9362041069045912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何时：created_at。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10" name="txt-0.7706260063954556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对什么：entity_type / entity_id。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dot"/>
          <p:cNvSpPr>
            <a:spLocks noGrp="1"/>
          </p:cNvSpPr>
          <p:nvPr/>
        </p:nvSpPr>
        <p:spPr>
          <a:xfrm>
            <a:off x="895350" y="37814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12" name="txt-0.90962109071612"/>
          <p:cNvSpPr>
            <a:spLocks noGrp="1"/>
          </p:cNvSpPr>
          <p:nvPr/>
        </p:nvSpPr>
        <p:spPr>
          <a:xfrm>
            <a:off x="1104900" y="37242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做了什么：action + before/after/变更摘要。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4" name="txt-0.383626736551556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系统骨架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txt-0.269070602037089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035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31139416542397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系统骨架</a:t>
            </a:r>
            <a:endParaRPr sz="975" b="1">
              <a:solidFill>
                <a:srgbClr val="F4A34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4291112122288071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软删除不是“假装没删”，而是保护历史关联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43046978692093696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业务数据有历史价值，删除策略必须可追溯。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6" name="txt-0.6295612616296701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多数业务实体使用 is_deleted；列表隐藏，但历史关联和审计保留。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8" name="txt-0.252849049697896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账号删除会解绑人员主数据，人员与历史单据不删除。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10" name="txt-0.6068949079151228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流程定义、角色、用户组如果被引用或已产生实例，不能随意删除。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8443779963099887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系统骨架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6163996303078161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036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5984620705360494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1D4E8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1D4E8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系统骨架</a:t>
            </a:r>
            <a:endParaRPr sz="975" b="1">
              <a:solidFill>
                <a:srgbClr val="1D4E8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9728306320823124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版本快照解决“现在改了，过去怎么办”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9748987675073255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任何影响历史解释的规则，都要有时间边界。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1D4E89"/>
          </a:solidFill>
          <a:ln w="9525">
            <a:solidFill>
              <a:srgbClr val="1D4E89"/>
            </a:solidFill>
            <a:prstDash val="solid"/>
          </a:ln>
        </p:spPr>
      </p:sp>
      <p:sp>
        <p:nvSpPr>
          <p:cNvPr id="6" name="txt-0.06437004398882185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流程实例保存 definition_version、step_code_snapshot、RACI snapshot。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1D4E89"/>
          </a:solidFill>
          <a:ln w="9525">
            <a:solidFill>
              <a:srgbClr val="1D4E89"/>
            </a:solidFill>
            <a:prstDash val="solid"/>
          </a:ln>
        </p:spPr>
      </p:sp>
      <p:sp>
        <p:nvSpPr>
          <p:cNvPr id="8" name="txt-0.14548621179455146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人效周期保存 rule_snapshot、role_snapshot，发布后不静默覆盖。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1D4E89"/>
          </a:solidFill>
          <a:ln w="9525">
            <a:solidFill>
              <a:srgbClr val="1D4E89"/>
            </a:solidFill>
            <a:prstDash val="solid"/>
          </a:ln>
        </p:spPr>
      </p:sp>
      <p:sp>
        <p:nvSpPr>
          <p:cNvPr id="10" name="txt-0.769248953964972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UI 品牌配置也采用草稿→预览→发布，并保留版本。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6454458860176308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系统骨架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826340519993575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037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txt-0.62791857123947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E56B6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E56B6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系统骨架</a:t>
            </a:r>
            <a:endParaRPr sz="975" b="1">
              <a:solidFill>
                <a:srgbClr val="E56B6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5900573155484986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代码、文档、运行时的优先级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21707582479741527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培训时要避免把三个层次混成一个“默认值”。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E56B6F"/>
          </a:solidFill>
          <a:ln w="9525">
            <a:solidFill>
              <a:srgbClr val="E56B6F"/>
            </a:solidFill>
            <a:prstDash val="solid"/>
          </a:ln>
        </p:spPr>
      </p:sp>
      <p:sp>
        <p:nvSpPr>
          <p:cNvPr id="6" name="txt-0.13841980879189675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代码默认：新库或初始化时的种子值。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E56B6F"/>
          </a:solidFill>
          <a:ln w="9525">
            <a:solidFill>
              <a:srgbClr val="E56B6F"/>
            </a:solidFill>
            <a:prstDash val="solid"/>
          </a:ln>
        </p:spPr>
      </p:sp>
      <p:sp>
        <p:nvSpPr>
          <p:cNvPr id="8" name="txt-0.7351188253624494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文档契约：系统设计意图、字段和边界。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E56B6F"/>
          </a:solidFill>
          <a:ln w="9525">
            <a:solidFill>
              <a:srgbClr val="E56B6F"/>
            </a:solidFill>
            <a:prstDash val="solid"/>
          </a:ln>
        </p:spPr>
      </p:sp>
      <p:sp>
        <p:nvSpPr>
          <p:cNvPr id="10" name="txt-0.3789322368651835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运行时配置：管理员/CIO 在页面发布的当前流程、规则和权限。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dot"/>
          <p:cNvSpPr>
            <a:spLocks noGrp="1"/>
          </p:cNvSpPr>
          <p:nvPr/>
        </p:nvSpPr>
        <p:spPr>
          <a:xfrm>
            <a:off x="895350" y="3781425"/>
            <a:ext cx="95250" cy="95250"/>
          </a:xfrm>
          <a:prstGeom prst="ellipse">
            <a:avLst/>
          </a:prstGeom>
          <a:solidFill>
            <a:srgbClr val="E56B6F"/>
          </a:solidFill>
          <a:ln w="9525">
            <a:solidFill>
              <a:srgbClr val="E56B6F"/>
            </a:solidFill>
            <a:prstDash val="solid"/>
          </a:ln>
        </p:spPr>
      </p:sp>
      <p:sp>
        <p:nvSpPr>
          <p:cNvPr id="12" name="txt-0.2965222107477743"/>
          <p:cNvSpPr>
            <a:spLocks noGrp="1"/>
          </p:cNvSpPr>
          <p:nvPr/>
        </p:nvSpPr>
        <p:spPr>
          <a:xfrm>
            <a:off x="1104900" y="37242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当三者冲突时，先确认当前运行时配置，再定位代码和文档是否需要同步。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4" name="txt-0.6113098517954174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系统骨架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txt-0.6799963086422974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038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txt-0.42110200288505184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系统骨架</a:t>
            </a:r>
            <a:endParaRPr sz="975" b="1">
              <a:solidFill>
                <a:srgbClr val="F4A34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7958712303072407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系统当前明确不做的事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46211526833598826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边界清楚，团队才知道什么时候要转人工治理。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6" name="txt-0.28894173542234936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不引入 n8n 作为核心流程引擎。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8" name="txt-0.0830273828258743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不把 AI Agent 当成当前已接入的实际入口。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10" name="txt-0.8181474869114637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不把业务域 owner 自动变成系统角色；owner 是业务域字段。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dot"/>
          <p:cNvSpPr>
            <a:spLocks noGrp="1"/>
          </p:cNvSpPr>
          <p:nvPr/>
        </p:nvSpPr>
        <p:spPr>
          <a:xfrm>
            <a:off x="895350" y="37814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12" name="txt-0.25010961489914796"/>
          <p:cNvSpPr>
            <a:spLocks noGrp="1"/>
          </p:cNvSpPr>
          <p:nvPr/>
        </p:nvSpPr>
        <p:spPr>
          <a:xfrm>
            <a:off x="1104900" y="37242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不把部门归属当作权限；权限来自角色和组。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4" name="txt-0.3719105488871516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系统骨架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txt-0.008494629113692476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039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txt-0.48075218827652766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系统骨架</a:t>
            </a:r>
            <a:endParaRPr sz="975" b="1">
              <a:solidFill>
                <a:srgbClr val="3D8D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8677918292150099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总览 Dashboard 的正确用法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10794445806712649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总览用来发现异常和选择下一步，不用来手填统计。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6" name="txt-0.36261005388545076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服务请求/事件/变更/问题：未关闭、优先级、SLA、审批/实施/已知错误。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8" name="txt-0.9752163583504555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项目：在建、健康度、逾期里程碑、预算执行。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0" name="txt-0.8261566711818641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需求：阶段分布、交付周期。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dot"/>
          <p:cNvSpPr>
            <a:spLocks noGrp="1"/>
          </p:cNvSpPr>
          <p:nvPr/>
        </p:nvSpPr>
        <p:spPr>
          <a:xfrm>
            <a:off x="895350" y="37814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2" name="txt-0.23558891871537135"/>
          <p:cNvSpPr>
            <a:spLocks noGrp="1"/>
          </p:cNvSpPr>
          <p:nvPr/>
        </p:nvSpPr>
        <p:spPr>
          <a:xfrm>
            <a:off x="1104900" y="37242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团队：负载、积分、培训、招聘。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4" name="txt-0.053121076274113666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系统骨架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txt-0.9738288859845778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040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section"/>
          <p:cNvSpPr>
            <a:spLocks noGrp="1"/>
          </p:cNvSpPr>
          <p:nvPr/>
        </p:nvSpPr>
        <p:spPr>
          <a:xfrm>
            <a:off x="0" y="0"/>
            <a:ext cx="3524250" cy="6858000"/>
          </a:xfrm>
          <a:prstGeom prst="roundRect">
            <a:avLst>
              <a:gd name="adj" fmla="val 2162"/>
            </a:avLst>
          </a:prstGeom>
          <a:solidFill>
            <a:srgbClr val="7C6AE6"/>
          </a:solidFill>
          <a:ln w="0">
            <a:noFill/>
            <a:prstDash val="solid"/>
          </a:ln>
        </p:spPr>
      </p:sp>
      <p:sp>
        <p:nvSpPr>
          <p:cNvPr id="2" name="txt-0.21955510424008573"/>
          <p:cNvSpPr>
            <a:spLocks noGrp="1"/>
          </p:cNvSpPr>
          <p:nvPr/>
        </p:nvSpPr>
        <p:spPr>
          <a:xfrm>
            <a:off x="628650" y="800100"/>
            <a:ext cx="2190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2220"/>
          </a:bodyPr>
          <a:lstStyle/>
          <a:p>
            <a:pPr algn="l">
              <a:lnSpc>
                <a:spcPct val="106000"/>
              </a:lnSpc>
              <a:buNone/>
              <a:defRPr sz="72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72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41</a:t>
            </a:r>
            <a:endParaRPr sz="72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03190198789302423"/>
          <p:cNvSpPr>
            <a:spLocks noGrp="1"/>
          </p:cNvSpPr>
          <p:nvPr/>
        </p:nvSpPr>
        <p:spPr>
          <a:xfrm>
            <a:off x="647700" y="22098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0363"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ITOM 系统培训</a:t>
            </a:r>
            <a:endParaRPr sz="135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txt-0.29677671003434436"/>
          <p:cNvSpPr>
            <a:spLocks noGrp="1"/>
          </p:cNvSpPr>
          <p:nvPr/>
        </p:nvSpPr>
        <p:spPr>
          <a:xfrm>
            <a:off x="4057650" y="1543050"/>
            <a:ext cx="7048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0872"/>
          </a:bodyPr>
          <a:lstStyle/>
          <a:p>
            <a:pPr algn="l">
              <a:lnSpc>
                <a:spcPct val="92000"/>
              </a:lnSpc>
              <a:buNone/>
              <a:defRPr sz="39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9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第三章｜用户、角色、权限与组织</a:t>
            </a:r>
            <a:endParaRPr sz="39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txt-0.03718451147137403"/>
          <p:cNvSpPr>
            <a:spLocks noGrp="1"/>
          </p:cNvSpPr>
          <p:nvPr/>
        </p:nvSpPr>
        <p:spPr>
          <a:xfrm>
            <a:off x="4057650" y="2533650"/>
            <a:ext cx="6953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25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先把“人是谁”和“能做什么”分开，才能理解系统为什么允许一人多角色。</a:t>
            </a:r>
            <a:endParaRPr sz="1725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4057650" y="3752850"/>
            <a:ext cx="6610350" cy="0"/>
          </a:xfrm>
          <a:prstGeom prst="line">
            <a:avLst/>
          </a:prstGeom>
          <a:noFill/>
          <a:ln w="28575">
            <a:solidFill>
              <a:srgbClr val="7C6AE6"/>
            </a:solidFill>
            <a:prstDash val="solid"/>
          </a:ln>
        </p:spPr>
      </p:sp>
      <p:sp>
        <p:nvSpPr>
          <p:cNvPr id="7" name="txt-0.834726285098188"/>
          <p:cNvSpPr>
            <a:spLocks noGrp="1"/>
          </p:cNvSpPr>
          <p:nvPr/>
        </p:nvSpPr>
        <p:spPr>
          <a:xfrm>
            <a:off x="4057650" y="4038600"/>
            <a:ext cx="657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2684"/>
          </a:bodyPr>
          <a:lstStyle/>
          <a:p>
            <a:pPr algn="l">
              <a:lnSpc>
                <a:spcPct val="106000"/>
              </a:lnSpc>
              <a:buNone/>
              <a:defRPr sz="1425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课程原则：先理解概念，再看系统如何落地，最后练习如何判断。</a:t>
            </a:r>
            <a:endParaRPr sz="1425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txt-0.7664702902346923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7C6AE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7C6AE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身份模型</a:t>
            </a:r>
            <a:endParaRPr sz="975" b="1">
              <a:solidFill>
                <a:srgbClr val="7C6AE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4591738501477268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四个轴：账号、人员、组织、权限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flow"/>
          <p:cNvSpPr>
            <a:spLocks noGrp="1"/>
          </p:cNvSpPr>
          <p:nvPr/>
        </p:nvSpPr>
        <p:spPr>
          <a:xfrm>
            <a:off x="609600" y="2333625"/>
            <a:ext cx="2095500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4" name="dot"/>
          <p:cNvSpPr>
            <a:spLocks noGrp="1"/>
          </p:cNvSpPr>
          <p:nvPr/>
        </p:nvSpPr>
        <p:spPr>
          <a:xfrm>
            <a:off x="781050" y="2524125"/>
            <a:ext cx="266700" cy="26670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5" name="txt-0.31858871886709217"/>
          <p:cNvSpPr>
            <a:spLocks noGrp="1"/>
          </p:cNvSpPr>
          <p:nvPr/>
        </p:nvSpPr>
        <p:spPr>
          <a:xfrm>
            <a:off x="78105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txt-0.5703163994535202"/>
          <p:cNvSpPr>
            <a:spLocks noGrp="1"/>
          </p:cNvSpPr>
          <p:nvPr/>
        </p:nvSpPr>
        <p:spPr>
          <a:xfrm>
            <a:off x="781050" y="2990850"/>
            <a:ext cx="1752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账号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txt-0.5590983986298129"/>
          <p:cNvSpPr>
            <a:spLocks noGrp="1"/>
          </p:cNvSpPr>
          <p:nvPr/>
        </p:nvSpPr>
        <p:spPr>
          <a:xfrm>
            <a:off x="781050" y="3409950"/>
            <a:ext cx="1752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auth_user 登录身份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arrow"/>
          <p:cNvSpPr>
            <a:spLocks noGrp="1"/>
          </p:cNvSpPr>
          <p:nvPr/>
        </p:nvSpPr>
        <p:spPr>
          <a:xfrm>
            <a:off x="2743200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9" name="flow"/>
          <p:cNvSpPr>
            <a:spLocks noGrp="1"/>
          </p:cNvSpPr>
          <p:nvPr/>
        </p:nvSpPr>
        <p:spPr>
          <a:xfrm>
            <a:off x="2876550" y="2333625"/>
            <a:ext cx="2095500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10" name="dot"/>
          <p:cNvSpPr>
            <a:spLocks noGrp="1"/>
          </p:cNvSpPr>
          <p:nvPr/>
        </p:nvSpPr>
        <p:spPr>
          <a:xfrm>
            <a:off x="3048000" y="2524125"/>
            <a:ext cx="266700" cy="26670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11" name="txt-0.5359671805426304"/>
          <p:cNvSpPr>
            <a:spLocks noGrp="1"/>
          </p:cNvSpPr>
          <p:nvPr/>
        </p:nvSpPr>
        <p:spPr>
          <a:xfrm>
            <a:off x="304800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txt-0.8766820311903937"/>
          <p:cNvSpPr>
            <a:spLocks noGrp="1"/>
          </p:cNvSpPr>
          <p:nvPr/>
        </p:nvSpPr>
        <p:spPr>
          <a:xfrm>
            <a:off x="3048000" y="2990850"/>
            <a:ext cx="1752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人员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3538745882918596"/>
          <p:cNvSpPr>
            <a:spLocks noGrp="1"/>
          </p:cNvSpPr>
          <p:nvPr/>
        </p:nvSpPr>
        <p:spPr>
          <a:xfrm>
            <a:off x="3048000" y="3409950"/>
            <a:ext cx="1752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org_member 主数据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arrow"/>
          <p:cNvSpPr>
            <a:spLocks noGrp="1"/>
          </p:cNvSpPr>
          <p:nvPr/>
        </p:nvSpPr>
        <p:spPr>
          <a:xfrm>
            <a:off x="5010150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15" name="flow"/>
          <p:cNvSpPr>
            <a:spLocks noGrp="1"/>
          </p:cNvSpPr>
          <p:nvPr/>
        </p:nvSpPr>
        <p:spPr>
          <a:xfrm>
            <a:off x="5143500" y="2333625"/>
            <a:ext cx="2095500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16" name="dot"/>
          <p:cNvSpPr>
            <a:spLocks noGrp="1"/>
          </p:cNvSpPr>
          <p:nvPr/>
        </p:nvSpPr>
        <p:spPr>
          <a:xfrm>
            <a:off x="5314950" y="2524125"/>
            <a:ext cx="266700" cy="26670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17" name="txt-0.22867602130898312"/>
          <p:cNvSpPr>
            <a:spLocks noGrp="1"/>
          </p:cNvSpPr>
          <p:nvPr/>
        </p:nvSpPr>
        <p:spPr>
          <a:xfrm>
            <a:off x="531495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txt-0.8781082038013209"/>
          <p:cNvSpPr>
            <a:spLocks noGrp="1"/>
          </p:cNvSpPr>
          <p:nvPr/>
        </p:nvSpPr>
        <p:spPr>
          <a:xfrm>
            <a:off x="5314950" y="2990850"/>
            <a:ext cx="1752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组织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txt-0.5620007913641252"/>
          <p:cNvSpPr>
            <a:spLocks noGrp="1"/>
          </p:cNvSpPr>
          <p:nvPr/>
        </p:nvSpPr>
        <p:spPr>
          <a:xfrm>
            <a:off x="5314950" y="3409950"/>
            <a:ext cx="1752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部门/业务域/用户组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arrow"/>
          <p:cNvSpPr>
            <a:spLocks noGrp="1"/>
          </p:cNvSpPr>
          <p:nvPr/>
        </p:nvSpPr>
        <p:spPr>
          <a:xfrm>
            <a:off x="7277100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21" name="flow"/>
          <p:cNvSpPr>
            <a:spLocks noGrp="1"/>
          </p:cNvSpPr>
          <p:nvPr/>
        </p:nvSpPr>
        <p:spPr>
          <a:xfrm>
            <a:off x="7410450" y="2333625"/>
            <a:ext cx="2095500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22" name="dot"/>
          <p:cNvSpPr>
            <a:spLocks noGrp="1"/>
          </p:cNvSpPr>
          <p:nvPr/>
        </p:nvSpPr>
        <p:spPr>
          <a:xfrm>
            <a:off x="7581900" y="2524125"/>
            <a:ext cx="266700" cy="26670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23" name="txt-0.4305642848734834"/>
          <p:cNvSpPr>
            <a:spLocks noGrp="1"/>
          </p:cNvSpPr>
          <p:nvPr/>
        </p:nvSpPr>
        <p:spPr>
          <a:xfrm>
            <a:off x="758190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" name="txt-0.25477023463248116"/>
          <p:cNvSpPr>
            <a:spLocks noGrp="1"/>
          </p:cNvSpPr>
          <p:nvPr/>
        </p:nvSpPr>
        <p:spPr>
          <a:xfrm>
            <a:off x="7581900" y="2990850"/>
            <a:ext cx="1752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角色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" name="txt-0.3470298609882735"/>
          <p:cNvSpPr>
            <a:spLocks noGrp="1"/>
          </p:cNvSpPr>
          <p:nvPr/>
        </p:nvSpPr>
        <p:spPr>
          <a:xfrm>
            <a:off x="7581900" y="3409950"/>
            <a:ext cx="1752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功能、流程、绩效边界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27" name="txt-0.9221030426571178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身份模型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8" name="txt-0.15562147789494285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042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txt-0.10237538446465011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身份模型</a:t>
            </a:r>
            <a:endParaRPr sz="975" b="1">
              <a:solidFill>
                <a:srgbClr val="3D8D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37495321044533403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账号回答“你怎么登录”，人员回答“你是谁”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4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5" name="txt-0.662852039781028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auth_user：username、password_hash、auth_source、person_id、roles、preferences、is_active。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7" name="txt-0.3368448766255524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org_member：姓名、工号、部门、岗位、状态、技能、联系方式、直属上级。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9" name="txt-0.5003998873609682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人员主数据本身没有权限语义；账号可以关联人员，也可以是未关联人员的管理员。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1" name="txt-0.6412288481491999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身份模型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txt-0.4284649237858157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043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620437680234452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身份模型</a:t>
            </a:r>
            <a:endParaRPr sz="975" b="1">
              <a:solidFill>
                <a:srgbClr val="24A67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09857014559588961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部门是组织树，不是权限树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8706214842671552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部门只告诉系统“人在哪里”，不自动决定“能做什么”。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6" name="txt-0.8086030524465847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department：code、name、parent_id、dept_type（it/business/audit）、active。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8" name="txt-0.5840901752953258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一个人在一个部门；部门可由飞书同步，结构字段以外部源为准。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10" name="txt-0.20457058346234636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部门类型可以参与首次开通规则匹配，但不是角色本身。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6186874209566844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身份模型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20850987702626356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044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29843658821400265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身份模型</a:t>
            </a:r>
            <a:endParaRPr sz="975" b="1">
              <a:solidFill>
                <a:srgbClr val="F4A34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6816762791804771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岗位是能力与编制的结构，不是登录角色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6390331096260761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岗位和角色经常相关，但不能互相替代。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6" name="txt-0.7795309771803118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position：岗位编码、岗位族、职责、编制数、职级框架、技能、服务业务域、主责角色。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8" name="txt-0.47131527806202955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org_member.position_id 关联岗位；飞书同步不覆盖本地岗位关系。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10" name="txt-0.21602827702502614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岗位可用于评分档案和编制分析，但不自动给用户加权限。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9445682457492357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身份模型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6470154985440063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045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14157037794600036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7C6AE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7C6AE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身份模型</a:t>
            </a:r>
            <a:endParaRPr sz="975" b="1">
              <a:solidFill>
                <a:srgbClr val="7C6AE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3956220929027403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业务域是横向服务线，负责人是字段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020831855100522545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业务域解决“服务哪条业务线”，不制造新的权限角色。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6" name="txt-0.7216244752891078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business_domain：名称、负责人、备份负责人、服务部门、服务团队。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8" name="txt-0.7954437091451684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负责人/备份负责人保存为 owner_id/backup_owner_id。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10" name="txt-0.5909799208532089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业务域可覆盖下级部门；负责人和服务团队只能从数字化团队范围选择。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07134369698904597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身份模型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944378311184474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046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399627887119431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1D4E8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1D4E8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身份模型</a:t>
            </a:r>
            <a:endParaRPr sz="975" b="1">
              <a:solidFill>
                <a:srgbClr val="1D4E8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043871914105827914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zh-CN"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技术组</a:t>
            </a: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是纵向专业线资源池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6284340385246369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zh-CN" altLang="en-US"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资源池</a:t>
            </a:r>
            <a:r>
              <a:rPr lang="zh-CN" altLang="en-US"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管理</a:t>
            </a:r>
            <a:endParaRPr lang="zh-CN" altLang="en-US"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1D4E89"/>
          </a:solidFill>
          <a:ln w="9525">
            <a:solidFill>
              <a:srgbClr val="1D4E89"/>
            </a:solidFill>
            <a:prstDash val="solid"/>
          </a:ln>
        </p:spPr>
      </p:sp>
      <p:sp>
        <p:nvSpPr>
          <p:cNvPr id="6" name="txt-0.2685528916291068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zh-CN"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内置专业线：</a:t>
            </a:r>
            <a:r>
              <a:rPr lang="en-US" altLang="zh-CN"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</a:t>
            </a:r>
            <a:r>
              <a:rPr lang="zh-CN" altLang="en-US"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开发、</a:t>
            </a:r>
            <a:r>
              <a:rPr lang="en-US" altLang="zh-CN"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</a:t>
            </a:r>
            <a:r>
              <a:rPr lang="zh-CN" altLang="en-US"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运维、</a:t>
            </a:r>
            <a:r>
              <a:rPr lang="en-US" altLang="zh-CN"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</a:t>
            </a:r>
            <a:r>
              <a:rPr lang="zh-CN" altLang="en-US"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产品经理、</a:t>
            </a:r>
            <a:r>
              <a:rPr lang="en-US" altLang="zh-CN"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PM</a:t>
            </a:r>
            <a:r>
              <a:rPr lang="zh-CN" altLang="en-US" sz="1425" b="0">
                <a:solidFill>
                  <a:srgbClr val="15202B"/>
                </a:solidFill>
                <a:latin typeface="Arial" panose="020B0604020202090204"/>
                <a:ea typeface="宋体" charset="0"/>
                <a:cs typeface="Arial" panose="020B0604020202090204"/>
              </a:rPr>
              <a:t>、数据、</a:t>
            </a:r>
            <a:r>
              <a:rPr lang="en-US" altLang="zh-CN" sz="1425" b="0">
                <a:solidFill>
                  <a:srgbClr val="15202B"/>
                </a:solidFill>
                <a:latin typeface="Arial" panose="020B0604020202090204"/>
                <a:ea typeface="宋体" charset="0"/>
                <a:cs typeface="Arial" panose="020B0604020202090204"/>
              </a:rPr>
              <a:t>AI</a:t>
            </a:r>
            <a:r>
              <a:rPr lang="zh-CN" altLang="en-US" sz="1425" b="0">
                <a:solidFill>
                  <a:srgbClr val="15202B"/>
                </a:solidFill>
                <a:latin typeface="Arial" panose="020B0604020202090204"/>
                <a:ea typeface="宋体" charset="0"/>
                <a:cs typeface="Arial" panose="020B0604020202090204"/>
              </a:rPr>
              <a:t>、信息安全</a:t>
            </a:r>
            <a:r>
              <a:rPr lang="zh-CN" altLang="en-US" sz="1425" b="0">
                <a:solidFill>
                  <a:srgbClr val="15202B"/>
                </a:solidFill>
                <a:latin typeface="Arial" panose="020B0604020202090204"/>
                <a:ea typeface="宋体" charset="0"/>
                <a:cs typeface="Arial" panose="020B0604020202090204"/>
              </a:rPr>
              <a:t>等</a:t>
            </a:r>
            <a:endParaRPr lang="zh-CN" altLang="en-US" sz="1425" b="0">
              <a:solidFill>
                <a:srgbClr val="15202B"/>
              </a:solidFill>
              <a:latin typeface="Arial" panose="020B0604020202090204"/>
              <a:ea typeface="宋体" charset="0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1D4E89"/>
          </a:solidFill>
          <a:ln w="9525">
            <a:solidFill>
              <a:srgbClr val="1D4E89"/>
            </a:solidFill>
            <a:prstDash val="solid"/>
          </a:ln>
        </p:spPr>
      </p:sp>
      <p:sp>
        <p:nvSpPr>
          <p:cNvPr id="8" name="txt-0.3322943082596559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组负责人通常是专业线 TM；组可以授予 it_ops</a:t>
            </a:r>
            <a:r>
              <a:rPr lang="en-US"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_mgr</a:t>
            </a: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、it_dev、it_pm 等角色。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958955594015294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身份模型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5773067882207233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047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28793672028618345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身份模型</a:t>
            </a:r>
            <a:endParaRPr sz="975" b="1">
              <a:solidFill>
                <a:srgbClr val="3D8D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2577530836265012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角色回答“你在系统里能做什么”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07907999886937245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角色不是一个人的唯一身份，而是能力集合。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6" name="txt-0.8153955365985793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系统内置角色承载功能权限矩阵和流程/状态机引用。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8" name="txt-0.031437611468368654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用户可以同时拥有多个角色；权限取并集。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0" name="txt-0.21759461565968563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自定义角色必须继承一个内置角色，创建时复制权限矩阵，之后独立编辑。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702627247387586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身份模型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7762440754386997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048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" name="txt-0.31239007515163697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7C6AE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7C6AE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身份模型</a:t>
            </a:r>
            <a:endParaRPr sz="975" b="1">
              <a:solidFill>
                <a:srgbClr val="7C6AE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9211364757933767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有效角色如何计算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formula"/>
          <p:cNvSpPr>
            <a:spLocks noGrp="1"/>
          </p:cNvSpPr>
          <p:nvPr/>
        </p:nvSpPr>
        <p:spPr>
          <a:xfrm>
            <a:off x="819150" y="2095500"/>
            <a:ext cx="10382250" cy="1047750"/>
          </a:xfrm>
          <a:prstGeom prst="roundRect">
            <a:avLst>
              <a:gd name="adj" fmla="val 16364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4" name="txt-0.6666849919654282"/>
          <p:cNvSpPr>
            <a:spLocks noGrp="1"/>
          </p:cNvSpPr>
          <p:nvPr/>
        </p:nvSpPr>
        <p:spPr>
          <a:xfrm>
            <a:off x="1095375" y="2438400"/>
            <a:ext cx="981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0970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1D4E8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1D4E8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有效角色 = 直接角色 ∪ 所属用户组授予角色 ∪ 自定义角色的继承匹配</a:t>
            </a:r>
            <a:endParaRPr sz="2100" b="1">
              <a:solidFill>
                <a:srgbClr val="1D4E8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meaning"/>
          <p:cNvSpPr>
            <a:spLocks noGrp="1"/>
          </p:cNvSpPr>
          <p:nvPr/>
        </p:nvSpPr>
        <p:spPr>
          <a:xfrm>
            <a:off x="1524000" y="3714750"/>
            <a:ext cx="9144000" cy="1123950"/>
          </a:xfrm>
          <a:prstGeom prst="roundRect">
            <a:avLst>
              <a:gd name="adj" fmla="val 13559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6" name="txt-0.3871604364696094"/>
          <p:cNvSpPr>
            <a:spLocks noGrp="1"/>
          </p:cNvSpPr>
          <p:nvPr/>
        </p:nvSpPr>
        <p:spPr>
          <a:xfrm>
            <a:off x="1847850" y="4038600"/>
            <a:ext cx="8496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一人多角色是设计原则；任何部门、岗位或开通规则都不应把人永久绑死在单一角色上。</a:t>
            </a:r>
            <a:endParaRPr sz="1425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8" name="txt-0.4119145426747355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身份模型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txt-0.9379086468635184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049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thead"/>
          <p:cNvSpPr>
            <a:spLocks noGrp="1"/>
          </p:cNvSpPr>
          <p:nvPr/>
        </p:nvSpPr>
        <p:spPr>
          <a:xfrm>
            <a:off x="609600" y="1905000"/>
            <a:ext cx="10287000" cy="514350"/>
          </a:xfrm>
          <a:prstGeom prst="roundRect">
            <a:avLst>
              <a:gd name="adj" fmla="val 14815"/>
            </a:avLst>
          </a:prstGeom>
          <a:solidFill>
            <a:srgbClr val="E3E9ED"/>
          </a:solidFill>
          <a:ln w="0">
            <a:noFill/>
            <a:prstDash val="solid"/>
          </a:ln>
        </p:spPr>
      </p:sp>
      <p:sp>
        <p:nvSpPr>
          <p:cNvPr id="11" name="txt-0.30065725260362497"/>
          <p:cNvSpPr>
            <a:spLocks noGrp="1"/>
          </p:cNvSpPr>
          <p:nvPr/>
        </p:nvSpPr>
        <p:spPr>
          <a:xfrm>
            <a:off x="723900" y="201930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0863"/>
          </a:bodyPr>
          <a:lstStyle/>
          <a:p>
            <a:pPr algn="l">
              <a:lnSpc>
                <a:spcPct val="106000"/>
              </a:lnSpc>
              <a:buNone/>
              <a:defRPr sz="10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角色分类</a:t>
            </a:r>
            <a:endParaRPr sz="10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txt-0.21548599553228465"/>
          <p:cNvSpPr>
            <a:spLocks noGrp="1"/>
          </p:cNvSpPr>
          <p:nvPr/>
        </p:nvSpPr>
        <p:spPr>
          <a:xfrm>
            <a:off x="2819400" y="20193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0863"/>
          </a:bodyPr>
          <a:lstStyle/>
          <a:p>
            <a:pPr algn="l">
              <a:lnSpc>
                <a:spcPct val="106000"/>
              </a:lnSpc>
              <a:buNone/>
              <a:defRPr sz="10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代码示例</a:t>
            </a:r>
            <a:endParaRPr sz="10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03341477518583047"/>
          <p:cNvSpPr>
            <a:spLocks noGrp="1"/>
          </p:cNvSpPr>
          <p:nvPr/>
        </p:nvSpPr>
        <p:spPr>
          <a:xfrm>
            <a:off x="5676900" y="201930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0863"/>
          </a:bodyPr>
          <a:lstStyle/>
          <a:p>
            <a:pPr algn="l">
              <a:lnSpc>
                <a:spcPct val="106000"/>
              </a:lnSpc>
              <a:buNone/>
              <a:defRPr sz="10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主要职责</a:t>
            </a:r>
            <a:endParaRPr sz="10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609600" y="2419350"/>
            <a:ext cx="102870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5" name="txt-0.5903110097738806"/>
          <p:cNvSpPr>
            <a:spLocks noGrp="1"/>
          </p:cNvSpPr>
          <p:nvPr/>
        </p:nvSpPr>
        <p:spPr>
          <a:xfrm>
            <a:off x="723900" y="2524125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管理层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txt-0.3178697595374712"/>
          <p:cNvSpPr>
            <a:spLocks noGrp="1"/>
          </p:cNvSpPr>
          <p:nvPr/>
        </p:nvSpPr>
        <p:spPr>
          <a:xfrm>
            <a:off x="2819400" y="2524125"/>
            <a:ext cx="266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admin / cio / it_bm / it_tm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txt-0.9942508008210604"/>
          <p:cNvSpPr>
            <a:spLocks noGrp="1"/>
          </p:cNvSpPr>
          <p:nvPr/>
        </p:nvSpPr>
        <p:spPr>
          <a:xfrm>
            <a:off x="5676900" y="2524125"/>
            <a:ext cx="5143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系统治理、业务线、专业线和终审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609600" y="2933700"/>
            <a:ext cx="102870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9" name="txt-0.9298651524934679"/>
          <p:cNvSpPr>
            <a:spLocks noGrp="1"/>
          </p:cNvSpPr>
          <p:nvPr/>
        </p:nvSpPr>
        <p:spPr>
          <a:xfrm>
            <a:off x="723900" y="3038475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产品/项目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txt-0.47613601824667995"/>
          <p:cNvSpPr>
            <a:spLocks noGrp="1"/>
          </p:cNvSpPr>
          <p:nvPr/>
        </p:nvSpPr>
        <p:spPr>
          <a:xfrm>
            <a:off x="2819400" y="3038475"/>
            <a:ext cx="266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it_pdm / it_pdm_leader / it_pm / it_pmo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" name="txt-0.9139589658422357"/>
          <p:cNvSpPr>
            <a:spLocks noGrp="1"/>
          </p:cNvSpPr>
          <p:nvPr/>
        </p:nvSpPr>
        <p:spPr>
          <a:xfrm>
            <a:off x="5676900" y="3038475"/>
            <a:ext cx="5143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需求、方案、项目和治理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609600" y="3448050"/>
            <a:ext cx="102870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23" name="txt-0.22378345268348654"/>
          <p:cNvSpPr>
            <a:spLocks noGrp="1"/>
          </p:cNvSpPr>
          <p:nvPr/>
        </p:nvSpPr>
        <p:spPr>
          <a:xfrm>
            <a:off x="723900" y="3552825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开发/运维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" name="txt-0.8017308849643836"/>
          <p:cNvSpPr>
            <a:spLocks noGrp="1"/>
          </p:cNvSpPr>
          <p:nvPr/>
        </p:nvSpPr>
        <p:spPr>
          <a:xfrm>
            <a:off x="2819400" y="3552825"/>
            <a:ext cx="266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6428"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it_dev / it_dev_leader / it_ops / it_op_leader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" name="txt-0.8914007024237609"/>
          <p:cNvSpPr>
            <a:spLocks noGrp="1"/>
          </p:cNvSpPr>
          <p:nvPr/>
        </p:nvSpPr>
        <p:spPr>
          <a:xfrm>
            <a:off x="5676900" y="3552825"/>
            <a:ext cx="5143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开发交付、运维与变更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609600" y="3962400"/>
            <a:ext cx="102870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27" name="txt-0.65747310836459"/>
          <p:cNvSpPr>
            <a:spLocks noGrp="1"/>
          </p:cNvSpPr>
          <p:nvPr/>
        </p:nvSpPr>
        <p:spPr>
          <a:xfrm>
            <a:off x="723900" y="4067175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安全/接口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8" name="txt-0.1958990139939527"/>
          <p:cNvSpPr>
            <a:spLocks noGrp="1"/>
          </p:cNvSpPr>
          <p:nvPr/>
        </p:nvSpPr>
        <p:spPr>
          <a:xfrm>
            <a:off x="2819400" y="4067175"/>
            <a:ext cx="266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is_mgr / it_bp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9" name="txt-0.6561496544445121"/>
          <p:cNvSpPr>
            <a:spLocks noGrp="1"/>
          </p:cNvSpPr>
          <p:nvPr/>
        </p:nvSpPr>
        <p:spPr>
          <a:xfrm>
            <a:off x="5676900" y="4067175"/>
            <a:ext cx="5143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风险控制、业务协同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609600" y="4476750"/>
            <a:ext cx="102870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31" name="txt-0.4681694368021383"/>
          <p:cNvSpPr>
            <a:spLocks noGrp="1"/>
          </p:cNvSpPr>
          <p:nvPr/>
        </p:nvSpPr>
        <p:spPr>
          <a:xfrm>
            <a:off x="723900" y="4581525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访问型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2" name="txt-0.3172526960689672"/>
          <p:cNvSpPr>
            <a:spLocks noGrp="1"/>
          </p:cNvSpPr>
          <p:nvPr/>
        </p:nvSpPr>
        <p:spPr>
          <a:xfrm>
            <a:off x="2819400" y="4581525"/>
            <a:ext cx="266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requester / auditor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3" name="txt-0.17961812535564325"/>
          <p:cNvSpPr>
            <a:spLocks noGrp="1"/>
          </p:cNvSpPr>
          <p:nvPr/>
        </p:nvSpPr>
        <p:spPr>
          <a:xfrm>
            <a:off x="5676900" y="4581525"/>
            <a:ext cx="5143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业务发起与只读审计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4" name="直接连接符 33"/>
          <p:cNvSpPr>
            <a:spLocks noGrp="1"/>
          </p:cNvSpPr>
          <p:nvPr/>
        </p:nvSpPr>
        <p:spPr>
          <a:xfrm>
            <a:off x="609600" y="1905000"/>
            <a:ext cx="102870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35" name="直接连接符 34"/>
          <p:cNvSpPr>
            <a:spLocks noGrp="1"/>
          </p:cNvSpPr>
          <p:nvPr/>
        </p:nvSpPr>
        <p:spPr>
          <a:xfrm>
            <a:off x="609600" y="4991100"/>
            <a:ext cx="102870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txt-0.29940418056836293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7C6AE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7C6AE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身份模型</a:t>
            </a:r>
            <a:endParaRPr sz="975" b="1">
              <a:solidFill>
                <a:srgbClr val="7C6AE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9897217290944631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当前代码内置角色是 16 个，不是“一个管理员 + 几个岗位”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758129650696386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代码 `ALL_ROLES` 与流程引用一起构成当前角色基线。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6" name="txt-0.7884557203261383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admin、cio、it_bm、it_tm。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8" name="txt-0.07970394178764817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it_pdm、it_pdm_leader、it_pm、it_pmo。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10" name="txt-0.28005249521568654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it_dev、it_dev_leader、it_ops、it_op_leader。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dot"/>
          <p:cNvSpPr>
            <a:spLocks noGrp="1"/>
          </p:cNvSpPr>
          <p:nvPr/>
        </p:nvSpPr>
        <p:spPr>
          <a:xfrm>
            <a:off x="895350" y="37814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12" name="txt-0.1854742153917217"/>
          <p:cNvSpPr>
            <a:spLocks noGrp="1"/>
          </p:cNvSpPr>
          <p:nvPr/>
        </p:nvSpPr>
        <p:spPr>
          <a:xfrm>
            <a:off x="1104900" y="37242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is_mgr、it_bp、auditor、requester。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4" name="txt-0.0911905167500845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身份模型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txt-0.9677893891392383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050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22235587596763828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E56B6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E56B6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身份模型</a:t>
            </a:r>
            <a:endParaRPr sz="975" b="1">
              <a:solidFill>
                <a:srgbClr val="E56B6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6394841763413854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admin 的权限特殊：隐式全权，不进入可配置矩阵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3622797466368626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这是防止管理员把自己锁死的安全阀。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E56B6F"/>
          </a:solidFill>
          <a:ln w="9525">
            <a:solidFill>
              <a:srgbClr val="E56B6F"/>
            </a:solidFill>
            <a:prstDash val="solid"/>
          </a:ln>
        </p:spPr>
      </p:sp>
      <p:sp>
        <p:nvSpPr>
          <p:cNvPr id="6" name="txt-0.06551610669470087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user_permissions() 遇到 admin 直接返回全模块全部动作。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E56B6F"/>
          </a:solidFill>
          <a:ln w="9525">
            <a:solidFill>
              <a:srgbClr val="E56B6F"/>
            </a:solidFill>
            <a:prstDash val="solid"/>
          </a:ln>
        </p:spPr>
      </p:sp>
      <p:sp>
        <p:nvSpPr>
          <p:cNvPr id="8" name="txt-0.46563282389323113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admin 不能通过用户组授予，也不能被自定义角色继承。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E56B6F"/>
          </a:solidFill>
          <a:ln w="9525">
            <a:solidFill>
              <a:srgbClr val="E56B6F"/>
            </a:solidFill>
            <a:prstDash val="solid"/>
          </a:ln>
        </p:spPr>
      </p:sp>
      <p:sp>
        <p:nvSpPr>
          <p:cNvPr id="10" name="txt-0.12774816493440788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普通角色的权限仍通过角色×模块×动作矩阵合并。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4646240628610303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身份模型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7028818008068656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051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37712447935739024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权限模型</a:t>
            </a:r>
            <a:endParaRPr sz="975" b="1">
              <a:solidFill>
                <a:srgbClr val="3D8D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7715925103280318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三层权限各管一段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6557384742518789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把三层混在一起，就会出现“页面看得到但不能操作”或“能操作不该操作”的问题。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6" name="txt-0.036989142713109935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功能矩阵：模块 × view/create/edit/delete，控制页面和接口入口。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8" name="txt-0.03209062226441117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数据范围：业务代码限制自己提交的单据、数字化团队人员和业务域范围。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0" name="txt-0.6312906298904472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流程权限：状态机 allowed_roles、流程步骤处理人/默认角色控制当前节点动作。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5666519667631356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权限模型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09346808836885934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052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3388728329204945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权限模型</a:t>
            </a:r>
            <a:endParaRPr sz="975" b="1">
              <a:solidFill>
                <a:srgbClr val="24A67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3093359487534131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功能矩阵：页面能不能看，动作能不能做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3242220035476805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权限配置页不是流程授权页。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6" name="txt-0.44907014760041086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模块代码示例：ticket_sr、ticket_change、requirements、projects、performance_admin。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8" name="txt-0.8809944095532755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四个动作：view / create / edit / delete。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10" name="txt-0.6227815207390588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前端按登录响应渲染菜单与按钮；后端 `require_perm` 再校验一次。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6591783568029781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权限模型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5238201253969029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053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txt-0.2897064139325418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权限模型</a:t>
            </a:r>
            <a:endParaRPr sz="975" b="1">
              <a:solidFill>
                <a:srgbClr val="F4A34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07907022186652823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工单按类型拆分权限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6034754237238333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这正是业务用户不能直接发起变更的代码依据。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6" name="txt-0.8886884962012004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service_request → ticket_sr。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8" name="txt-0.5480383586551233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incident → ticket_incident。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10" name="txt-0.41087448917470915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change → ticket_change。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dot"/>
          <p:cNvSpPr>
            <a:spLocks noGrp="1"/>
          </p:cNvSpPr>
          <p:nvPr/>
        </p:nvSpPr>
        <p:spPr>
          <a:xfrm>
            <a:off x="895350" y="37814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12" name="txt-0.531393578934893"/>
          <p:cNvSpPr>
            <a:spLocks noGrp="1"/>
          </p:cNvSpPr>
          <p:nvPr/>
        </p:nvSpPr>
        <p:spPr>
          <a:xfrm>
            <a:off x="1104900" y="37242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requester 默认矩阵只有 ticket_sr 和 requirements 的 create/view，未授予 ticket_change create。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4" name="txt-0.16779742195433256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权限模型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txt-0.9466295617961336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054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773253276499575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7C6AE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7C6AE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权限模型</a:t>
            </a:r>
            <a:endParaRPr sz="975" b="1">
              <a:solidFill>
                <a:srgbClr val="7C6AE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8936324760302647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流程权限：默认角色不是“固定某个账号”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15214479331202213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流程启动时，系统才把角色解析成在岗人员。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6" name="txt-0.08124576089002478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default_role 可以是内置角色、自定义角色或 group:组码。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8" name="txt-0.6649177782354025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流程实例若给了 preferred_assignee，优先使用单据受理人；否则按步骤规则解析。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10" name="txt-0.23920113024472855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项目流程中的 it_pm 节点例外跟随项目主数据 pm，避免从所有项目经理中随机选人。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13203915524603949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权限模型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33902326702659413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055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16422346528496679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1D4E8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1D4E8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权限模型</a:t>
            </a:r>
            <a:endParaRPr sz="975" b="1">
              <a:solidFill>
                <a:srgbClr val="1D4E8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8016431484506463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任务处理人和知会人有不同语义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2977571175064324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RACI 的 R 和 I 在代码里是不同的。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1D4E89"/>
          </a:solidFill>
          <a:ln w="9525">
            <a:solidFill>
              <a:srgbClr val="1D4E89"/>
            </a:solidFill>
            <a:prstDash val="solid"/>
          </a:ln>
        </p:spPr>
      </p:sp>
      <p:sp>
        <p:nvSpPr>
          <p:cNvPr id="6" name="txt-0.7007279630690547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处理人：生成 ProcessTask，必须完成/审批，阻塞流程。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1D4E89"/>
          </a:solidFill>
          <a:ln w="9525">
            <a:solidFill>
              <a:srgbClr val="1D4E89"/>
            </a:solidFill>
            <a:prstDash val="solid"/>
          </a:ln>
        </p:spPr>
      </p:sp>
      <p:sp>
        <p:nvSpPr>
          <p:cNvPr id="8" name="txt-0.5824933546920212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知会人：只生成通知，不产生任务，不阻塞流程。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1D4E89"/>
          </a:solidFill>
          <a:ln w="9525">
            <a:solidFill>
              <a:srgbClr val="1D4E89"/>
            </a:solidFill>
            <a:prstDash val="solid"/>
          </a:ln>
        </p:spPr>
      </p:sp>
      <p:sp>
        <p:nvSpPr>
          <p:cNvPr id="10" name="txt-0.8399598530871251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任务创建时同时保存 responsible/accountable/informed 的快照。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07670942774490663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权限模型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4630852575210329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056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22293893698997203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E56B6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E56B6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权限模型</a:t>
            </a:r>
            <a:endParaRPr sz="975" b="1">
              <a:solidFill>
                <a:srgbClr val="E56B6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40835610391308763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auditor 不是“只读角色加上普通角色”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08136287578345769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只持 auditor 的用户会被全局只读中间件限制。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E56B6F"/>
          </a:solidFill>
          <a:ln w="9525">
            <a:solidFill>
              <a:srgbClr val="E56B6F"/>
            </a:solidFill>
            <a:prstDash val="solid"/>
          </a:ln>
        </p:spPr>
      </p:sp>
      <p:sp>
        <p:nvSpPr>
          <p:cNvPr id="6" name="txt-0.18318954982448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auditor：全模块查看 + 审计日志查看。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E56B6F"/>
          </a:solidFill>
          <a:ln w="9525">
            <a:solidFill>
              <a:srgbClr val="E56B6F"/>
            </a:solidFill>
            <a:prstDash val="solid"/>
          </a:ln>
        </p:spPr>
      </p:sp>
      <p:sp>
        <p:nvSpPr>
          <p:cNvPr id="8" name="txt-0.41878513294100805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auditor + it_ops：因为拥有其他写角色，不会被只读限制。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E56B6F"/>
          </a:solidFill>
          <a:ln w="9525">
            <a:solidFill>
              <a:srgbClr val="E56B6F"/>
            </a:solidFill>
            <a:prstDash val="solid"/>
          </a:ln>
        </p:spPr>
      </p:sp>
      <p:sp>
        <p:nvSpPr>
          <p:cNvPr id="10" name="txt-0.0447774299657937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审计员关注的是证据完整性，不是流程执行。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6101405604005371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权限模型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5169133036698011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057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8119004185490668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权限模型</a:t>
            </a:r>
            <a:endParaRPr sz="975" b="1">
              <a:solidFill>
                <a:srgbClr val="3D8D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4008682642169503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requester 的工作台是服务门户，而不是内部工作台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4250009979795163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业务用户只需要看到和自己有关的入口。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6" name="txt-0.1417422509306161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可提交服务请求、需求，查看自己的工单和需求。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8" name="txt-0.17170505385932233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只能查看自己提交的单据，不能查看他人的事务单据。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0" name="txt-0.8529794020018421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不默认开放变更、事件、流程定义、评分规则等内部运营能力。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6340657863663435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权限模型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364157455608914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058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3945230752690766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组织同步</a:t>
            </a:r>
            <a:endParaRPr sz="975" b="1">
              <a:solidFill>
                <a:srgbClr val="24A67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4795538536770886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飞书是人员与部门主数据的 Source of Truth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5898072164398539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本地系统保存 ITOM 需要的扩展字段。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6" name="txt-0.5190895091999111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飞书同步覆盖姓名、部门、联系方式、状态等 HR 基础字段。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8" name="txt-0.9718403717635711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本地可维护岗位、技能、备注、部门类型等扩展字段。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10" name="txt-0.38625122550167434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外部消失人员标记离职、部门停用，历史关联保留。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5871384201548365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组织同步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5388771879302728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059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5" name="txt-0.47838892928299726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组织同步</a:t>
            </a:r>
            <a:endParaRPr sz="975" b="1">
              <a:solidFill>
                <a:srgbClr val="24A67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9357707898488178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首次开通与后续登录不是同一件事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flow"/>
          <p:cNvSpPr>
            <a:spLocks noGrp="1"/>
          </p:cNvSpPr>
          <p:nvPr/>
        </p:nvSpPr>
        <p:spPr>
          <a:xfrm>
            <a:off x="609600" y="2333625"/>
            <a:ext cx="1920240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4" name="dot"/>
          <p:cNvSpPr>
            <a:spLocks noGrp="1"/>
          </p:cNvSpPr>
          <p:nvPr/>
        </p:nvSpPr>
        <p:spPr>
          <a:xfrm>
            <a:off x="781050" y="2524125"/>
            <a:ext cx="266700" cy="26670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5" name="txt-0.947365570580308"/>
          <p:cNvSpPr>
            <a:spLocks noGrp="1"/>
          </p:cNvSpPr>
          <p:nvPr/>
        </p:nvSpPr>
        <p:spPr>
          <a:xfrm>
            <a:off x="78105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txt-0.2561972572548995"/>
          <p:cNvSpPr>
            <a:spLocks noGrp="1"/>
          </p:cNvSpPr>
          <p:nvPr/>
        </p:nvSpPr>
        <p:spPr>
          <a:xfrm>
            <a:off x="781050" y="2990850"/>
            <a:ext cx="157734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飞书认证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txt-0.6438348403947725"/>
          <p:cNvSpPr>
            <a:spLocks noGrp="1"/>
          </p:cNvSpPr>
          <p:nvPr/>
        </p:nvSpPr>
        <p:spPr>
          <a:xfrm>
            <a:off x="781050" y="3409950"/>
            <a:ext cx="157734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身份验证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arrow"/>
          <p:cNvSpPr>
            <a:spLocks noGrp="1"/>
          </p:cNvSpPr>
          <p:nvPr/>
        </p:nvSpPr>
        <p:spPr>
          <a:xfrm>
            <a:off x="2567940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9" name="flow"/>
          <p:cNvSpPr>
            <a:spLocks noGrp="1"/>
          </p:cNvSpPr>
          <p:nvPr/>
        </p:nvSpPr>
        <p:spPr>
          <a:xfrm>
            <a:off x="2701290" y="2333625"/>
            <a:ext cx="1920240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10" name="dot"/>
          <p:cNvSpPr>
            <a:spLocks noGrp="1"/>
          </p:cNvSpPr>
          <p:nvPr/>
        </p:nvSpPr>
        <p:spPr>
          <a:xfrm>
            <a:off x="2872740" y="2524125"/>
            <a:ext cx="266700" cy="26670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11" name="txt-0.29120453436993365"/>
          <p:cNvSpPr>
            <a:spLocks noGrp="1"/>
          </p:cNvSpPr>
          <p:nvPr/>
        </p:nvSpPr>
        <p:spPr>
          <a:xfrm>
            <a:off x="287274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txt-0.18055841345512957"/>
          <p:cNvSpPr>
            <a:spLocks noGrp="1"/>
          </p:cNvSpPr>
          <p:nvPr/>
        </p:nvSpPr>
        <p:spPr>
          <a:xfrm>
            <a:off x="2872740" y="2990850"/>
            <a:ext cx="157734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开通申请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5710442022440487"/>
          <p:cNvSpPr>
            <a:spLocks noGrp="1"/>
          </p:cNvSpPr>
          <p:nvPr/>
        </p:nvSpPr>
        <p:spPr>
          <a:xfrm>
            <a:off x="2872740" y="3409950"/>
            <a:ext cx="157734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管理员审批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arrow"/>
          <p:cNvSpPr>
            <a:spLocks noGrp="1"/>
          </p:cNvSpPr>
          <p:nvPr/>
        </p:nvSpPr>
        <p:spPr>
          <a:xfrm>
            <a:off x="4659630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15" name="flow"/>
          <p:cNvSpPr>
            <a:spLocks noGrp="1"/>
          </p:cNvSpPr>
          <p:nvPr/>
        </p:nvSpPr>
        <p:spPr>
          <a:xfrm>
            <a:off x="4792980" y="2333625"/>
            <a:ext cx="1920240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16" name="dot"/>
          <p:cNvSpPr>
            <a:spLocks noGrp="1"/>
          </p:cNvSpPr>
          <p:nvPr/>
        </p:nvSpPr>
        <p:spPr>
          <a:xfrm>
            <a:off x="4964430" y="2524125"/>
            <a:ext cx="266700" cy="26670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17" name="txt-0.6923748316071705"/>
          <p:cNvSpPr>
            <a:spLocks noGrp="1"/>
          </p:cNvSpPr>
          <p:nvPr/>
        </p:nvSpPr>
        <p:spPr>
          <a:xfrm>
            <a:off x="496443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txt-0.3524296847905122"/>
          <p:cNvSpPr>
            <a:spLocks noGrp="1"/>
          </p:cNvSpPr>
          <p:nvPr/>
        </p:nvSpPr>
        <p:spPr>
          <a:xfrm>
            <a:off x="4964430" y="2990850"/>
            <a:ext cx="157734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首次角色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txt-0.7896322166244348"/>
          <p:cNvSpPr>
            <a:spLocks noGrp="1"/>
          </p:cNvSpPr>
          <p:nvPr/>
        </p:nvSpPr>
        <p:spPr>
          <a:xfrm>
            <a:off x="4964430" y="3409950"/>
            <a:ext cx="157734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按部门/部门类型匹配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arrow"/>
          <p:cNvSpPr>
            <a:spLocks noGrp="1"/>
          </p:cNvSpPr>
          <p:nvPr/>
        </p:nvSpPr>
        <p:spPr>
          <a:xfrm>
            <a:off x="6751320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21" name="flow"/>
          <p:cNvSpPr>
            <a:spLocks noGrp="1"/>
          </p:cNvSpPr>
          <p:nvPr/>
        </p:nvSpPr>
        <p:spPr>
          <a:xfrm>
            <a:off x="6884670" y="2333625"/>
            <a:ext cx="1920240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22" name="dot"/>
          <p:cNvSpPr>
            <a:spLocks noGrp="1"/>
          </p:cNvSpPr>
          <p:nvPr/>
        </p:nvSpPr>
        <p:spPr>
          <a:xfrm>
            <a:off x="7056120" y="2524125"/>
            <a:ext cx="266700" cy="26670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23" name="txt-0.9462777833151128"/>
          <p:cNvSpPr>
            <a:spLocks noGrp="1"/>
          </p:cNvSpPr>
          <p:nvPr/>
        </p:nvSpPr>
        <p:spPr>
          <a:xfrm>
            <a:off x="705612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" name="txt-0.021103410743313566"/>
          <p:cNvSpPr>
            <a:spLocks noGrp="1"/>
          </p:cNvSpPr>
          <p:nvPr/>
        </p:nvSpPr>
        <p:spPr>
          <a:xfrm>
            <a:off x="7056120" y="2990850"/>
            <a:ext cx="157734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正式账号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" name="txt-0.7671716451830936"/>
          <p:cNvSpPr>
            <a:spLocks noGrp="1"/>
          </p:cNvSpPr>
          <p:nvPr/>
        </p:nvSpPr>
        <p:spPr>
          <a:xfrm>
            <a:off x="7056120" y="3409950"/>
            <a:ext cx="157734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关联人员与用户名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" name="arrow"/>
          <p:cNvSpPr>
            <a:spLocks noGrp="1"/>
          </p:cNvSpPr>
          <p:nvPr/>
        </p:nvSpPr>
        <p:spPr>
          <a:xfrm>
            <a:off x="8843010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27" name="flow"/>
          <p:cNvSpPr>
            <a:spLocks noGrp="1"/>
          </p:cNvSpPr>
          <p:nvPr/>
        </p:nvSpPr>
        <p:spPr>
          <a:xfrm>
            <a:off x="8976360" y="2333625"/>
            <a:ext cx="1920240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28" name="dot"/>
          <p:cNvSpPr>
            <a:spLocks noGrp="1"/>
          </p:cNvSpPr>
          <p:nvPr/>
        </p:nvSpPr>
        <p:spPr>
          <a:xfrm>
            <a:off x="9147810" y="2524125"/>
            <a:ext cx="266700" cy="26670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29" name="txt-0.11385498761897195"/>
          <p:cNvSpPr>
            <a:spLocks noGrp="1"/>
          </p:cNvSpPr>
          <p:nvPr/>
        </p:nvSpPr>
        <p:spPr>
          <a:xfrm>
            <a:off x="914781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" name="txt-0.921860003261238"/>
          <p:cNvSpPr>
            <a:spLocks noGrp="1"/>
          </p:cNvSpPr>
          <p:nvPr/>
        </p:nvSpPr>
        <p:spPr>
          <a:xfrm>
            <a:off x="9147810" y="2990850"/>
            <a:ext cx="157734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再次登录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1" name="txt-0.6486533064539952"/>
          <p:cNvSpPr>
            <a:spLocks noGrp="1"/>
          </p:cNvSpPr>
          <p:nvPr/>
        </p:nvSpPr>
        <p:spPr>
          <a:xfrm>
            <a:off x="9147810" y="3409950"/>
            <a:ext cx="157734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2639"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只同步档案，不重置角色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2" name="直接连接符 31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33" name="txt-0.17349486127783698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组织同步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4" name="txt-0.6299241982178433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060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9278995344702546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组织治理</a:t>
            </a:r>
            <a:endParaRPr sz="975" b="1">
              <a:solidFill>
                <a:srgbClr val="F4A34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2956376819320533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开通规则只在首次生效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3893848385392954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它是 onboarding 默认值，不是持续权限同步。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6" name="txt-0.6024006242926829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匹配类型：dept_type 或具体 department。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8" name="txt-0.8533942866490936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具体部门优先，sort 越小越优先，命中即停。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10" name="txt-0.5705185915635452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之后管理员可以自由增删角色，不会被下一次组织同步重置。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3941270320504745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组织治理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08652161099279931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061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8583656398261451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7C6AE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7C6AE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组织治理</a:t>
            </a:r>
            <a:endParaRPr sz="975" b="1">
              <a:solidFill>
                <a:srgbClr val="7C6AE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8479373739873579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数字化团队范围是所有人员下拉的共同口径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4649079393921077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先配置范围，再谈团队统计和派单。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6" name="txt-0.39416990196035373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管理员在组织管理中选择数字化团队部门，可包含下级部门。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8" name="txt-0.3448198193990494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项目经理、需求负责人、工单受理人、服务项负责人等选择器统一用 scope=it。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10" name="txt-0.17372406313277633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后端再次校验，不能只依赖前端过滤。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22441152357350957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组织治理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15031411659004112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062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23406593879510862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1D4E8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1D4E8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组织治理</a:t>
            </a:r>
            <a:endParaRPr sz="975" b="1">
              <a:solidFill>
                <a:srgbClr val="1D4E8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14809947254055034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为什么业务域负责人不能选全公司人员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7996022490275625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数据范围必须和组织设计一致。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1D4E89"/>
          </a:solidFill>
          <a:ln w="9525">
            <a:solidFill>
              <a:srgbClr val="1D4E89"/>
            </a:solidFill>
            <a:prstDash val="solid"/>
          </a:ln>
        </p:spPr>
      </p:sp>
      <p:sp>
        <p:nvSpPr>
          <p:cNvPr id="6" name="txt-0.6119156433225542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业务域 owner、backup_owner、服务团队成员只能从数字化团队选择。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1D4E89"/>
          </a:solidFill>
          <a:ln w="9525">
            <a:solidFill>
              <a:srgbClr val="1D4E89"/>
            </a:solidFill>
            <a:prstDash val="solid"/>
          </a:ln>
        </p:spPr>
      </p:sp>
      <p:sp>
        <p:nvSpPr>
          <p:cNvPr id="8" name="txt-0.30739010807347256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业务部门人员可以作为服务对象、提出人或验收参与者，但不进入 IT 团队统计。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1D4E89"/>
          </a:solidFill>
          <a:ln w="9525">
            <a:solidFill>
              <a:srgbClr val="1D4E89"/>
            </a:solidFill>
            <a:prstDash val="solid"/>
          </a:ln>
        </p:spPr>
      </p:sp>
      <p:sp>
        <p:nvSpPr>
          <p:cNvPr id="10" name="txt-0.1505583471681159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这保证团队负载、积分、岗位编制和人效评分口径一致。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9259185219182824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组织治理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8937661868107744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063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txt-0.4471277822729446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权限模型</a:t>
            </a:r>
            <a:endParaRPr sz="975" b="1">
              <a:solidFill>
                <a:srgbClr val="3D8D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13351898925019035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权限排障四步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5924479700374273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遇到“看得到但不能做”，按下面顺序定位。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6" name="txt-0.7285544942245792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看直接角色与组授予角色：有效角色是否包含目标能力？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8" name="txt-0.8013632148760259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看功能矩阵：模块动作是否有 view/create/edit/delete？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0" name="txt-0.05765133788856358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看数据范围：人员、业务域、单据是否在允许范围？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dot"/>
          <p:cNvSpPr>
            <a:spLocks noGrp="1"/>
          </p:cNvSpPr>
          <p:nvPr/>
        </p:nvSpPr>
        <p:spPr>
          <a:xfrm>
            <a:off x="895350" y="37814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2" name="txt-0.08590624765484323"/>
          <p:cNvSpPr>
            <a:spLocks noGrp="1"/>
          </p:cNvSpPr>
          <p:nvPr/>
        </p:nvSpPr>
        <p:spPr>
          <a:xfrm>
            <a:off x="1104900" y="37242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看流程节点：当前任务是否真的指派给本人或可认领角色？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4" name="txt-0.11962747835817422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权限模型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txt-0.40787510715130415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064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4603356131736407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身份与权限练习</a:t>
            </a:r>
            <a:endParaRPr sz="975" b="1">
              <a:solidFill>
                <a:srgbClr val="F4A34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9927417746206766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练习：为什么某人能看变更，但不能审批？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9439843270600654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把权限层次说清楚，比记住某个按钮更重要。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6" name="txt-0.9599828693568485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可能有 ticket_change view，但没有 edit。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8" name="txt-0.6573384609924653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可能有 edit，但不是当前流程任务处理人。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10" name="txt-0.32448840820819913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也可能具备 it_ops，却不在变更审批状态机 allowed_roles（默认 cio/it_tm/it_op_leader）。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11696981203430712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身份与权限练习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9636865520516965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065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section"/>
          <p:cNvSpPr>
            <a:spLocks noGrp="1"/>
          </p:cNvSpPr>
          <p:nvPr/>
        </p:nvSpPr>
        <p:spPr>
          <a:xfrm>
            <a:off x="0" y="0"/>
            <a:ext cx="3524250" cy="6858000"/>
          </a:xfrm>
          <a:prstGeom prst="roundRect">
            <a:avLst>
              <a:gd name="adj" fmla="val 2162"/>
            </a:avLst>
          </a:prstGeom>
          <a:solidFill>
            <a:srgbClr val="24A67A"/>
          </a:solidFill>
          <a:ln w="0">
            <a:noFill/>
            <a:prstDash val="solid"/>
          </a:ln>
        </p:spPr>
      </p:sp>
      <p:sp>
        <p:nvSpPr>
          <p:cNvPr id="2" name="txt-0.47595015418828135"/>
          <p:cNvSpPr>
            <a:spLocks noGrp="1"/>
          </p:cNvSpPr>
          <p:nvPr/>
        </p:nvSpPr>
        <p:spPr>
          <a:xfrm>
            <a:off x="628650" y="800100"/>
            <a:ext cx="2190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2220"/>
          </a:bodyPr>
          <a:lstStyle/>
          <a:p>
            <a:pPr algn="l">
              <a:lnSpc>
                <a:spcPct val="106000"/>
              </a:lnSpc>
              <a:buNone/>
              <a:defRPr sz="72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72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66</a:t>
            </a:r>
            <a:endParaRPr sz="72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008517348199762576"/>
          <p:cNvSpPr>
            <a:spLocks noGrp="1"/>
          </p:cNvSpPr>
          <p:nvPr/>
        </p:nvSpPr>
        <p:spPr>
          <a:xfrm>
            <a:off x="647700" y="22098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0363"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ITOM 系统培训</a:t>
            </a:r>
            <a:endParaRPr sz="135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txt-0.04131405866494442"/>
          <p:cNvSpPr>
            <a:spLocks noGrp="1"/>
          </p:cNvSpPr>
          <p:nvPr/>
        </p:nvSpPr>
        <p:spPr>
          <a:xfrm>
            <a:off x="4057650" y="1543050"/>
            <a:ext cx="7048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2000"/>
              </a:lnSpc>
              <a:buNone/>
              <a:defRPr sz="39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9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第四章｜六大域与业务对象</a:t>
            </a:r>
            <a:endParaRPr sz="39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txt-0.9653527734860754"/>
          <p:cNvSpPr>
            <a:spLocks noGrp="1"/>
          </p:cNvSpPr>
          <p:nvPr/>
        </p:nvSpPr>
        <p:spPr>
          <a:xfrm>
            <a:off x="4057650" y="2533650"/>
            <a:ext cx="6953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25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把每个域的目标、核心数据和团队动作讲清楚，系统才不会沦为“菜单导览”。</a:t>
            </a:r>
            <a:endParaRPr sz="1725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4057650" y="3752850"/>
            <a:ext cx="6610350" cy="0"/>
          </a:xfrm>
          <a:prstGeom prst="line">
            <a:avLst/>
          </a:prstGeom>
          <a:noFill/>
          <a:ln w="28575">
            <a:solidFill>
              <a:srgbClr val="24A67A"/>
            </a:solidFill>
            <a:prstDash val="solid"/>
          </a:ln>
        </p:spPr>
      </p:sp>
      <p:sp>
        <p:nvSpPr>
          <p:cNvPr id="7" name="txt-0.9768639838465131"/>
          <p:cNvSpPr>
            <a:spLocks noGrp="1"/>
          </p:cNvSpPr>
          <p:nvPr/>
        </p:nvSpPr>
        <p:spPr>
          <a:xfrm>
            <a:off x="4057650" y="4038600"/>
            <a:ext cx="657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2684"/>
          </a:bodyPr>
          <a:lstStyle/>
          <a:p>
            <a:pPr algn="l">
              <a:lnSpc>
                <a:spcPct val="106000"/>
              </a:lnSpc>
              <a:buNone/>
              <a:defRPr sz="1425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课程原则：先理解概念，再看系统如何落地，最后练习如何判断。</a:t>
            </a:r>
            <a:endParaRPr sz="1425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6699700111929482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六大域</a:t>
            </a:r>
            <a:endParaRPr sz="975" b="1">
              <a:solidFill>
                <a:srgbClr val="3D8D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6463428236506658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域一：总览 Dashboard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19070282491975066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总览只读聚合，不允许手工维护统计。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6" name="txt-0.006424495954182596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服务请求、事件、变更、问题：数量、优先级、SLA、审批/实施/已知错误。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8" name="txt-0.026120092652899274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项目：在建、健康度、逾期里程碑、预算执行率。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0" name="txt-0.495863494452665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需求：阶段数量与交付周期；团队：负载、积分、培训、招聘。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9668422415232079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六大域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49160956808244194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067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9338247945832328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六大域</a:t>
            </a:r>
            <a:endParaRPr sz="975" b="1">
              <a:solidFill>
                <a:srgbClr val="24A67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10140410081872886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域二：ITSM 服务管理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6466879041246832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ITSM 把服务交付、故障恢复、受控变更和根因管理放在同一运营视角。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6" name="txt-0.022530165377469658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工单三类型：service_request / incident / change。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8" name="txt-0.8809763499560108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问题独立实体，承接事件升级和根因分析。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10" name="txt-0.5179617855946301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服务目录、CMDB、SLA、供应商、合同、知识库提供支撑数据。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9713813800823333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六大域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08842342095069733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068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5850208154719044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六大域</a:t>
            </a:r>
            <a:endParaRPr sz="975" b="1">
              <a:solidFill>
                <a:srgbClr val="F4A34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8125959096138317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域三：项目管理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2418591343739369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项目把跨团队、分阶段的交付组织成里程碑和 WBS。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6" name="txt-0.777347345384104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项目对象：项目经理、计划日期、组合、预算、描述。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8" name="txt-0.6030021703050263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WBS：层级任务、负责人、计划/实际日期、交付物、完成度。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10" name="txt-0.7402082533226539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项目健康度、进度、成本、里程碑逾期都是派生结果。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3900218331118265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六大域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9247002835026478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069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012343170510813017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7C6AE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7C6AE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六大域</a:t>
            </a:r>
            <a:endParaRPr sz="975" b="1">
              <a:solidFill>
                <a:srgbClr val="7C6AE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8985108204282206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域四：需求管理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7766794133788649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需求不是“收集意见”，而是从价值判断走向实现路径。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6" name="txt-0.0887823358259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登记 → 评估 → 分析 → 实现 → 关闭。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8" name="txt-0.6422172132992539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六维评分 + 四象限决定是否立项。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10" name="txt-0.05706628984186135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方案评估后按解决方案类型和开发人天分流到开发任务或项目。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9659584005037538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六大域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12878046610663774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070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5003496050674753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E56B6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E56B6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六大域</a:t>
            </a:r>
            <a:endParaRPr sz="975" b="1">
              <a:solidFill>
                <a:srgbClr val="E56B6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3326108190085696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域五：流程引擎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5060952104323405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流程中心把可配置定义变成具体任务，但不替代业务状态机。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E56B6F"/>
          </a:solidFill>
          <a:ln w="9525">
            <a:solidFill>
              <a:srgbClr val="E56B6F"/>
            </a:solidFill>
            <a:prstDash val="solid"/>
          </a:ln>
        </p:spPr>
      </p:sp>
      <p:sp>
        <p:nvSpPr>
          <p:cNvPr id="6" name="txt-0.20341597531288302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定义：节点顺序、节点类型、默认角色、知会、SLA、自治级别。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E56B6F"/>
          </a:solidFill>
          <a:ln w="9525">
            <a:solidFill>
              <a:srgbClr val="E56B6F"/>
            </a:solidFill>
            <a:prstDash val="solid"/>
          </a:ln>
        </p:spPr>
      </p:sp>
      <p:sp>
        <p:nvSpPr>
          <p:cNvPr id="8" name="txt-0.19334119785879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实例：某一张工单/需求/项目触发的运行上下文。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E56B6F"/>
          </a:solidFill>
          <a:ln w="9525">
            <a:solidFill>
              <a:srgbClr val="E56B6F"/>
            </a:solidFill>
            <a:prstDash val="solid"/>
          </a:ln>
        </p:spPr>
      </p:sp>
      <p:sp>
        <p:nvSpPr>
          <p:cNvPr id="10" name="txt-0.5824869351636246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任务：某个角色需要完成的动作，带版本和 RACI 快照。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15924102657167183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六大域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325351110928203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071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3077074684186557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1D4E8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1D4E8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六大域</a:t>
            </a:r>
            <a:endParaRPr sz="975" b="1">
              <a:solidFill>
                <a:srgbClr val="1D4E8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4485314438700666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域六：团队管理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1283266678456444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团队管理把协同活动、人员能力和岗位职责转成可度量事实。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1D4E89"/>
          </a:solidFill>
          <a:ln w="9525">
            <a:solidFill>
              <a:srgbClr val="1D4E89"/>
            </a:solidFill>
            <a:prstDash val="solid"/>
          </a:ln>
        </p:spPr>
      </p:sp>
      <p:sp>
        <p:nvSpPr>
          <p:cNvPr id="6" name="txt-0.8704575956191346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活动积分：事件自动计分、积分流水、排行榜。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1D4E89"/>
          </a:solidFill>
          <a:ln w="9525">
            <a:solidFill>
              <a:srgbClr val="1D4E89"/>
            </a:solidFill>
            <a:prstDash val="solid"/>
          </a:ln>
        </p:spPr>
      </p:sp>
      <p:sp>
        <p:nvSpPr>
          <p:cNvPr id="8" name="txt-0.39023466311186294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人效评分：角色结果 80% + 团队贡献 20%，按周期分级评审。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1D4E89"/>
          </a:solidFill>
          <a:ln w="9525">
            <a:solidFill>
              <a:srgbClr val="1D4E89"/>
            </a:solidFill>
            <a:prstDash val="solid"/>
          </a:ln>
        </p:spPr>
      </p:sp>
      <p:sp>
        <p:nvSpPr>
          <p:cNvPr id="10" name="txt-0.9851545398185815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岗位编制、培训提升、学习成长、建言献策、团队文化构成团队运营面。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79833940581519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六大域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813154682644508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072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07305581905344627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ITSM</a:t>
            </a:r>
            <a:endParaRPr sz="975" b="1">
              <a:solidFill>
                <a:srgbClr val="3D8D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058606207321057036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工单是一张表，多种类型，多套状态机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07923138606490066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这种设计让公共字段复用，同时保留类型差异。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6" name="txt-0.11422562899994126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公共：编号、标题、类型、优先级、描述、服务项、提交人、受理人、SLA。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8" name="txt-0.37310938115383896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变更追加：变更类型、风险等级、原因、回退方案、窗口、实施方案。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0" name="txt-0.8549636119991593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问题不放进 Ticket 表，因为它的生命周期和关系模型不同。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903436706454384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ITSM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04689457341751346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073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05161778226112246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ITSM</a:t>
            </a:r>
            <a:endParaRPr sz="975" b="1">
              <a:solidFill>
                <a:srgbClr val="24A67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47545100884677705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服务目录先于服务请求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2656159659357573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没有服务项，用户不知道“申请什么”，系统也无法解析 SLA。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6" name="txt-0.7485800413026885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目录：分类和服务级别。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8" name="txt-0.7462027386550565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服务项：名称、负责人、描述、服务对象、响应/解决时限、状态。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10" name="txt-0.26082053891326107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下架不删除历史；下架服务项不再出现在业务用户服务门户。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595208453767414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ITSM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19636892195536115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074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txt-0.23599447283754038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E56B6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E56B6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ITSM</a:t>
            </a:r>
            <a:endParaRPr sz="975" b="1">
              <a:solidFill>
                <a:srgbClr val="E56B6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6192112805697626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事件流程的系统目的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29808198596910407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先恢复，再确认，再关闭复盘。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E56B6F"/>
          </a:solidFill>
          <a:ln w="9525">
            <a:solidFill>
              <a:srgbClr val="E56B6F"/>
            </a:solidFill>
            <a:prstDash val="solid"/>
          </a:ln>
        </p:spPr>
      </p:sp>
      <p:sp>
        <p:nvSpPr>
          <p:cNvPr id="6" name="txt-0.5205350329817504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受理定级：默认由 it_op_leader 把关。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E56B6F"/>
          </a:solidFill>
          <a:ln w="9525">
            <a:solidFill>
              <a:srgbClr val="E56B6F"/>
            </a:solidFill>
            <a:prstDash val="solid"/>
          </a:ln>
        </p:spPr>
      </p:sp>
      <p:sp>
        <p:nvSpPr>
          <p:cNvPr id="8" name="txt-0.47477217787694814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诊断与处理：it_ops 执行。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E56B6F"/>
          </a:solidFill>
          <a:ln w="9525">
            <a:solidFill>
              <a:srgbClr val="E56B6F"/>
            </a:solidFill>
            <a:prstDash val="solid"/>
          </a:ln>
        </p:spPr>
      </p:sp>
      <p:sp>
        <p:nvSpPr>
          <p:cNvPr id="10" name="txt-0.771467354945342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解决与用户确认：it_ops 处理/确认节点。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dot"/>
          <p:cNvSpPr>
            <a:spLocks noGrp="1"/>
          </p:cNvSpPr>
          <p:nvPr/>
        </p:nvSpPr>
        <p:spPr>
          <a:xfrm>
            <a:off x="895350" y="3781425"/>
            <a:ext cx="95250" cy="95250"/>
          </a:xfrm>
          <a:prstGeom prst="ellipse">
            <a:avLst/>
          </a:prstGeom>
          <a:solidFill>
            <a:srgbClr val="E56B6F"/>
          </a:solidFill>
          <a:ln w="9525">
            <a:solidFill>
              <a:srgbClr val="E56B6F"/>
            </a:solidFill>
            <a:prstDash val="solid"/>
          </a:ln>
        </p:spPr>
      </p:sp>
      <p:sp>
        <p:nvSpPr>
          <p:cNvPr id="12" name="txt-0.6573026276617742"/>
          <p:cNvSpPr>
            <a:spLocks noGrp="1"/>
          </p:cNvSpPr>
          <p:nvPr/>
        </p:nvSpPr>
        <p:spPr>
          <a:xfrm>
            <a:off x="1104900" y="37242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关闭复盘：it_op_leader 复盘；流程完成后状态自动闭环。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4" name="txt-0.13918069685212542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ITSM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txt-0.9252664331500249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075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txt-0.418668932551558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ITSM</a:t>
            </a:r>
            <a:endParaRPr sz="975" b="1">
              <a:solidFill>
                <a:srgbClr val="3D8D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233161491332745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服务请求流程的系统目的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24813454555997216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标准交付最后由提交人确认。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6" name="txt-0.17327275526604502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受理确认：it_ops。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8" name="txt-0.09206002952678771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实施交付：it_ops。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0" name="txt-0.26995950883184905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用户确认关闭：default_role=requester，动态指派给该单据提交人本人。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dot"/>
          <p:cNvSpPr>
            <a:spLocks noGrp="1"/>
          </p:cNvSpPr>
          <p:nvPr/>
        </p:nvSpPr>
        <p:spPr>
          <a:xfrm>
            <a:off x="895350" y="37814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2" name="txt-0.7826354032582515"/>
          <p:cNvSpPr>
            <a:spLocks noGrp="1"/>
          </p:cNvSpPr>
          <p:nvPr/>
        </p:nvSpPr>
        <p:spPr>
          <a:xfrm>
            <a:off x="1104900" y="37242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流程完成后自动关闭；提交人也可以按关闭策略主动关单。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4" name="txt-0.25027034307853135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ITSM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txt-0.2559022651002396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076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009429116912777369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ITSM</a:t>
            </a:r>
            <a:endParaRPr sz="975" b="1">
              <a:solidFill>
                <a:srgbClr val="F4A34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9730261056546561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变更不是“高级服务请求”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04362653957407103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它有自己的状态机和审批链。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6" name="txt-0.7672510400185479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变更走 entity_type=ticket_change，状态：新建、待审批、已批准、实施中、已回退、已解决、已关闭。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8" name="txt-0.1599941140533745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变更中间态不由普通流程步骤自动映射，审批链通过状态机显式授权。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10" name="txt-0.07847737918324127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审批前不能进入实施；拒绝是终态；实施失败可以回退。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8079831535973033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ITSM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7915217952716872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077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5980919274142252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7C6AE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7C6AE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ITSM</a:t>
            </a:r>
            <a:endParaRPr sz="975" b="1">
              <a:solidFill>
                <a:srgbClr val="7C6AE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5033106731252787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问题管理连接事件与知识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5707292015999403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问题的价值在于减少重复事件。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6" name="txt-0.2683418199626225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可从工单一键升级，自动带描述与关联。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8" name="txt-0.5641490550574022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根因、临时规避、已知错误、验证与关闭说明分阶段填写。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10" name="txt-0.21468995612599195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问题根因定位、故障复盘、标准作业可进入知识资产与团队贡献。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9007673561593104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ITSM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5150787027978504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078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42486715014032517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1D4E8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1D4E8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ITSM</a:t>
            </a:r>
            <a:endParaRPr sz="975" b="1">
              <a:solidFill>
                <a:srgbClr val="1D4E8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44256043988623817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CMDB 只维护能支持运营的最小集合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5265564449434381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先能做影响分析，再逐步补全配置属性。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1D4E89"/>
          </a:solidFill>
          <a:ln w="9525">
            <a:solidFill>
              <a:srgbClr val="1D4E89"/>
            </a:solidFill>
            <a:prstDash val="solid"/>
          </a:ln>
        </p:spPr>
      </p:sp>
      <p:sp>
        <p:nvSpPr>
          <p:cNvPr id="6" name="txt-0.6357014576113642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类别固定为 9 类，类别扩展属性存 JSON，默认折叠。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1D4E89"/>
          </a:solidFill>
          <a:ln w="9525">
            <a:solidFill>
              <a:srgbClr val="1D4E89"/>
            </a:solidFill>
            <a:prstDash val="solid"/>
          </a:ln>
        </p:spPr>
      </p:sp>
      <p:sp>
        <p:nvSpPr>
          <p:cNvPr id="8" name="txt-0.006769078686828078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支持运行于、依赖、连接三类关系。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1D4E89"/>
          </a:solidFill>
          <a:ln w="9525">
            <a:solidFill>
              <a:srgbClr val="1D4E89"/>
            </a:solidFill>
            <a:prstDash val="solid"/>
          </a:ln>
        </p:spPr>
      </p:sp>
      <p:sp>
        <p:nvSpPr>
          <p:cNvPr id="10" name="txt-0.4752600019205092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工单/问题/变更关联 CI，CI 详情反查历史工单。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23383954344519553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ITSM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9597153327659769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079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7979587812237238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ITSM</a:t>
            </a:r>
            <a:endParaRPr sz="975" b="1">
              <a:solidFill>
                <a:srgbClr val="24A67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9685242661116069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SLA 计算要理解三个时间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4821166102152672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同一工单不是只看一个“完成日期”。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6" name="txt-0.9172642707332613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响应目标：首次响应时间与优先级/服务项策略比较。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8" name="txt-0.0454899790335731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解决目标：从提交到解决，扣除挂起时长。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10" name="txt-0.35870989907009376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关闭与满意度：完成后通知提交人评价，评价事件可以触发积分。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7645914050758142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ITSM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9964554791801177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080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0594771818535057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项目</a:t>
            </a:r>
            <a:endParaRPr sz="975" b="1">
              <a:solidFill>
                <a:srgbClr val="F4A34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7477592840137438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项目创建：手工与章程导入是两条入口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7755387382879804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两条入口最终落到同一套项目/WBS 数据。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6" name="txt-0.7955888147973432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手工：名称、项目经理、计划开始/结束为核心必填。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8" name="txt-0.5220345894450149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章程导入：解析目标、范围、组织、里程碑和 WBS 草稿，用户确认修正。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10" name="txt-0.29570544033191015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项目编号、状态、进度、健康度和实际日期由系统派生或打点。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7458357144935581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项目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08861433153535125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081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xt-0.854493847027836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项目</a:t>
            </a:r>
            <a:endParaRPr sz="975" b="1">
              <a:solidFill>
                <a:srgbClr val="F4A34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46050697961585285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项目进度的核心口径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formula"/>
          <p:cNvSpPr>
            <a:spLocks noGrp="1"/>
          </p:cNvSpPr>
          <p:nvPr/>
        </p:nvSpPr>
        <p:spPr>
          <a:xfrm>
            <a:off x="819150" y="2095500"/>
            <a:ext cx="10382250" cy="1047750"/>
          </a:xfrm>
          <a:prstGeom prst="roundRect">
            <a:avLst>
              <a:gd name="adj" fmla="val 16364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4" name="txt-0.6884906438124961"/>
          <p:cNvSpPr>
            <a:spLocks noGrp="1"/>
          </p:cNvSpPr>
          <p:nvPr/>
        </p:nvSpPr>
        <p:spPr>
          <a:xfrm>
            <a:off x="1095375" y="2438400"/>
            <a:ext cx="981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0970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1D4E8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1D4E8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项目进度 = 叶子 WBS 任务的完成度聚合，不用父任务手填</a:t>
            </a:r>
            <a:endParaRPr sz="2100" b="1">
              <a:solidFill>
                <a:srgbClr val="1D4E8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meaning"/>
          <p:cNvSpPr>
            <a:spLocks noGrp="1"/>
          </p:cNvSpPr>
          <p:nvPr/>
        </p:nvSpPr>
        <p:spPr>
          <a:xfrm>
            <a:off x="1524000" y="3714750"/>
            <a:ext cx="9144000" cy="1123950"/>
          </a:xfrm>
          <a:prstGeom prst="roundRect">
            <a:avLst>
              <a:gd name="adj" fmla="val 13559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6" name="txt-0.7055982877524314"/>
          <p:cNvSpPr>
            <a:spLocks noGrp="1"/>
          </p:cNvSpPr>
          <p:nvPr/>
        </p:nvSpPr>
        <p:spPr>
          <a:xfrm>
            <a:off x="1847850" y="4038600"/>
            <a:ext cx="8496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父任务完成度由直接子任务平均回算；显式把父任务设为 100% 会级联子任务。</a:t>
            </a:r>
            <a:endParaRPr sz="1425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8" name="txt-0.10483755087689939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项目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txt-0.9351885621952603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082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18243025787022604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E56B6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E56B6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项目</a:t>
            </a:r>
            <a:endParaRPr sz="975" b="1">
              <a:solidFill>
                <a:srgbClr val="E56B6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05085611797621015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健康度不是主观颜色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08308127101115614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它由进度偏差、逾期里程碑等规则派生。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E56B6F"/>
          </a:solidFill>
          <a:ln w="9525">
            <a:solidFill>
              <a:srgbClr val="E56B6F"/>
            </a:solidFill>
            <a:prstDash val="solid"/>
          </a:ln>
        </p:spPr>
      </p:sp>
      <p:sp>
        <p:nvSpPr>
          <p:cNvPr id="6" name="txt-0.40297108861188236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WBS 任务状态由 progress、end_date、today 计算。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E56B6F"/>
          </a:solidFill>
          <a:ln w="9525">
            <a:solidFill>
              <a:srgbClr val="E56B6F"/>
            </a:solidFill>
            <a:prstDash val="solid"/>
          </a:ln>
        </p:spPr>
      </p:sp>
      <p:sp>
        <p:nvSpPr>
          <p:cNvPr id="8" name="txt-0.5358586289293206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里程碑是 WBS 中 is_milestone=true 的任务派生集合。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E56B6F"/>
          </a:solidFill>
          <a:ln w="9525">
            <a:solidFill>
              <a:srgbClr val="E56B6F"/>
            </a:solidFill>
            <a:prstDash val="solid"/>
          </a:ln>
        </p:spPr>
      </p:sp>
      <p:sp>
        <p:nvSpPr>
          <p:cNvPr id="10" name="txt-0.4039265189880198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进度偏差 &gt;15% 或存在逾期里程碑时，项目可能进入风险状态。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5511982121766688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项目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5194520272895229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083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11960651230785513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需求</a:t>
            </a:r>
            <a:endParaRPr sz="975" b="1">
              <a:solidFill>
                <a:srgbClr val="3D8D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44173000033998944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需求登记只有四个核心事实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4542631040114743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把价值判断后置，是为了减少入口摩擦。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6" name="txt-0.35674373714605845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标题、需求类型、所属业务域、描述。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8" name="txt-0.7336507536411305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提出人、编号、登记时间自动生成；来源/渠道等为可选。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0" name="txt-0.03087161825581719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登记即进入 evaluating，并按业务域把评审任务分派给域负责人。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3217582620734101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需求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016648807553327094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084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xt-0.5059720071367765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7C6AE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7C6AE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需求</a:t>
            </a:r>
            <a:endParaRPr sz="975" b="1">
              <a:solidFill>
                <a:srgbClr val="7C6AE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7503233067589886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需求六维加权总分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formula"/>
          <p:cNvSpPr>
            <a:spLocks noGrp="1"/>
          </p:cNvSpPr>
          <p:nvPr/>
        </p:nvSpPr>
        <p:spPr>
          <a:xfrm>
            <a:off x="819150" y="2095500"/>
            <a:ext cx="10382250" cy="1047750"/>
          </a:xfrm>
          <a:prstGeom prst="roundRect">
            <a:avLst>
              <a:gd name="adj" fmla="val 16364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4" name="txt-0.8923703012407047"/>
          <p:cNvSpPr>
            <a:spLocks noGrp="1"/>
          </p:cNvSpPr>
          <p:nvPr/>
        </p:nvSpPr>
        <p:spPr>
          <a:xfrm>
            <a:off x="1095375" y="2438400"/>
            <a:ext cx="981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0970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1D4E8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1D4E8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总分 = 0.2D1 + 0.2D2 + 0.2D3 + 0.1D4 + 0.1(6−D5) + 0.2D6</a:t>
            </a:r>
            <a:endParaRPr sz="2100" b="1">
              <a:solidFill>
                <a:srgbClr val="1D4E8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meaning"/>
          <p:cNvSpPr>
            <a:spLocks noGrp="1"/>
          </p:cNvSpPr>
          <p:nvPr/>
        </p:nvSpPr>
        <p:spPr>
          <a:xfrm>
            <a:off x="1524000" y="3714750"/>
            <a:ext cx="9144000" cy="1123950"/>
          </a:xfrm>
          <a:prstGeom prst="roundRect">
            <a:avLst>
              <a:gd name="adj" fmla="val 13559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6" name="txt-0.391748935069557"/>
          <p:cNvSpPr>
            <a:spLocks noGrp="1"/>
          </p:cNvSpPr>
          <p:nvPr/>
        </p:nvSpPr>
        <p:spPr>
          <a:xfrm>
            <a:off x="1847850" y="4038600"/>
            <a:ext cx="8496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D5 风险是反向计分；任一维度缺失，总分和象限都不生成。</a:t>
            </a:r>
            <a:endParaRPr sz="1425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8" name="txt-0.9246552496001433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需求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txt-0.02749723939239601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085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txt-0.32129519209973145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7C6AE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7C6AE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需求</a:t>
            </a:r>
            <a:endParaRPr sz="975" b="1">
              <a:solidFill>
                <a:srgbClr val="7C6AE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9542289490153327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四象限不是装饰图，而是评估门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8996799291799132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象限直接约束“通过”能否进入分析。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6" name="txt-0.24579014487453932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总分 ≥3.5 且战略价值 ≥4：战略下注。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8" name="txt-0.4570368145310213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总分 ≥3.5 且战略价值 &lt;4：速赢项目。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10" name="txt-0.31752313424170253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总分 &lt;3.5 且战略价值 ≥3：低优先级。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dot"/>
          <p:cNvSpPr>
            <a:spLocks noGrp="1"/>
          </p:cNvSpPr>
          <p:nvPr/>
        </p:nvSpPr>
        <p:spPr>
          <a:xfrm>
            <a:off x="895350" y="37814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12" name="txt-0.9539468067171625"/>
          <p:cNvSpPr>
            <a:spLocks noGrp="1"/>
          </p:cNvSpPr>
          <p:nvPr/>
        </p:nvSpPr>
        <p:spPr>
          <a:xfrm>
            <a:off x="1104900" y="37242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总分 &lt;3.5 且战略价值 &lt;3：重新评估，只能搁置或驳回。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4" name="txt-0.3482658846101637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需求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txt-0.1175212501687044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086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txt-0.34532545130192116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需求</a:t>
            </a:r>
            <a:endParaRPr sz="975" b="1">
              <a:solidFill>
                <a:srgbClr val="F4A34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0791084606848167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方案评估决定开发任务还是项目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8608767466012148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当前代码的硬规则是解决方案类型 + 开发人天阈值。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6" name="txt-0.6561114116713496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新购系统 → 转项目管理。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8" name="txt-0.9072409364531298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二次开发且人天 &lt; 阈值（默认 20）→ 需求开发实现。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10" name="txt-0.8596267195648809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二次开发且人天 ≥ 阈值 → 转项目管理。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dot"/>
          <p:cNvSpPr>
            <a:spLocks noGrp="1"/>
          </p:cNvSpPr>
          <p:nvPr/>
        </p:nvSpPr>
        <p:spPr>
          <a:xfrm>
            <a:off x="895350" y="37814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12" name="txt-0.24226868633881815"/>
          <p:cNvSpPr>
            <a:spLocks noGrp="1"/>
          </p:cNvSpPr>
          <p:nvPr/>
        </p:nvSpPr>
        <p:spPr>
          <a:xfrm>
            <a:off x="1104900" y="37242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阈值可在需求评分规则配置，不应写死在培训口头约定里。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4" name="txt-0.6077002852823822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需求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txt-0.45097921364573523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087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9892994045023527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需求</a:t>
            </a:r>
            <a:endParaRPr sz="975" b="1">
              <a:solidFill>
                <a:srgbClr val="24A67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3985365570124467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需求闭环不是“实现完成”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07513851321856535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业务验收是需求真正关闭的门。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6" name="txt-0.37289251867311335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转开发：开发负责人登记任务清单并排期，按六维评分排序。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8" name="txt-0.38094415413079596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转项目：项目经理建章程、建项目、关联需求。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10" name="txt-0.050578498286576457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项目验收关闭后，需求进入验收与闭环；验收标准未全勾选时，系统提醒负责人手动完成。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7488356618064183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需求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26323329663523276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088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26020551554749494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1D4E8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1D4E8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团队</a:t>
            </a:r>
            <a:endParaRPr sz="975" b="1">
              <a:solidFill>
                <a:srgbClr val="1D4E8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07494655323721289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团队管理的统计边界是 IT 团队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24122362418639398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业务人员不是人效和团队排行榜的分母。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1D4E89"/>
          </a:solidFill>
          <a:ln w="9525">
            <a:solidFill>
              <a:srgbClr val="1D4E89"/>
            </a:solidFill>
            <a:prstDash val="solid"/>
          </a:ln>
        </p:spPr>
      </p:sp>
      <p:sp>
        <p:nvSpPr>
          <p:cNvPr id="6" name="txt-0.8539733832923189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数字化团队范围来自组织设置，优先按 dept_type=it 识别。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1D4E89"/>
          </a:solidFill>
          <a:ln w="9525">
            <a:solidFill>
              <a:srgbClr val="1D4E89"/>
            </a:solidFill>
            <a:prstDash val="solid"/>
          </a:ln>
        </p:spPr>
      </p:sp>
      <p:sp>
        <p:nvSpPr>
          <p:cNvPr id="8" name="txt-0.4827667012791719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未标部门的存量账号按 cio、it_*、is_mgr 等角色兼容识别。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1D4E89"/>
          </a:solidFill>
          <a:ln w="9525">
            <a:solidFill>
              <a:srgbClr val="1D4E89"/>
            </a:solidFill>
            <a:prstDash val="solid"/>
          </a:ln>
        </p:spPr>
      </p:sp>
      <p:sp>
        <p:nvSpPr>
          <p:cNvPr id="10" name="txt-0.9812159958452112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仅 requester/auditor 的人员不进入团队总览、负载、积分、人效和岗位在岗数。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2952810279996957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团队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6907066108925575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089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020392016963196147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团队</a:t>
            </a:r>
            <a:endParaRPr sz="975" b="1">
              <a:solidFill>
                <a:srgbClr val="24A67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11703050875372567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活动积分与角色绩效必须分开看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9096623584963683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这是一条系统设计边界，也是本课重点。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6" name="txt-0.9632090347562562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活动积分：职责之外的建言、培训、知识、学习、协作等团队贡献。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8" name="txt-0.6837399831327219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角色绩效：职责结果，如服务、变更、需求、项目、流程任务。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10" name="txt-0.7334272723465195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同一事实只能进入一个评分桶，避免重复计算。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32044881142321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团队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9155449165766838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090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7811540249567033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团队</a:t>
            </a:r>
            <a:endParaRPr sz="975" b="1">
              <a:solidFill>
                <a:srgbClr val="F4A34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9786765537033824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岗位编制和团队活动不是同一张表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9583875872990802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一个看组织能力，一个看协同行为。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6" name="txt-0.15216948518170148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岗位：编制数、在岗数、缺口、岗位职责和技能。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8" name="txt-0.2927429198119652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活动：培训、学习成长、建言、专项活动、知识和积分流水。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10" name="txt-0.6111181902082063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人员通过 position_id 关联岗位，通过 user_group / business_domain 参与矩阵协作。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5708893857202727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团队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8493549633870414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091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section"/>
          <p:cNvSpPr>
            <a:spLocks noGrp="1"/>
          </p:cNvSpPr>
          <p:nvPr/>
        </p:nvSpPr>
        <p:spPr>
          <a:xfrm>
            <a:off x="0" y="0"/>
            <a:ext cx="3524250" cy="6858000"/>
          </a:xfrm>
          <a:prstGeom prst="roundRect">
            <a:avLst>
              <a:gd name="adj" fmla="val 2162"/>
            </a:avLst>
          </a:prstGeom>
          <a:solidFill>
            <a:srgbClr val="F4A340"/>
          </a:solidFill>
          <a:ln w="0">
            <a:noFill/>
            <a:prstDash val="solid"/>
          </a:ln>
        </p:spPr>
      </p:sp>
      <p:sp>
        <p:nvSpPr>
          <p:cNvPr id="2" name="txt-0.8294478484610189"/>
          <p:cNvSpPr>
            <a:spLocks noGrp="1"/>
          </p:cNvSpPr>
          <p:nvPr/>
        </p:nvSpPr>
        <p:spPr>
          <a:xfrm>
            <a:off x="628650" y="800100"/>
            <a:ext cx="2190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2220"/>
          </a:bodyPr>
          <a:lstStyle/>
          <a:p>
            <a:pPr algn="l">
              <a:lnSpc>
                <a:spcPct val="106000"/>
              </a:lnSpc>
              <a:buNone/>
              <a:defRPr sz="72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72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92</a:t>
            </a:r>
            <a:endParaRPr sz="72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5359519176038718"/>
          <p:cNvSpPr>
            <a:spLocks noGrp="1"/>
          </p:cNvSpPr>
          <p:nvPr/>
        </p:nvSpPr>
        <p:spPr>
          <a:xfrm>
            <a:off x="647700" y="22098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0363"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ITOM 系统培训</a:t>
            </a:r>
            <a:endParaRPr sz="135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txt-0.4497643924577831"/>
          <p:cNvSpPr>
            <a:spLocks noGrp="1"/>
          </p:cNvSpPr>
          <p:nvPr/>
        </p:nvSpPr>
        <p:spPr>
          <a:xfrm>
            <a:off x="4057650" y="1543050"/>
            <a:ext cx="7048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2000"/>
              </a:lnSpc>
              <a:buNone/>
              <a:defRPr sz="39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9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第五章｜按当前代码跑流程</a:t>
            </a:r>
            <a:endParaRPr sz="39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txt-0.1742427156072064"/>
          <p:cNvSpPr>
            <a:spLocks noGrp="1"/>
          </p:cNvSpPr>
          <p:nvPr/>
        </p:nvSpPr>
        <p:spPr>
          <a:xfrm>
            <a:off x="4057650" y="2533650"/>
            <a:ext cx="6953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25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这一章不使用通用案例替代系统定义；每一条流程都以默认种子和运行时版本为边界。</a:t>
            </a:r>
            <a:endParaRPr sz="1725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4057650" y="3752850"/>
            <a:ext cx="6610350" cy="0"/>
          </a:xfrm>
          <a:prstGeom prst="line">
            <a:avLst/>
          </a:prstGeom>
          <a:noFill/>
          <a:ln w="28575">
            <a:solidFill>
              <a:srgbClr val="F4A340"/>
            </a:solidFill>
            <a:prstDash val="solid"/>
          </a:ln>
        </p:spPr>
      </p:sp>
      <p:sp>
        <p:nvSpPr>
          <p:cNvPr id="7" name="txt-0.8836843657807475"/>
          <p:cNvSpPr>
            <a:spLocks noGrp="1"/>
          </p:cNvSpPr>
          <p:nvPr/>
        </p:nvSpPr>
        <p:spPr>
          <a:xfrm>
            <a:off x="4057650" y="4038600"/>
            <a:ext cx="657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2684"/>
          </a:bodyPr>
          <a:lstStyle/>
          <a:p>
            <a:pPr algn="l">
              <a:lnSpc>
                <a:spcPct val="106000"/>
              </a:lnSpc>
              <a:buNone/>
              <a:defRPr sz="1425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课程原则：先理解概念，再看系统如何落地，最后练习如何判断。</a:t>
            </a:r>
            <a:endParaRPr sz="1425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6665109157176329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流程阅读法</a:t>
            </a:r>
            <a:endParaRPr sz="975" b="1">
              <a:solidFill>
                <a:srgbClr val="F4A34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3073548526160481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先看实体类型，再看状态机，再看流程步骤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9249044697649208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三张图叠起来，才是完整的业务流。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6" name="txt-0.8114192997185868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实体类型：ticket、ticket_change、problem、requirement、project。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8" name="txt-0.6317325247338079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状态机：业务状态、合法跳转、允许角色。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10" name="txt-0.9222726235642393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流程定义：步骤、节点类型、默认角色、知会、SLA、自治级别。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46280720636713546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流程阅读法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2921329516283605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093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txt-0.3572108115186412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E56B6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E56B6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当前流程</a:t>
            </a:r>
            <a:endParaRPr sz="975" b="1">
              <a:solidFill>
                <a:srgbClr val="E56B6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7069168717456936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事件处理流程（incident_flow）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flow"/>
          <p:cNvSpPr>
            <a:spLocks noGrp="1"/>
          </p:cNvSpPr>
          <p:nvPr/>
        </p:nvSpPr>
        <p:spPr>
          <a:xfrm>
            <a:off x="609600" y="2333625"/>
            <a:ext cx="2095500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4" name="dot"/>
          <p:cNvSpPr>
            <a:spLocks noGrp="1"/>
          </p:cNvSpPr>
          <p:nvPr/>
        </p:nvSpPr>
        <p:spPr>
          <a:xfrm>
            <a:off x="781050" y="2524125"/>
            <a:ext cx="266700" cy="266700"/>
          </a:xfrm>
          <a:prstGeom prst="ellipse">
            <a:avLst/>
          </a:prstGeom>
          <a:solidFill>
            <a:srgbClr val="E56B6F"/>
          </a:solidFill>
          <a:ln w="9525">
            <a:solidFill>
              <a:srgbClr val="E56B6F"/>
            </a:solidFill>
            <a:prstDash val="solid"/>
          </a:ln>
        </p:spPr>
      </p:sp>
      <p:sp>
        <p:nvSpPr>
          <p:cNvPr id="5" name="txt-0.3031574050280974"/>
          <p:cNvSpPr>
            <a:spLocks noGrp="1"/>
          </p:cNvSpPr>
          <p:nvPr/>
        </p:nvSpPr>
        <p:spPr>
          <a:xfrm>
            <a:off x="78105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txt-0.9485794360323253"/>
          <p:cNvSpPr>
            <a:spLocks noGrp="1"/>
          </p:cNvSpPr>
          <p:nvPr/>
        </p:nvSpPr>
        <p:spPr>
          <a:xfrm>
            <a:off x="781050" y="2990850"/>
            <a:ext cx="1752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受理定级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txt-0.5491823199459608"/>
          <p:cNvSpPr>
            <a:spLocks noGrp="1"/>
          </p:cNvSpPr>
          <p:nvPr/>
        </p:nvSpPr>
        <p:spPr>
          <a:xfrm>
            <a:off x="781050" y="3409950"/>
            <a:ext cx="1752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it_op_leader | 审批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arrow"/>
          <p:cNvSpPr>
            <a:spLocks noGrp="1"/>
          </p:cNvSpPr>
          <p:nvPr/>
        </p:nvSpPr>
        <p:spPr>
          <a:xfrm>
            <a:off x="2743200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9" name="flow"/>
          <p:cNvSpPr>
            <a:spLocks noGrp="1"/>
          </p:cNvSpPr>
          <p:nvPr/>
        </p:nvSpPr>
        <p:spPr>
          <a:xfrm>
            <a:off x="2876550" y="2333625"/>
            <a:ext cx="2095500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10" name="dot"/>
          <p:cNvSpPr>
            <a:spLocks noGrp="1"/>
          </p:cNvSpPr>
          <p:nvPr/>
        </p:nvSpPr>
        <p:spPr>
          <a:xfrm>
            <a:off x="3048000" y="2524125"/>
            <a:ext cx="266700" cy="266700"/>
          </a:xfrm>
          <a:prstGeom prst="ellipse">
            <a:avLst/>
          </a:prstGeom>
          <a:solidFill>
            <a:srgbClr val="E56B6F"/>
          </a:solidFill>
          <a:ln w="9525">
            <a:solidFill>
              <a:srgbClr val="E56B6F"/>
            </a:solidFill>
            <a:prstDash val="solid"/>
          </a:ln>
        </p:spPr>
      </p:sp>
      <p:sp>
        <p:nvSpPr>
          <p:cNvPr id="11" name="txt-0.9019277806613548"/>
          <p:cNvSpPr>
            <a:spLocks noGrp="1"/>
          </p:cNvSpPr>
          <p:nvPr/>
        </p:nvSpPr>
        <p:spPr>
          <a:xfrm>
            <a:off x="304800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txt-0.21664194624172894"/>
          <p:cNvSpPr>
            <a:spLocks noGrp="1"/>
          </p:cNvSpPr>
          <p:nvPr/>
        </p:nvSpPr>
        <p:spPr>
          <a:xfrm>
            <a:off x="3048000" y="2990850"/>
            <a:ext cx="1752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诊断与处理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41360363012222645"/>
          <p:cNvSpPr>
            <a:spLocks noGrp="1"/>
          </p:cNvSpPr>
          <p:nvPr/>
        </p:nvSpPr>
        <p:spPr>
          <a:xfrm>
            <a:off x="3048000" y="3409950"/>
            <a:ext cx="1752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it_ops | 处理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arrow"/>
          <p:cNvSpPr>
            <a:spLocks noGrp="1"/>
          </p:cNvSpPr>
          <p:nvPr/>
        </p:nvSpPr>
        <p:spPr>
          <a:xfrm>
            <a:off x="5010150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15" name="flow"/>
          <p:cNvSpPr>
            <a:spLocks noGrp="1"/>
          </p:cNvSpPr>
          <p:nvPr/>
        </p:nvSpPr>
        <p:spPr>
          <a:xfrm>
            <a:off x="5143500" y="2333625"/>
            <a:ext cx="2095500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16" name="dot"/>
          <p:cNvSpPr>
            <a:spLocks noGrp="1"/>
          </p:cNvSpPr>
          <p:nvPr/>
        </p:nvSpPr>
        <p:spPr>
          <a:xfrm>
            <a:off x="5314950" y="2524125"/>
            <a:ext cx="266700" cy="266700"/>
          </a:xfrm>
          <a:prstGeom prst="ellipse">
            <a:avLst/>
          </a:prstGeom>
          <a:solidFill>
            <a:srgbClr val="E56B6F"/>
          </a:solidFill>
          <a:ln w="9525">
            <a:solidFill>
              <a:srgbClr val="E56B6F"/>
            </a:solidFill>
            <a:prstDash val="solid"/>
          </a:ln>
        </p:spPr>
      </p:sp>
      <p:sp>
        <p:nvSpPr>
          <p:cNvPr id="17" name="txt-0.9956898244301857"/>
          <p:cNvSpPr>
            <a:spLocks noGrp="1"/>
          </p:cNvSpPr>
          <p:nvPr/>
        </p:nvSpPr>
        <p:spPr>
          <a:xfrm>
            <a:off x="531495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txt-0.38658618459054417"/>
          <p:cNvSpPr>
            <a:spLocks noGrp="1"/>
          </p:cNvSpPr>
          <p:nvPr/>
        </p:nvSpPr>
        <p:spPr>
          <a:xfrm>
            <a:off x="5314950" y="2990850"/>
            <a:ext cx="1752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解决与用户确认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txt-0.7447387141686831"/>
          <p:cNvSpPr>
            <a:spLocks noGrp="1"/>
          </p:cNvSpPr>
          <p:nvPr/>
        </p:nvSpPr>
        <p:spPr>
          <a:xfrm>
            <a:off x="5314950" y="3409950"/>
            <a:ext cx="1752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it_ops | 审批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arrow"/>
          <p:cNvSpPr>
            <a:spLocks noGrp="1"/>
          </p:cNvSpPr>
          <p:nvPr/>
        </p:nvSpPr>
        <p:spPr>
          <a:xfrm>
            <a:off x="7277100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21" name="flow"/>
          <p:cNvSpPr>
            <a:spLocks noGrp="1"/>
          </p:cNvSpPr>
          <p:nvPr/>
        </p:nvSpPr>
        <p:spPr>
          <a:xfrm>
            <a:off x="7410450" y="2333625"/>
            <a:ext cx="2095500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22" name="dot"/>
          <p:cNvSpPr>
            <a:spLocks noGrp="1"/>
          </p:cNvSpPr>
          <p:nvPr/>
        </p:nvSpPr>
        <p:spPr>
          <a:xfrm>
            <a:off x="7581900" y="2524125"/>
            <a:ext cx="266700" cy="266700"/>
          </a:xfrm>
          <a:prstGeom prst="ellipse">
            <a:avLst/>
          </a:prstGeom>
          <a:solidFill>
            <a:srgbClr val="E56B6F"/>
          </a:solidFill>
          <a:ln w="9525">
            <a:solidFill>
              <a:srgbClr val="E56B6F"/>
            </a:solidFill>
            <a:prstDash val="solid"/>
          </a:ln>
        </p:spPr>
      </p:sp>
      <p:sp>
        <p:nvSpPr>
          <p:cNvPr id="23" name="txt-0.27262909412654746"/>
          <p:cNvSpPr>
            <a:spLocks noGrp="1"/>
          </p:cNvSpPr>
          <p:nvPr/>
        </p:nvSpPr>
        <p:spPr>
          <a:xfrm>
            <a:off x="758190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" name="txt-0.8252294250677785"/>
          <p:cNvSpPr>
            <a:spLocks noGrp="1"/>
          </p:cNvSpPr>
          <p:nvPr/>
        </p:nvSpPr>
        <p:spPr>
          <a:xfrm>
            <a:off x="7581900" y="2990850"/>
            <a:ext cx="1752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关闭复盘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" name="txt-0.21782024264828204"/>
          <p:cNvSpPr>
            <a:spLocks noGrp="1"/>
          </p:cNvSpPr>
          <p:nvPr/>
        </p:nvSpPr>
        <p:spPr>
          <a:xfrm>
            <a:off x="7581900" y="3409950"/>
            <a:ext cx="1752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it_op_leader | 处理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27" name="txt-0.2731246507794375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当前流程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8" name="txt-0.0033718882853994714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094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8611070868829229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E56B6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E56B6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当前流程</a:t>
            </a:r>
            <a:endParaRPr sz="975" b="1">
              <a:solidFill>
                <a:srgbClr val="E56B6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07149384861251173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事件流程里，业务用户不是诊断处理人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5392352660271463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业务用户的角色是提交、确认和反馈。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E56B6F"/>
          </a:solidFill>
          <a:ln w="9525">
            <a:solidFill>
              <a:srgbClr val="E56B6F"/>
            </a:solidFill>
            <a:prstDash val="solid"/>
          </a:ln>
        </p:spPr>
      </p:sp>
      <p:sp>
        <p:nvSpPr>
          <p:cNvPr id="6" name="txt-0.016963673787913414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事件创建需要 ticket_incident create 权限；默认 requester 没有该权限。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E56B6F"/>
          </a:solidFill>
          <a:ln w="9525">
            <a:solidFill>
              <a:srgbClr val="E56B6F"/>
            </a:solidFill>
            <a:prstDash val="solid"/>
          </a:ln>
        </p:spPr>
      </p:sp>
      <p:sp>
        <p:nvSpPr>
          <p:cNvPr id="8" name="txt-0.3063457907119521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it_op_leader 受理定级，it_ops 诊断处理。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E56B6F"/>
          </a:solidFill>
          <a:ln w="9525">
            <a:solidFill>
              <a:srgbClr val="E56B6F"/>
            </a:solidFill>
            <a:prstDash val="solid"/>
          </a:ln>
        </p:spPr>
      </p:sp>
      <p:sp>
        <p:nvSpPr>
          <p:cNvPr id="10" name="txt-0.03390923262751633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处理节点完成后，系统把 ticket 状态从新建推进到处理中；最后一步完成后进入已解决并通知提交人。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7938489383002966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当前流程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8603586106764733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095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txt-0.5977731947182178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当前流程</a:t>
            </a:r>
            <a:endParaRPr sz="975" b="1">
              <a:solidFill>
                <a:srgbClr val="3D8D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5197667300554122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服务请求流程（sr_flow）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flow"/>
          <p:cNvSpPr>
            <a:spLocks noGrp="1"/>
          </p:cNvSpPr>
          <p:nvPr/>
        </p:nvSpPr>
        <p:spPr>
          <a:xfrm>
            <a:off x="609600" y="2333625"/>
            <a:ext cx="2095500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4" name="dot"/>
          <p:cNvSpPr>
            <a:spLocks noGrp="1"/>
          </p:cNvSpPr>
          <p:nvPr/>
        </p:nvSpPr>
        <p:spPr>
          <a:xfrm>
            <a:off x="781050" y="2524125"/>
            <a:ext cx="266700" cy="26670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5" name="txt-0.2805209587549067"/>
          <p:cNvSpPr>
            <a:spLocks noGrp="1"/>
          </p:cNvSpPr>
          <p:nvPr/>
        </p:nvSpPr>
        <p:spPr>
          <a:xfrm>
            <a:off x="78105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txt-0.5166068405950451"/>
          <p:cNvSpPr>
            <a:spLocks noGrp="1"/>
          </p:cNvSpPr>
          <p:nvPr/>
        </p:nvSpPr>
        <p:spPr>
          <a:xfrm>
            <a:off x="781050" y="2990850"/>
            <a:ext cx="1752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受理确认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txt-0.22878861101686798"/>
          <p:cNvSpPr>
            <a:spLocks noGrp="1"/>
          </p:cNvSpPr>
          <p:nvPr/>
        </p:nvSpPr>
        <p:spPr>
          <a:xfrm>
            <a:off x="781050" y="3409950"/>
            <a:ext cx="1752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it_ops | 处理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arrow"/>
          <p:cNvSpPr>
            <a:spLocks noGrp="1"/>
          </p:cNvSpPr>
          <p:nvPr/>
        </p:nvSpPr>
        <p:spPr>
          <a:xfrm>
            <a:off x="2743200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9" name="flow"/>
          <p:cNvSpPr>
            <a:spLocks noGrp="1"/>
          </p:cNvSpPr>
          <p:nvPr/>
        </p:nvSpPr>
        <p:spPr>
          <a:xfrm>
            <a:off x="2876550" y="2333625"/>
            <a:ext cx="2095500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10" name="dot"/>
          <p:cNvSpPr>
            <a:spLocks noGrp="1"/>
          </p:cNvSpPr>
          <p:nvPr/>
        </p:nvSpPr>
        <p:spPr>
          <a:xfrm>
            <a:off x="3048000" y="2524125"/>
            <a:ext cx="266700" cy="26670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1" name="txt-0.29306530479465165"/>
          <p:cNvSpPr>
            <a:spLocks noGrp="1"/>
          </p:cNvSpPr>
          <p:nvPr/>
        </p:nvSpPr>
        <p:spPr>
          <a:xfrm>
            <a:off x="304800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txt-0.828096823027746"/>
          <p:cNvSpPr>
            <a:spLocks noGrp="1"/>
          </p:cNvSpPr>
          <p:nvPr/>
        </p:nvSpPr>
        <p:spPr>
          <a:xfrm>
            <a:off x="3048000" y="2990850"/>
            <a:ext cx="1752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实施交付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3432100783768808"/>
          <p:cNvSpPr>
            <a:spLocks noGrp="1"/>
          </p:cNvSpPr>
          <p:nvPr/>
        </p:nvSpPr>
        <p:spPr>
          <a:xfrm>
            <a:off x="3048000" y="3409950"/>
            <a:ext cx="1752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it_ops | 处理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arrow"/>
          <p:cNvSpPr>
            <a:spLocks noGrp="1"/>
          </p:cNvSpPr>
          <p:nvPr/>
        </p:nvSpPr>
        <p:spPr>
          <a:xfrm>
            <a:off x="5010150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15" name="flow"/>
          <p:cNvSpPr>
            <a:spLocks noGrp="1"/>
          </p:cNvSpPr>
          <p:nvPr/>
        </p:nvSpPr>
        <p:spPr>
          <a:xfrm>
            <a:off x="5143500" y="2333625"/>
            <a:ext cx="2095500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16" name="dot"/>
          <p:cNvSpPr>
            <a:spLocks noGrp="1"/>
          </p:cNvSpPr>
          <p:nvPr/>
        </p:nvSpPr>
        <p:spPr>
          <a:xfrm>
            <a:off x="5314950" y="2524125"/>
            <a:ext cx="266700" cy="26670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7" name="txt-0.5554670142336049"/>
          <p:cNvSpPr>
            <a:spLocks noGrp="1"/>
          </p:cNvSpPr>
          <p:nvPr/>
        </p:nvSpPr>
        <p:spPr>
          <a:xfrm>
            <a:off x="531495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txt-0.05045471574248206"/>
          <p:cNvSpPr>
            <a:spLocks noGrp="1"/>
          </p:cNvSpPr>
          <p:nvPr/>
        </p:nvSpPr>
        <p:spPr>
          <a:xfrm>
            <a:off x="5314950" y="2990850"/>
            <a:ext cx="1752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用户确认关闭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txt-0.3165317568090661"/>
          <p:cNvSpPr>
            <a:spLocks noGrp="1"/>
          </p:cNvSpPr>
          <p:nvPr/>
        </p:nvSpPr>
        <p:spPr>
          <a:xfrm>
            <a:off x="5314950" y="3409950"/>
            <a:ext cx="1752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requester | 审批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21" name="txt-0.4009167585883212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当前流程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" name="txt-0.16406760539078824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096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8922118519632386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当前流程</a:t>
            </a:r>
            <a:endParaRPr sz="975" b="1">
              <a:solidFill>
                <a:srgbClr val="3D8D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6504199458964344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服务请求的“确认关闭”是提交人动态指派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11230091673852616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不是任意 requester 都可以确认。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6" name="txt-0.7147159635966767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步骤 default_role=requester。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8" name="txt-0.7276578024320596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引擎通过 ticket.submitter 找到 AuthUser，再解析其 person_id。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0" name="txt-0.6348867035549195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因此任务落到这张单的提交人本人，而不是所有业务用户。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6253838207795487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当前流程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17281260278056065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097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txt-0.6498975373567528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当前流程</a:t>
            </a:r>
            <a:endParaRPr sz="975" b="1">
              <a:solidFill>
                <a:srgbClr val="F4A34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026833715257411295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变更管理流程（change_flow）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flow"/>
          <p:cNvSpPr>
            <a:spLocks noGrp="1"/>
          </p:cNvSpPr>
          <p:nvPr/>
        </p:nvSpPr>
        <p:spPr>
          <a:xfrm>
            <a:off x="609600" y="2333625"/>
            <a:ext cx="2095500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4" name="dot"/>
          <p:cNvSpPr>
            <a:spLocks noGrp="1"/>
          </p:cNvSpPr>
          <p:nvPr/>
        </p:nvSpPr>
        <p:spPr>
          <a:xfrm>
            <a:off x="781050" y="2524125"/>
            <a:ext cx="266700" cy="26670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5" name="txt-0.12637895385560027"/>
          <p:cNvSpPr>
            <a:spLocks noGrp="1"/>
          </p:cNvSpPr>
          <p:nvPr/>
        </p:nvSpPr>
        <p:spPr>
          <a:xfrm>
            <a:off x="78105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txt-0.6445854322652328"/>
          <p:cNvSpPr>
            <a:spLocks noGrp="1"/>
          </p:cNvSpPr>
          <p:nvPr/>
        </p:nvSpPr>
        <p:spPr>
          <a:xfrm>
            <a:off x="781050" y="2990850"/>
            <a:ext cx="1752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变更申请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txt-0.8549671617923894"/>
          <p:cNvSpPr>
            <a:spLocks noGrp="1"/>
          </p:cNvSpPr>
          <p:nvPr/>
        </p:nvSpPr>
        <p:spPr>
          <a:xfrm>
            <a:off x="781050" y="3409950"/>
            <a:ext cx="1752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it_ops | 处理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arrow"/>
          <p:cNvSpPr>
            <a:spLocks noGrp="1"/>
          </p:cNvSpPr>
          <p:nvPr/>
        </p:nvSpPr>
        <p:spPr>
          <a:xfrm>
            <a:off x="2743200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9" name="flow"/>
          <p:cNvSpPr>
            <a:spLocks noGrp="1"/>
          </p:cNvSpPr>
          <p:nvPr/>
        </p:nvSpPr>
        <p:spPr>
          <a:xfrm>
            <a:off x="2876550" y="2333625"/>
            <a:ext cx="2095500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10" name="dot"/>
          <p:cNvSpPr>
            <a:spLocks noGrp="1"/>
          </p:cNvSpPr>
          <p:nvPr/>
        </p:nvSpPr>
        <p:spPr>
          <a:xfrm>
            <a:off x="3048000" y="2524125"/>
            <a:ext cx="266700" cy="26670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11" name="txt-0.4031036016192382"/>
          <p:cNvSpPr>
            <a:spLocks noGrp="1"/>
          </p:cNvSpPr>
          <p:nvPr/>
        </p:nvSpPr>
        <p:spPr>
          <a:xfrm>
            <a:off x="304800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txt-0.4376982217114571"/>
          <p:cNvSpPr>
            <a:spLocks noGrp="1"/>
          </p:cNvSpPr>
          <p:nvPr/>
        </p:nvSpPr>
        <p:spPr>
          <a:xfrm>
            <a:off x="3048000" y="2990850"/>
            <a:ext cx="1752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变更审批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12330234454842226"/>
          <p:cNvSpPr>
            <a:spLocks noGrp="1"/>
          </p:cNvSpPr>
          <p:nvPr/>
        </p:nvSpPr>
        <p:spPr>
          <a:xfrm>
            <a:off x="3048000" y="3409950"/>
            <a:ext cx="1752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7796"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it_op_leader | 审批·知会 it_bm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arrow"/>
          <p:cNvSpPr>
            <a:spLocks noGrp="1"/>
          </p:cNvSpPr>
          <p:nvPr/>
        </p:nvSpPr>
        <p:spPr>
          <a:xfrm>
            <a:off x="5010150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15" name="flow"/>
          <p:cNvSpPr>
            <a:spLocks noGrp="1"/>
          </p:cNvSpPr>
          <p:nvPr/>
        </p:nvSpPr>
        <p:spPr>
          <a:xfrm>
            <a:off x="5143500" y="2333625"/>
            <a:ext cx="2095500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16" name="dot"/>
          <p:cNvSpPr>
            <a:spLocks noGrp="1"/>
          </p:cNvSpPr>
          <p:nvPr/>
        </p:nvSpPr>
        <p:spPr>
          <a:xfrm>
            <a:off x="5314950" y="2524125"/>
            <a:ext cx="266700" cy="26670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17" name="txt-0.14924195858620815"/>
          <p:cNvSpPr>
            <a:spLocks noGrp="1"/>
          </p:cNvSpPr>
          <p:nvPr/>
        </p:nvSpPr>
        <p:spPr>
          <a:xfrm>
            <a:off x="531495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txt-0.851128801833579"/>
          <p:cNvSpPr>
            <a:spLocks noGrp="1"/>
          </p:cNvSpPr>
          <p:nvPr/>
        </p:nvSpPr>
        <p:spPr>
          <a:xfrm>
            <a:off x="5314950" y="2990850"/>
            <a:ext cx="1752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实施与验证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txt-0.8821754595284452"/>
          <p:cNvSpPr>
            <a:spLocks noGrp="1"/>
          </p:cNvSpPr>
          <p:nvPr/>
        </p:nvSpPr>
        <p:spPr>
          <a:xfrm>
            <a:off x="5314950" y="3409950"/>
            <a:ext cx="1752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it_ops | 处理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arrow"/>
          <p:cNvSpPr>
            <a:spLocks noGrp="1"/>
          </p:cNvSpPr>
          <p:nvPr/>
        </p:nvSpPr>
        <p:spPr>
          <a:xfrm>
            <a:off x="7277100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21" name="flow"/>
          <p:cNvSpPr>
            <a:spLocks noGrp="1"/>
          </p:cNvSpPr>
          <p:nvPr/>
        </p:nvSpPr>
        <p:spPr>
          <a:xfrm>
            <a:off x="7410450" y="2333625"/>
            <a:ext cx="2095500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22" name="dot"/>
          <p:cNvSpPr>
            <a:spLocks noGrp="1"/>
          </p:cNvSpPr>
          <p:nvPr/>
        </p:nvSpPr>
        <p:spPr>
          <a:xfrm>
            <a:off x="7581900" y="2524125"/>
            <a:ext cx="266700" cy="26670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23" name="txt-0.5101192866620938"/>
          <p:cNvSpPr>
            <a:spLocks noGrp="1"/>
          </p:cNvSpPr>
          <p:nvPr/>
        </p:nvSpPr>
        <p:spPr>
          <a:xfrm>
            <a:off x="758190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" name="txt-0.9592474209209875"/>
          <p:cNvSpPr>
            <a:spLocks noGrp="1"/>
          </p:cNvSpPr>
          <p:nvPr/>
        </p:nvSpPr>
        <p:spPr>
          <a:xfrm>
            <a:off x="7581900" y="2990850"/>
            <a:ext cx="1752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变更复盘(PIR)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" name="txt-0.14004842418237684"/>
          <p:cNvSpPr>
            <a:spLocks noGrp="1"/>
          </p:cNvSpPr>
          <p:nvPr/>
        </p:nvSpPr>
        <p:spPr>
          <a:xfrm>
            <a:off x="7581900" y="3409950"/>
            <a:ext cx="1752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is_mgr | 处理·知会 CIO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27" name="txt-0.5873403847518841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当前流程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8" name="txt-0.9413240279445764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098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017090450429085968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变更流程</a:t>
            </a:r>
            <a:endParaRPr sz="975" b="1">
              <a:solidFill>
                <a:srgbClr val="F4A34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35177907167517675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正确的变更入口：IT 岗位发起，业务侧通常参与而非主发起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23824076474429523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当前默认权限和组织现实都指向这个结论。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6" name="txt-0.04868715001356427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业务用户 requester 默认只有服务请求与需求的 create/view，不含 ticket_change。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8" name="txt-0.7474495842240663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 运维、产品经理、BP 等团队角色默认继承 ticket_change 的 create 权限；实际入口仍受权限配置页调整结果控制。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10" name="txt-0.8568996677413923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业务域负责人/业务代表更多出现在知会、影响确认、验收和 PIR 输入，而不是变更单的默认发起角色。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3802522445859746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变更流程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535053515335517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099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040084834287857474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变更流程</a:t>
            </a:r>
            <a:endParaRPr sz="975" b="1">
              <a:solidFill>
                <a:srgbClr val="F4A34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38765014611717785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变更申请节点的责任是把“想改什么”变成可审批事实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9076415901744386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申请人不等于审批人，也不等于实施人。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6" name="txt-0.05754798923780213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变更字段：变更类型、风险等级、原因、回退方案、窗口、实施方案。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8" name="txt-0.5287856318723934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当前运行时第一节点默认处理人：it_ops 角色持有人；也可在创建单据时指定受理人。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10" name="txt-0.6245921952650747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申请任务完成后才生成变更审批任务，前一步没有完成，后一步不会出现。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8291318179013775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变更流程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5780367666715156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100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4756522485500825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7C6AE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7C6AE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变更流程</a:t>
            </a:r>
            <a:endParaRPr sz="975" b="1">
              <a:solidFill>
                <a:srgbClr val="7C6AE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29872186407377976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变更审批任务默认由 IT 运维负责人处理，业务线负责人被知会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6074140885652225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业务侧不是当前默认审批处理人。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6" name="txt-0.8715468682852207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变更审批节点：default_role=it_op_leader，node_type=approval，SLA 24 小时。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8" name="txt-0.3650523540982211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cc_roles=[it_bm]：业务线负责人获得上下文和影响信息，但不产生阻塞任务。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10" name="txt-0.25666341365525025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审批拒绝必须填写至少 5 个字的理由，并写入任务记录。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6735556948379485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变更流程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6692308515927484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101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21773597690351598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1D4E8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1D4E8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变更流程</a:t>
            </a:r>
            <a:endParaRPr sz="975" b="1">
              <a:solidFill>
                <a:srgbClr val="1D4E8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026982238636241385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审批任务处理人和状态机允许角色不是同一组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2372683351427718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两层守卫共同决定谁能批准或拒绝。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1D4E89"/>
          </a:solidFill>
          <a:ln w="9525">
            <a:solidFill>
              <a:srgbClr val="1D4E89"/>
            </a:solidFill>
            <a:prstDash val="solid"/>
          </a:ln>
        </p:spPr>
      </p:sp>
      <p:sp>
        <p:nvSpPr>
          <p:cNvPr id="6" name="txt-0.3321757835159731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流程任务默认落到 it_op_leader；任务守卫控制当前任务处理权。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1D4E89"/>
          </a:solidFill>
          <a:ln w="9525">
            <a:solidFill>
              <a:srgbClr val="1D4E89"/>
            </a:solidFill>
            <a:prstDash val="solid"/>
          </a:ln>
        </p:spPr>
      </p:sp>
      <p:sp>
        <p:nvSpPr>
          <p:cNvPr id="8" name="txt-0.7529531314309803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状态机 pending_approval → approved/rejected 的 allowed_roles 是 cio、it_tm、it_op_leader。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1D4E89"/>
          </a:solidFill>
          <a:ln w="9525">
            <a:solidFill>
              <a:srgbClr val="1D4E89"/>
            </a:solidFill>
            <a:prstDash val="solid"/>
          </a:ln>
        </p:spPr>
      </p:sp>
      <p:sp>
        <p:nvSpPr>
          <p:cNvPr id="10" name="txt-0.607401973899025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因此 CIO/IT 专业线负责人可能被状态机允许，但不等于默认任务直接派给他们。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959835014321768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变更流程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8171717822462014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102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1292285714066581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E56B6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E56B6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变更流程</a:t>
            </a:r>
            <a:endParaRPr sz="975" b="1">
              <a:solidFill>
                <a:srgbClr val="E56B6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32048642264993976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为什么流程步骤和状态机都要校验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05194312255917444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单靠页面按钮不能保证审批安全。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E56B6F"/>
          </a:solidFill>
          <a:ln w="9525">
            <a:solidFill>
              <a:srgbClr val="E56B6F"/>
            </a:solidFill>
            <a:prstDash val="solid"/>
          </a:ln>
        </p:spPr>
      </p:sp>
      <p:sp>
        <p:nvSpPr>
          <p:cNvPr id="6" name="txt-0.02293960498389036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流程任务：只有当前处理人或有权认领的人可完成。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E56B6F"/>
          </a:solidFill>
          <a:ln w="9525">
            <a:solidFill>
              <a:srgbClr val="E56B6F"/>
            </a:solidFill>
            <a:prstDash val="solid"/>
          </a:ln>
        </p:spPr>
      </p:sp>
      <p:sp>
        <p:nvSpPr>
          <p:cNvPr id="8" name="txt-0.3600083984110587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审批状态机：只有 allowed_roles 可以完成 pending_approval→approved/rejected。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E56B6F"/>
          </a:solidFill>
          <a:ln w="9525">
            <a:solidFill>
              <a:srgbClr val="E56B6F"/>
            </a:solidFill>
            <a:prstDash val="solid"/>
          </a:ln>
        </p:spPr>
      </p:sp>
      <p:sp>
        <p:nvSpPr>
          <p:cNvPr id="10" name="txt-0.3327207625184265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接口层和服务层共同检查，前端隐藏按钮不是安全边界。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7574294548873276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变更流程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20434804289056252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103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15535674402234834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变更流程</a:t>
            </a:r>
            <a:endParaRPr sz="975" b="1">
              <a:solidFill>
                <a:srgbClr val="24A67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16265068137665928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实施与验证仍然由 IT 运维完成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8132850967039696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审批通过只是授权改变，不是改变已经完成。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6" name="txt-0.6432189183424867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approved → implementing 由运维流程推进。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8" name="txt-0.09222988925256204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实施任务 default_role=it_ops，当前节点未配置固定 SLA。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10" name="txt-0.7502544462430124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当前运行时该节点没有额外 cc_roles；是否知会其他角色以流程中心发布版本为准。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37594577283264186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变更流程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9988164154918395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104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1328325824169686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变更流程</a:t>
            </a:r>
            <a:endParaRPr sz="975" b="1">
              <a:solidFill>
                <a:srgbClr val="F4A34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6792617016460858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PIR 由信息安全负责人复盘，CIO 被知会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09798879499570257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复盘要把一次改变变成团队学习和安全证据。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6" name="txt-0.8308424205818017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PIR 节点 default_role=is_mgr，SLA 48 小时。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8" name="txt-0.5772648297135824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cc_roles=[cio]：CIO 获得复盘结果，但不产生阻塞任务。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10" name="txt-0.7681062835454845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流程完成后，系统沿状态机把变更自动闭环；变更不是靠处理人手动“强关”。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1700492486948999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变更流程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4835075833499707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105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1" name="txt-0.18865602557223016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当前流程</a:t>
            </a:r>
            <a:endParaRPr sz="975" b="1">
              <a:solidFill>
                <a:srgbClr val="F4A34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9843031103939469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变更状态机与流程节点的关系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flow"/>
          <p:cNvSpPr>
            <a:spLocks noGrp="1"/>
          </p:cNvSpPr>
          <p:nvPr/>
        </p:nvSpPr>
        <p:spPr>
          <a:xfrm>
            <a:off x="609600" y="2333625"/>
            <a:ext cx="1571625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4" name="dot"/>
          <p:cNvSpPr>
            <a:spLocks noGrp="1"/>
          </p:cNvSpPr>
          <p:nvPr/>
        </p:nvSpPr>
        <p:spPr>
          <a:xfrm>
            <a:off x="781050" y="2524125"/>
            <a:ext cx="266700" cy="26670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5" name="txt-0.4861367604528051"/>
          <p:cNvSpPr>
            <a:spLocks noGrp="1"/>
          </p:cNvSpPr>
          <p:nvPr/>
        </p:nvSpPr>
        <p:spPr>
          <a:xfrm>
            <a:off x="78105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txt-0.21889898157994148"/>
          <p:cNvSpPr>
            <a:spLocks noGrp="1"/>
          </p:cNvSpPr>
          <p:nvPr/>
        </p:nvSpPr>
        <p:spPr>
          <a:xfrm>
            <a:off x="781050" y="2990850"/>
            <a:ext cx="12287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new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txt-0.7841607987726833"/>
          <p:cNvSpPr>
            <a:spLocks noGrp="1"/>
          </p:cNvSpPr>
          <p:nvPr/>
        </p:nvSpPr>
        <p:spPr>
          <a:xfrm>
            <a:off x="781050" y="3409950"/>
            <a:ext cx="12287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新建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arrow"/>
          <p:cNvSpPr>
            <a:spLocks noGrp="1"/>
          </p:cNvSpPr>
          <p:nvPr/>
        </p:nvSpPr>
        <p:spPr>
          <a:xfrm>
            <a:off x="2219325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9" name="flow"/>
          <p:cNvSpPr>
            <a:spLocks noGrp="1"/>
          </p:cNvSpPr>
          <p:nvPr/>
        </p:nvSpPr>
        <p:spPr>
          <a:xfrm>
            <a:off x="2352675" y="2333625"/>
            <a:ext cx="1571625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10" name="dot"/>
          <p:cNvSpPr>
            <a:spLocks noGrp="1"/>
          </p:cNvSpPr>
          <p:nvPr/>
        </p:nvSpPr>
        <p:spPr>
          <a:xfrm>
            <a:off x="2524125" y="2524125"/>
            <a:ext cx="266700" cy="26670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11" name="txt-0.6850743740041074"/>
          <p:cNvSpPr>
            <a:spLocks noGrp="1"/>
          </p:cNvSpPr>
          <p:nvPr/>
        </p:nvSpPr>
        <p:spPr>
          <a:xfrm>
            <a:off x="2524125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txt-0.3451332149659131"/>
          <p:cNvSpPr>
            <a:spLocks noGrp="1"/>
          </p:cNvSpPr>
          <p:nvPr/>
        </p:nvSpPr>
        <p:spPr>
          <a:xfrm>
            <a:off x="2524125" y="2990850"/>
            <a:ext cx="12287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367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pending_approval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0349653958267645"/>
          <p:cNvSpPr>
            <a:spLocks noGrp="1"/>
          </p:cNvSpPr>
          <p:nvPr/>
        </p:nvSpPr>
        <p:spPr>
          <a:xfrm>
            <a:off x="2524125" y="3409950"/>
            <a:ext cx="12287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待审批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arrow"/>
          <p:cNvSpPr>
            <a:spLocks noGrp="1"/>
          </p:cNvSpPr>
          <p:nvPr/>
        </p:nvSpPr>
        <p:spPr>
          <a:xfrm>
            <a:off x="3962400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15" name="flow"/>
          <p:cNvSpPr>
            <a:spLocks noGrp="1"/>
          </p:cNvSpPr>
          <p:nvPr/>
        </p:nvSpPr>
        <p:spPr>
          <a:xfrm>
            <a:off x="4095750" y="2333625"/>
            <a:ext cx="1571625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16" name="dot"/>
          <p:cNvSpPr>
            <a:spLocks noGrp="1"/>
          </p:cNvSpPr>
          <p:nvPr/>
        </p:nvSpPr>
        <p:spPr>
          <a:xfrm>
            <a:off x="4267200" y="2524125"/>
            <a:ext cx="266700" cy="26670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17" name="txt-0.9815120305532652"/>
          <p:cNvSpPr>
            <a:spLocks noGrp="1"/>
          </p:cNvSpPr>
          <p:nvPr/>
        </p:nvSpPr>
        <p:spPr>
          <a:xfrm>
            <a:off x="426720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txt-0.10989045332573655"/>
          <p:cNvSpPr>
            <a:spLocks noGrp="1"/>
          </p:cNvSpPr>
          <p:nvPr/>
        </p:nvSpPr>
        <p:spPr>
          <a:xfrm>
            <a:off x="4267200" y="2990850"/>
            <a:ext cx="12287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approved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txt-0.6745021696147522"/>
          <p:cNvSpPr>
            <a:spLocks noGrp="1"/>
          </p:cNvSpPr>
          <p:nvPr/>
        </p:nvSpPr>
        <p:spPr>
          <a:xfrm>
            <a:off x="4267200" y="3409950"/>
            <a:ext cx="12287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已批准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arrow"/>
          <p:cNvSpPr>
            <a:spLocks noGrp="1"/>
          </p:cNvSpPr>
          <p:nvPr/>
        </p:nvSpPr>
        <p:spPr>
          <a:xfrm>
            <a:off x="5705475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21" name="flow"/>
          <p:cNvSpPr>
            <a:spLocks noGrp="1"/>
          </p:cNvSpPr>
          <p:nvPr/>
        </p:nvSpPr>
        <p:spPr>
          <a:xfrm>
            <a:off x="5838825" y="2333625"/>
            <a:ext cx="1571625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22" name="dot"/>
          <p:cNvSpPr>
            <a:spLocks noGrp="1"/>
          </p:cNvSpPr>
          <p:nvPr/>
        </p:nvSpPr>
        <p:spPr>
          <a:xfrm>
            <a:off x="6010275" y="2524125"/>
            <a:ext cx="266700" cy="26670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23" name="txt-0.8694861447931428"/>
          <p:cNvSpPr>
            <a:spLocks noGrp="1"/>
          </p:cNvSpPr>
          <p:nvPr/>
        </p:nvSpPr>
        <p:spPr>
          <a:xfrm>
            <a:off x="6010275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" name="txt-0.553522944234122"/>
          <p:cNvSpPr>
            <a:spLocks noGrp="1"/>
          </p:cNvSpPr>
          <p:nvPr/>
        </p:nvSpPr>
        <p:spPr>
          <a:xfrm>
            <a:off x="6010275" y="2990850"/>
            <a:ext cx="12287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implementing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" name="txt-0.17661636978228346"/>
          <p:cNvSpPr>
            <a:spLocks noGrp="1"/>
          </p:cNvSpPr>
          <p:nvPr/>
        </p:nvSpPr>
        <p:spPr>
          <a:xfrm>
            <a:off x="6010275" y="3409950"/>
            <a:ext cx="12287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实施中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" name="arrow"/>
          <p:cNvSpPr>
            <a:spLocks noGrp="1"/>
          </p:cNvSpPr>
          <p:nvPr/>
        </p:nvSpPr>
        <p:spPr>
          <a:xfrm>
            <a:off x="7448550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27" name="flow"/>
          <p:cNvSpPr>
            <a:spLocks noGrp="1"/>
          </p:cNvSpPr>
          <p:nvPr/>
        </p:nvSpPr>
        <p:spPr>
          <a:xfrm>
            <a:off x="7581900" y="2333625"/>
            <a:ext cx="1571625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28" name="dot"/>
          <p:cNvSpPr>
            <a:spLocks noGrp="1"/>
          </p:cNvSpPr>
          <p:nvPr/>
        </p:nvSpPr>
        <p:spPr>
          <a:xfrm>
            <a:off x="7753350" y="2524125"/>
            <a:ext cx="266700" cy="26670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29" name="txt-0.5354120924994497"/>
          <p:cNvSpPr>
            <a:spLocks noGrp="1"/>
          </p:cNvSpPr>
          <p:nvPr/>
        </p:nvSpPr>
        <p:spPr>
          <a:xfrm>
            <a:off x="775335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" name="txt-0.8689848754218474"/>
          <p:cNvSpPr>
            <a:spLocks noGrp="1"/>
          </p:cNvSpPr>
          <p:nvPr/>
        </p:nvSpPr>
        <p:spPr>
          <a:xfrm>
            <a:off x="7753350" y="2990850"/>
            <a:ext cx="12287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resolved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1" name="txt-0.502184968401853"/>
          <p:cNvSpPr>
            <a:spLocks noGrp="1"/>
          </p:cNvSpPr>
          <p:nvPr/>
        </p:nvSpPr>
        <p:spPr>
          <a:xfrm>
            <a:off x="7753350" y="3409950"/>
            <a:ext cx="12287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已解决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2" name="arrow"/>
          <p:cNvSpPr>
            <a:spLocks noGrp="1"/>
          </p:cNvSpPr>
          <p:nvPr/>
        </p:nvSpPr>
        <p:spPr>
          <a:xfrm>
            <a:off x="9191625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33" name="flow"/>
          <p:cNvSpPr>
            <a:spLocks noGrp="1"/>
          </p:cNvSpPr>
          <p:nvPr/>
        </p:nvSpPr>
        <p:spPr>
          <a:xfrm>
            <a:off x="9324975" y="2333625"/>
            <a:ext cx="1571625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34" name="dot"/>
          <p:cNvSpPr>
            <a:spLocks noGrp="1"/>
          </p:cNvSpPr>
          <p:nvPr/>
        </p:nvSpPr>
        <p:spPr>
          <a:xfrm>
            <a:off x="9496425" y="2524125"/>
            <a:ext cx="266700" cy="26670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35" name="txt-0.9513016554744053"/>
          <p:cNvSpPr>
            <a:spLocks noGrp="1"/>
          </p:cNvSpPr>
          <p:nvPr/>
        </p:nvSpPr>
        <p:spPr>
          <a:xfrm>
            <a:off x="9496425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6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6" name="txt-0.4127012615231499"/>
          <p:cNvSpPr>
            <a:spLocks noGrp="1"/>
          </p:cNvSpPr>
          <p:nvPr/>
        </p:nvSpPr>
        <p:spPr>
          <a:xfrm>
            <a:off x="9496425" y="2990850"/>
            <a:ext cx="12287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closed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7" name="txt-0.25116835273109805"/>
          <p:cNvSpPr>
            <a:spLocks noGrp="1"/>
          </p:cNvSpPr>
          <p:nvPr/>
        </p:nvSpPr>
        <p:spPr>
          <a:xfrm>
            <a:off x="9496425" y="3409950"/>
            <a:ext cx="12287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已关闭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8" name="直接连接符 37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39" name="txt-0.25864892260255834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当前流程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0" name="txt-0.7533036184663742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106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17767488671626852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E56B6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E56B6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变更流程</a:t>
            </a:r>
            <a:endParaRPr sz="975" b="1">
              <a:solidFill>
                <a:srgbClr val="E56B6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509001580749464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变更失败时，系统保留“回退”而不是抹掉失败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3602302014072112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回退是受控结果，不是删除记录。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E56B6F"/>
          </a:solidFill>
          <a:ln w="9525">
            <a:solidFill>
              <a:srgbClr val="E56B6F"/>
            </a:solidFill>
            <a:prstDash val="solid"/>
          </a:ln>
        </p:spPr>
      </p:sp>
      <p:sp>
        <p:nvSpPr>
          <p:cNvPr id="6" name="txt-0.9176366574242097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implementing → rolled_back 是合法状态。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E56B6F"/>
          </a:solidFill>
          <a:ln w="9525">
            <a:solidFill>
              <a:srgbClr val="E56B6F"/>
            </a:solidFill>
            <a:prstDash val="solid"/>
          </a:ln>
        </p:spPr>
      </p:sp>
      <p:sp>
        <p:nvSpPr>
          <p:cNvPr id="8" name="txt-0.05351266049806935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rolled_back → closed 仍要沿闭环路径完成收尾。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E56B6F"/>
          </a:solidFill>
          <a:ln w="9525">
            <a:solidFill>
              <a:srgbClr val="E56B6F"/>
            </a:solidFill>
            <a:prstDash val="solid"/>
          </a:ln>
        </p:spPr>
      </p:sp>
      <p:sp>
        <p:nvSpPr>
          <p:cNvPr id="10" name="txt-0.569795306086834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回退、拒绝、未审批关闭都会影响变更合规评分。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1864975336122322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变更流程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25424778436429063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107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txt-0.9310480604467214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7C6AE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7C6AE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当前流程</a:t>
            </a:r>
            <a:endParaRPr sz="975" b="1">
              <a:solidFill>
                <a:srgbClr val="7C6AE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03570009730239643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问题分析流程（problem_flow）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flow"/>
          <p:cNvSpPr>
            <a:spLocks noGrp="1"/>
          </p:cNvSpPr>
          <p:nvPr/>
        </p:nvSpPr>
        <p:spPr>
          <a:xfrm>
            <a:off x="609600" y="2333625"/>
            <a:ext cx="2095500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4" name="dot"/>
          <p:cNvSpPr>
            <a:spLocks noGrp="1"/>
          </p:cNvSpPr>
          <p:nvPr/>
        </p:nvSpPr>
        <p:spPr>
          <a:xfrm>
            <a:off x="781050" y="2524125"/>
            <a:ext cx="266700" cy="26670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5" name="txt-0.7002270613900894"/>
          <p:cNvSpPr>
            <a:spLocks noGrp="1"/>
          </p:cNvSpPr>
          <p:nvPr/>
        </p:nvSpPr>
        <p:spPr>
          <a:xfrm>
            <a:off x="78105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txt-0.8737636086572511"/>
          <p:cNvSpPr>
            <a:spLocks noGrp="1"/>
          </p:cNvSpPr>
          <p:nvPr/>
        </p:nvSpPr>
        <p:spPr>
          <a:xfrm>
            <a:off x="781050" y="2990850"/>
            <a:ext cx="1752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问题确认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txt-0.7393179916237749"/>
          <p:cNvSpPr>
            <a:spLocks noGrp="1"/>
          </p:cNvSpPr>
          <p:nvPr/>
        </p:nvSpPr>
        <p:spPr>
          <a:xfrm>
            <a:off x="781050" y="3409950"/>
            <a:ext cx="1752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专业线负责人 | 审批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arrow"/>
          <p:cNvSpPr>
            <a:spLocks noGrp="1"/>
          </p:cNvSpPr>
          <p:nvPr/>
        </p:nvSpPr>
        <p:spPr>
          <a:xfrm>
            <a:off x="2743200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9" name="flow"/>
          <p:cNvSpPr>
            <a:spLocks noGrp="1"/>
          </p:cNvSpPr>
          <p:nvPr/>
        </p:nvSpPr>
        <p:spPr>
          <a:xfrm>
            <a:off x="2876550" y="2333625"/>
            <a:ext cx="2095500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10" name="dot"/>
          <p:cNvSpPr>
            <a:spLocks noGrp="1"/>
          </p:cNvSpPr>
          <p:nvPr/>
        </p:nvSpPr>
        <p:spPr>
          <a:xfrm>
            <a:off x="3048000" y="2524125"/>
            <a:ext cx="266700" cy="26670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11" name="txt-0.1309006528163984"/>
          <p:cNvSpPr>
            <a:spLocks noGrp="1"/>
          </p:cNvSpPr>
          <p:nvPr/>
        </p:nvSpPr>
        <p:spPr>
          <a:xfrm>
            <a:off x="304800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txt-0.27301273920809155"/>
          <p:cNvSpPr>
            <a:spLocks noGrp="1"/>
          </p:cNvSpPr>
          <p:nvPr/>
        </p:nvSpPr>
        <p:spPr>
          <a:xfrm>
            <a:off x="3048000" y="2990850"/>
            <a:ext cx="1752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根因分析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5277482138411558"/>
          <p:cNvSpPr>
            <a:spLocks noGrp="1"/>
          </p:cNvSpPr>
          <p:nvPr/>
        </p:nvSpPr>
        <p:spPr>
          <a:xfrm>
            <a:off x="3048000" y="3409950"/>
            <a:ext cx="1752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负责人指定处理人 | 处理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arrow"/>
          <p:cNvSpPr>
            <a:spLocks noGrp="1"/>
          </p:cNvSpPr>
          <p:nvPr/>
        </p:nvSpPr>
        <p:spPr>
          <a:xfrm>
            <a:off x="5010150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15" name="flow"/>
          <p:cNvSpPr>
            <a:spLocks noGrp="1"/>
          </p:cNvSpPr>
          <p:nvPr/>
        </p:nvSpPr>
        <p:spPr>
          <a:xfrm>
            <a:off x="5143500" y="2333625"/>
            <a:ext cx="2095500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16" name="dot"/>
          <p:cNvSpPr>
            <a:spLocks noGrp="1"/>
          </p:cNvSpPr>
          <p:nvPr/>
        </p:nvSpPr>
        <p:spPr>
          <a:xfrm>
            <a:off x="5314950" y="2524125"/>
            <a:ext cx="266700" cy="26670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17" name="txt-0.11783026011260178"/>
          <p:cNvSpPr>
            <a:spLocks noGrp="1"/>
          </p:cNvSpPr>
          <p:nvPr/>
        </p:nvSpPr>
        <p:spPr>
          <a:xfrm>
            <a:off x="531495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txt-0.14573010638971762"/>
          <p:cNvSpPr>
            <a:spLocks noGrp="1"/>
          </p:cNvSpPr>
          <p:nvPr/>
        </p:nvSpPr>
        <p:spPr>
          <a:xfrm>
            <a:off x="5314950" y="2990850"/>
            <a:ext cx="1752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解决与验证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txt-0.36647098078829077"/>
          <p:cNvSpPr>
            <a:spLocks noGrp="1"/>
          </p:cNvSpPr>
          <p:nvPr/>
        </p:nvSpPr>
        <p:spPr>
          <a:xfrm>
            <a:off x="5314950" y="3409950"/>
            <a:ext cx="1752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延续处理人 | 处理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arrow"/>
          <p:cNvSpPr>
            <a:spLocks noGrp="1"/>
          </p:cNvSpPr>
          <p:nvPr/>
        </p:nvSpPr>
        <p:spPr>
          <a:xfrm>
            <a:off x="7277100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21" name="flow"/>
          <p:cNvSpPr>
            <a:spLocks noGrp="1"/>
          </p:cNvSpPr>
          <p:nvPr/>
        </p:nvSpPr>
        <p:spPr>
          <a:xfrm>
            <a:off x="7410450" y="2333625"/>
            <a:ext cx="2095500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22" name="dot"/>
          <p:cNvSpPr>
            <a:spLocks noGrp="1"/>
          </p:cNvSpPr>
          <p:nvPr/>
        </p:nvSpPr>
        <p:spPr>
          <a:xfrm>
            <a:off x="7581900" y="2524125"/>
            <a:ext cx="266700" cy="26670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23" name="txt-0.5757508184683517"/>
          <p:cNvSpPr>
            <a:spLocks noGrp="1"/>
          </p:cNvSpPr>
          <p:nvPr/>
        </p:nvSpPr>
        <p:spPr>
          <a:xfrm>
            <a:off x="758190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" name="txt-0.8722041929100631"/>
          <p:cNvSpPr>
            <a:spLocks noGrp="1"/>
          </p:cNvSpPr>
          <p:nvPr/>
        </p:nvSpPr>
        <p:spPr>
          <a:xfrm>
            <a:off x="7581900" y="2990850"/>
            <a:ext cx="1752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解决确认与关闭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" name="txt-0.28753507403486267"/>
          <p:cNvSpPr>
            <a:spLocks noGrp="1"/>
          </p:cNvSpPr>
          <p:nvPr/>
        </p:nvSpPr>
        <p:spPr>
          <a:xfrm>
            <a:off x="7581900" y="3409950"/>
            <a:ext cx="1752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专业线负责人 | 审批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27" name="txt-0.9839467318679846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当前流程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8" name="txt-0.8989408408973352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108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txt-0.11676005740380002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当前流程</a:t>
            </a:r>
            <a:endParaRPr sz="975" b="1">
              <a:solidFill>
                <a:srgbClr val="24A67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43807730638757114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需求交付流程（requirement_flow）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flow"/>
          <p:cNvSpPr>
            <a:spLocks noGrp="1"/>
          </p:cNvSpPr>
          <p:nvPr/>
        </p:nvSpPr>
        <p:spPr>
          <a:xfrm>
            <a:off x="609600" y="2333625"/>
            <a:ext cx="2095500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4" name="dot"/>
          <p:cNvSpPr>
            <a:spLocks noGrp="1"/>
          </p:cNvSpPr>
          <p:nvPr/>
        </p:nvSpPr>
        <p:spPr>
          <a:xfrm>
            <a:off x="781050" y="2524125"/>
            <a:ext cx="266700" cy="26670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5" name="txt-0.7627414085529448"/>
          <p:cNvSpPr>
            <a:spLocks noGrp="1"/>
          </p:cNvSpPr>
          <p:nvPr/>
        </p:nvSpPr>
        <p:spPr>
          <a:xfrm>
            <a:off x="78105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txt-0.9452183556847853"/>
          <p:cNvSpPr>
            <a:spLocks noGrp="1"/>
          </p:cNvSpPr>
          <p:nvPr/>
        </p:nvSpPr>
        <p:spPr>
          <a:xfrm>
            <a:off x="781050" y="2990850"/>
            <a:ext cx="1752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需求评审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txt-0.6464707366064003"/>
          <p:cNvSpPr>
            <a:spLocks noGrp="1"/>
          </p:cNvSpPr>
          <p:nvPr/>
        </p:nvSpPr>
        <p:spPr>
          <a:xfrm>
            <a:off x="781050" y="3409950"/>
            <a:ext cx="1752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it_bm | 审批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arrow"/>
          <p:cNvSpPr>
            <a:spLocks noGrp="1"/>
          </p:cNvSpPr>
          <p:nvPr/>
        </p:nvSpPr>
        <p:spPr>
          <a:xfrm>
            <a:off x="2743200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9" name="flow"/>
          <p:cNvSpPr>
            <a:spLocks noGrp="1"/>
          </p:cNvSpPr>
          <p:nvPr/>
        </p:nvSpPr>
        <p:spPr>
          <a:xfrm>
            <a:off x="2876550" y="2333625"/>
            <a:ext cx="2095500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10" name="dot"/>
          <p:cNvSpPr>
            <a:spLocks noGrp="1"/>
          </p:cNvSpPr>
          <p:nvPr/>
        </p:nvSpPr>
        <p:spPr>
          <a:xfrm>
            <a:off x="3048000" y="2524125"/>
            <a:ext cx="266700" cy="26670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11" name="txt-0.24879794345154294"/>
          <p:cNvSpPr>
            <a:spLocks noGrp="1"/>
          </p:cNvSpPr>
          <p:nvPr/>
        </p:nvSpPr>
        <p:spPr>
          <a:xfrm>
            <a:off x="304800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txt-0.22261257572118487"/>
          <p:cNvSpPr>
            <a:spLocks noGrp="1"/>
          </p:cNvSpPr>
          <p:nvPr/>
        </p:nvSpPr>
        <p:spPr>
          <a:xfrm>
            <a:off x="3048000" y="2990850"/>
            <a:ext cx="1752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方案评估与路径判定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03343022603617485"/>
          <p:cNvSpPr>
            <a:spLocks noGrp="1"/>
          </p:cNvSpPr>
          <p:nvPr/>
        </p:nvSpPr>
        <p:spPr>
          <a:xfrm>
            <a:off x="3048000" y="3409950"/>
            <a:ext cx="1752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it_pdm_leader | 审批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arrow"/>
          <p:cNvSpPr>
            <a:spLocks noGrp="1"/>
          </p:cNvSpPr>
          <p:nvPr/>
        </p:nvSpPr>
        <p:spPr>
          <a:xfrm>
            <a:off x="5010150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15" name="flow"/>
          <p:cNvSpPr>
            <a:spLocks noGrp="1"/>
          </p:cNvSpPr>
          <p:nvPr/>
        </p:nvSpPr>
        <p:spPr>
          <a:xfrm>
            <a:off x="5143500" y="2333625"/>
            <a:ext cx="2095500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16" name="dot"/>
          <p:cNvSpPr>
            <a:spLocks noGrp="1"/>
          </p:cNvSpPr>
          <p:nvPr/>
        </p:nvSpPr>
        <p:spPr>
          <a:xfrm>
            <a:off x="5314950" y="2524125"/>
            <a:ext cx="266700" cy="26670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17" name="txt-0.36087672974409"/>
          <p:cNvSpPr>
            <a:spLocks noGrp="1"/>
          </p:cNvSpPr>
          <p:nvPr/>
        </p:nvSpPr>
        <p:spPr>
          <a:xfrm>
            <a:off x="531495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txt-0.7232980643287695"/>
          <p:cNvSpPr>
            <a:spLocks noGrp="1"/>
          </p:cNvSpPr>
          <p:nvPr/>
        </p:nvSpPr>
        <p:spPr>
          <a:xfrm>
            <a:off x="5314950" y="2990850"/>
            <a:ext cx="1752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实现交付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txt-0.5131632565003007"/>
          <p:cNvSpPr>
            <a:spLocks noGrp="1"/>
          </p:cNvSpPr>
          <p:nvPr/>
        </p:nvSpPr>
        <p:spPr>
          <a:xfrm>
            <a:off x="5314950" y="3409950"/>
            <a:ext cx="1752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it_dev_leader/PM | 处理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arrow"/>
          <p:cNvSpPr>
            <a:spLocks noGrp="1"/>
          </p:cNvSpPr>
          <p:nvPr/>
        </p:nvSpPr>
        <p:spPr>
          <a:xfrm>
            <a:off x="7277100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21" name="flow"/>
          <p:cNvSpPr>
            <a:spLocks noGrp="1"/>
          </p:cNvSpPr>
          <p:nvPr/>
        </p:nvSpPr>
        <p:spPr>
          <a:xfrm>
            <a:off x="7410450" y="2333625"/>
            <a:ext cx="2095500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22" name="dot"/>
          <p:cNvSpPr>
            <a:spLocks noGrp="1"/>
          </p:cNvSpPr>
          <p:nvPr/>
        </p:nvSpPr>
        <p:spPr>
          <a:xfrm>
            <a:off x="7581900" y="2524125"/>
            <a:ext cx="266700" cy="26670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23" name="txt-0.16019047212925952"/>
          <p:cNvSpPr>
            <a:spLocks noGrp="1"/>
          </p:cNvSpPr>
          <p:nvPr/>
        </p:nvSpPr>
        <p:spPr>
          <a:xfrm>
            <a:off x="758190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" name="txt-0.7666558540064377"/>
          <p:cNvSpPr>
            <a:spLocks noGrp="1"/>
          </p:cNvSpPr>
          <p:nvPr/>
        </p:nvSpPr>
        <p:spPr>
          <a:xfrm>
            <a:off x="7581900" y="2990850"/>
            <a:ext cx="1752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验收与闭环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" name="txt-0.8030798588140595"/>
          <p:cNvSpPr>
            <a:spLocks noGrp="1"/>
          </p:cNvSpPr>
          <p:nvPr/>
        </p:nvSpPr>
        <p:spPr>
          <a:xfrm>
            <a:off x="7581900" y="3409950"/>
            <a:ext cx="1752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业务域负责人 | 审批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27" name="txt-0.49823802260227024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当前流程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8" name="txt-0.7283028403334532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109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txt-0.31334601847469823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当前流程</a:t>
            </a:r>
            <a:endParaRPr sz="975" b="1">
              <a:solidFill>
                <a:srgbClr val="24A67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20459012909373664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需求流程的角色交接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06871360063168064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保存决议就推进流程，分流后责任人发生变化。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6" name="txt-0.10519984322536846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登记即 evaluating，业务域负责人负责评审；it_pdm 被知会。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8" name="txt-0.8366492825297668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通过 → analyzing，产品 leader 主责方案评估，开发 leader 被知会。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10" name="txt-0.42299111212473983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二开且低于阈值 → 转开发；新购或达到阈值 → 转项目。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dot"/>
          <p:cNvSpPr>
            <a:spLocks noGrp="1"/>
          </p:cNvSpPr>
          <p:nvPr/>
        </p:nvSpPr>
        <p:spPr>
          <a:xfrm>
            <a:off x="895350" y="37814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12" name="txt-0.30253970207718506"/>
          <p:cNvSpPr>
            <a:spLocks noGrp="1"/>
          </p:cNvSpPr>
          <p:nvPr/>
        </p:nvSpPr>
        <p:spPr>
          <a:xfrm>
            <a:off x="1104900" y="37242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实现交付完成后，验收与闭环任务动态指派给业务域负责人。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4" name="txt-0.7097931599983627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当前流程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txt-0.10636781341721713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110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txt-0.9218644985608979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当前流程</a:t>
            </a:r>
            <a:endParaRPr sz="975" b="1">
              <a:solidFill>
                <a:srgbClr val="F4A34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5465185011398557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项目关键节点流程（project_flow）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41073954533549606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项目流程承载关键节点，不等于 WBS 每个任务都走审批。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6" name="txt-0.17142603228508368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立项启动：it_pm，CIO 与 it_bm 知会，审批节点。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8" name="txt-0.57891831871431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执行监控：it_pm，处理节点。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10" name="txt-0.48798737080787513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收尾复盘：it_pmo，CIO 与 it_tm 知会，审批节点。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dot"/>
          <p:cNvSpPr>
            <a:spLocks noGrp="1"/>
          </p:cNvSpPr>
          <p:nvPr/>
        </p:nvSpPr>
        <p:spPr>
          <a:xfrm>
            <a:off x="895350" y="37814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12" name="txt-0.8872802313343889"/>
          <p:cNvSpPr>
            <a:spLocks noGrp="1"/>
          </p:cNvSpPr>
          <p:nvPr/>
        </p:nvSpPr>
        <p:spPr>
          <a:xfrm>
            <a:off x="1104900" y="37242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项目关闭仍受关闭策略约束；项目流程完成后提醒 PM 确认是否收尾。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4" name="txt-0.8087234873105368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当前流程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txt-0.2999330018141273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111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txt-0.02850135762924877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当前流程</a:t>
            </a:r>
            <a:endParaRPr sz="975" b="1">
              <a:solidFill>
                <a:srgbClr val="3D8D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9250297655579258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六类流程的共同闭环规则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05062602806853145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不同业务域，共享一套流程引擎语义。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6" name="txt-0.4763785124679515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首步完成：服务请求/事件进入处理中并打首次响应。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8" name="txt-0.8821960044193964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末步到达：服务请求/事件进入已解决并通知提交人确认。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0" name="txt-0.30608333629632345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流程实例完成：业务服务自动闭环到已关闭（有验收清单时除外）。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dot"/>
          <p:cNvSpPr>
            <a:spLocks noGrp="1"/>
          </p:cNvSpPr>
          <p:nvPr/>
        </p:nvSpPr>
        <p:spPr>
          <a:xfrm>
            <a:off x="895350" y="37814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2" name="txt-0.6155115599369722"/>
          <p:cNvSpPr>
            <a:spLocks noGrp="1"/>
          </p:cNvSpPr>
          <p:nvPr/>
        </p:nvSpPr>
        <p:spPr>
          <a:xfrm>
            <a:off x="1104900" y="37242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处理任务完成、审批同意、审批驳回都有独立审计动作。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4" name="txt-0.9670471122251443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当前流程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txt-0.8391409799579066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112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3267252673458877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1D4E8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1D4E8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当前流程</a:t>
            </a:r>
            <a:endParaRPr sz="975" b="1">
              <a:solidFill>
                <a:srgbClr val="1D4E8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6583456170545088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流程改了，旧单据会怎样？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5170393583573495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运行实例保护历史，未来新单据使用新版本。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1D4E89"/>
          </a:solidFill>
          <a:ln w="9525">
            <a:solidFill>
              <a:srgbClr val="1D4E89"/>
            </a:solidFill>
            <a:prstDash val="solid"/>
          </a:ln>
        </p:spPr>
      </p:sp>
      <p:sp>
        <p:nvSpPr>
          <p:cNvPr id="6" name="txt-0.5443661993165662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有实例后，关键节点数量、step_code、节点类型、默认角色、知会和 SLA 被锁定。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1D4E89"/>
          </a:solidFill>
          <a:ln w="9525">
            <a:solidFill>
              <a:srgbClr val="1D4E89"/>
            </a:solidFill>
            <a:prstDash val="solid"/>
          </a:ln>
        </p:spPr>
      </p:sp>
      <p:sp>
        <p:nvSpPr>
          <p:cNvPr id="8" name="txt-0.1622494638687354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需要改关键结构，必须另存新版本。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1D4E89"/>
          </a:solidFill>
          <a:ln w="9525">
            <a:solidFill>
              <a:srgbClr val="1D4E89"/>
            </a:solidFill>
            <a:prstDash val="solid"/>
          </a:ln>
        </p:spPr>
      </p:sp>
      <p:sp>
        <p:nvSpPr>
          <p:cNvPr id="10" name="txt-0.78511040386744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老单据仍引用旧 definition_version，新单据匹配新版本。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27124996670502344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当前流程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5392500197055005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113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section"/>
          <p:cNvSpPr>
            <a:spLocks noGrp="1"/>
          </p:cNvSpPr>
          <p:nvPr/>
        </p:nvSpPr>
        <p:spPr>
          <a:xfrm>
            <a:off x="0" y="0"/>
            <a:ext cx="3524250" cy="6858000"/>
          </a:xfrm>
          <a:prstGeom prst="roundRect">
            <a:avLst>
              <a:gd name="adj" fmla="val 2162"/>
            </a:avLst>
          </a:prstGeom>
          <a:solidFill>
            <a:srgbClr val="7C6AE6"/>
          </a:solidFill>
          <a:ln w="0">
            <a:noFill/>
            <a:prstDash val="solid"/>
          </a:ln>
        </p:spPr>
      </p:sp>
      <p:sp>
        <p:nvSpPr>
          <p:cNvPr id="2" name="txt-0.752871185457001"/>
          <p:cNvSpPr>
            <a:spLocks noGrp="1"/>
          </p:cNvSpPr>
          <p:nvPr/>
        </p:nvSpPr>
        <p:spPr>
          <a:xfrm>
            <a:off x="628650" y="800100"/>
            <a:ext cx="2190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2220"/>
          </a:bodyPr>
          <a:lstStyle/>
          <a:p>
            <a:pPr algn="l">
              <a:lnSpc>
                <a:spcPct val="106000"/>
              </a:lnSpc>
              <a:buNone/>
              <a:defRPr sz="72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72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114</a:t>
            </a:r>
            <a:endParaRPr sz="72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8244544746460256"/>
          <p:cNvSpPr>
            <a:spLocks noGrp="1"/>
          </p:cNvSpPr>
          <p:nvPr/>
        </p:nvSpPr>
        <p:spPr>
          <a:xfrm>
            <a:off x="647700" y="22098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0363"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ITOM 系统培训</a:t>
            </a:r>
            <a:endParaRPr sz="135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txt-0.6506150612802074"/>
          <p:cNvSpPr>
            <a:spLocks noGrp="1"/>
          </p:cNvSpPr>
          <p:nvPr/>
        </p:nvSpPr>
        <p:spPr>
          <a:xfrm>
            <a:off x="4057650" y="1543050"/>
            <a:ext cx="7048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2000"/>
              </a:lnSpc>
              <a:buNone/>
              <a:defRPr sz="39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9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第六章｜规则、积分与人效</a:t>
            </a:r>
            <a:endParaRPr sz="39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txt-0.7612570186033745"/>
          <p:cNvSpPr>
            <a:spLocks noGrp="1"/>
          </p:cNvSpPr>
          <p:nvPr/>
        </p:nvSpPr>
        <p:spPr>
          <a:xfrm>
            <a:off x="4057650" y="2533650"/>
            <a:ext cx="6953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25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规则的重点不是“算出一个数字”，而是让取数、边界、权限和版本都能解释。</a:t>
            </a:r>
            <a:endParaRPr sz="1725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4057650" y="3752850"/>
            <a:ext cx="6610350" cy="0"/>
          </a:xfrm>
          <a:prstGeom prst="line">
            <a:avLst/>
          </a:prstGeom>
          <a:noFill/>
          <a:ln w="28575">
            <a:solidFill>
              <a:srgbClr val="7C6AE6"/>
            </a:solidFill>
            <a:prstDash val="solid"/>
          </a:ln>
        </p:spPr>
      </p:sp>
      <p:sp>
        <p:nvSpPr>
          <p:cNvPr id="7" name="txt-0.7895837641791797"/>
          <p:cNvSpPr>
            <a:spLocks noGrp="1"/>
          </p:cNvSpPr>
          <p:nvPr/>
        </p:nvSpPr>
        <p:spPr>
          <a:xfrm>
            <a:off x="4057650" y="4038600"/>
            <a:ext cx="657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2684"/>
          </a:bodyPr>
          <a:lstStyle/>
          <a:p>
            <a:pPr algn="l">
              <a:lnSpc>
                <a:spcPct val="106000"/>
              </a:lnSpc>
              <a:buNone/>
              <a:defRPr sz="1425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课程原则：先理解概念，再看系统如何落地，最后练习如何判断。</a:t>
            </a:r>
            <a:endParaRPr sz="1425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txt-0.8739330940868426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7C6AE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7C6AE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规则总览</a:t>
            </a:r>
            <a:endParaRPr sz="975" b="1">
              <a:solidFill>
                <a:srgbClr val="7C6AE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0391077868981331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系统里至少有五类规则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9045727486565995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不要把它们都叫“规则配置”。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6" name="txt-0.2703146527706085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业务规则：需求评估、变更字段、关闭策略。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8" name="txt-0.9252545006973556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状态规则：workflow_status / workflow_transition。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10" name="txt-0.7694852860050065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流程规则：ProcessDefinition / ProcessStep / RACI / SLA。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dot"/>
          <p:cNvSpPr>
            <a:spLocks noGrp="1"/>
          </p:cNvSpPr>
          <p:nvPr/>
        </p:nvSpPr>
        <p:spPr>
          <a:xfrm>
            <a:off x="895350" y="37814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12" name="txt-0.6668086659963945"/>
          <p:cNvSpPr>
            <a:spLocks noGrp="1"/>
          </p:cNvSpPr>
          <p:nvPr/>
        </p:nvSpPr>
        <p:spPr>
          <a:xfrm>
            <a:off x="1104900" y="37242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激励规则：PointRule / PointEntry / 活动积分。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dot"/>
          <p:cNvSpPr>
            <a:spLocks noGrp="1"/>
          </p:cNvSpPr>
          <p:nvPr/>
        </p:nvSpPr>
        <p:spPr>
          <a:xfrm>
            <a:off x="895350" y="42767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14" name="txt-0.5517783030198095"/>
          <p:cNvSpPr>
            <a:spLocks noGrp="1"/>
          </p:cNvSpPr>
          <p:nvPr/>
        </p:nvSpPr>
        <p:spPr>
          <a:xfrm>
            <a:off x="1104900" y="42195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绩效规则：角色档案、维度、取数、周期、评审和发布。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6" name="txt-0.7920436771562631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规则总览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txt-0.36404777815931655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115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txt-0.8900657285570431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积分规则</a:t>
            </a:r>
            <a:endParaRPr sz="975" b="1">
              <a:solidFill>
                <a:srgbClr val="3D8D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6675978351511505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活动积分只统计团队贡献活动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7102890000272923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ITSM、需求、项目结果进入角色绩效，不进入活动积分。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6" name="txt-0.637735931407236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建言、点赞、采纳；知识发布/被点有用；培训主讲与参与。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8" name="txt-0.4377352477035229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团队专项活动、学习成长、跨团队支援等协同行为。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0" name="txt-0.12331173422888908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活动积分页面维护团队贡献规则、目标、权重和积分流水。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dot"/>
          <p:cNvSpPr>
            <a:spLocks noGrp="1"/>
          </p:cNvSpPr>
          <p:nvPr/>
        </p:nvSpPr>
        <p:spPr>
          <a:xfrm>
            <a:off x="895350" y="37814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2" name="txt-0.285183686122386"/>
          <p:cNvSpPr>
            <a:spLocks noGrp="1"/>
          </p:cNvSpPr>
          <p:nvPr/>
        </p:nvSpPr>
        <p:spPr>
          <a:xfrm>
            <a:off x="1104900" y="37242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ticket_resolved、change_compliance、requirement_delivery、project_delivery 等属于 role_result。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dot"/>
          <p:cNvSpPr>
            <a:spLocks noGrp="1"/>
          </p:cNvSpPr>
          <p:nvPr/>
        </p:nvSpPr>
        <p:spPr>
          <a:xfrm>
            <a:off x="895350" y="42767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4" name="txt-0.6481989563342367"/>
          <p:cNvSpPr>
            <a:spLocks noGrp="1"/>
          </p:cNvSpPr>
          <p:nvPr/>
        </p:nvSpPr>
        <p:spPr>
          <a:xfrm>
            <a:off x="1104900" y="42195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role_result 由“人效评分 → 计分规则”按角色、维度和取数口径计算。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6" name="txt-0.36362417876010933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积分规则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txt-0.7909021613282371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116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txt-0.12441473281349869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积分规则</a:t>
            </a:r>
            <a:endParaRPr sz="975" b="1">
              <a:solidFill>
                <a:srgbClr val="24A67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5647056357156398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活动积分的自动来源（只看团队贡献）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015514677713626468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事件自动入账，但先归类到正确贡献桶。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6" name="txt-0.33044049516274254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建言献策：提出、被点赞、被采纳等行为。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8" name="txt-0.02421943161686768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知识与培训：发表知识、知识被点有用、主讲/组织培训、参与培训。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10" name="txt-0.2223892706863968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学习成长：周期目标按完成比例折算 learning_growth。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dot"/>
          <p:cNvSpPr>
            <a:spLocks noGrp="1"/>
          </p:cNvSpPr>
          <p:nvPr/>
        </p:nvSpPr>
        <p:spPr>
          <a:xfrm>
            <a:off x="895350" y="37814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12" name="txt-0.99345323469483"/>
          <p:cNvSpPr>
            <a:spLocks noGrp="1"/>
          </p:cNvSpPr>
          <p:nvPr/>
        </p:nvSpPr>
        <p:spPr>
          <a:xfrm>
            <a:off x="1104900" y="37242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专项活动、跨团队支援等团队协同行为。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dot"/>
          <p:cNvSpPr>
            <a:spLocks noGrp="1"/>
          </p:cNvSpPr>
          <p:nvPr/>
        </p:nvSpPr>
        <p:spPr>
          <a:xfrm>
            <a:off x="895350" y="42767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14" name="txt-0.47079047478048097"/>
          <p:cNvSpPr>
            <a:spLocks noGrp="1"/>
          </p:cNvSpPr>
          <p:nvPr/>
        </p:nvSpPr>
        <p:spPr>
          <a:xfrm>
            <a:off x="1104900" y="42195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工单、变更、项目、需求完成事件 → role_result，不在活动积分页归集。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6" name="txt-0.13918538646009004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积分规则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txt-0.6930415529333833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117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txt-0.8379068485505209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积分规则</a:t>
            </a:r>
            <a:endParaRPr sz="975" b="1">
              <a:solidFill>
                <a:srgbClr val="F4A34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0904807679137315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统一流水 ≠ 统一评分桶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9121852108150378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award() 是积分流水的唯一写入口，但不是唯一评分口径。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6" name="txt-0.697064912353886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person_id：归属人员。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8" name="txt-0.09120599026081433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points：正负分值。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10" name="txt-0.24386854249661127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source_type/source_ref：事件来源与业务单据。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dot"/>
          <p:cNvSpPr>
            <a:spLocks noGrp="1"/>
          </p:cNvSpPr>
          <p:nvPr/>
        </p:nvSpPr>
        <p:spPr>
          <a:xfrm>
            <a:off x="895350" y="37814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12" name="txt-0.4114359917087407"/>
          <p:cNvSpPr>
            <a:spLocks noGrp="1"/>
          </p:cNvSpPr>
          <p:nvPr/>
        </p:nvSpPr>
        <p:spPr>
          <a:xfrm>
            <a:off x="1104900" y="37242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period：YYYY-Q1/Q2/Q3/All。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dot"/>
          <p:cNvSpPr>
            <a:spLocks noGrp="1"/>
          </p:cNvSpPr>
          <p:nvPr/>
        </p:nvSpPr>
        <p:spPr>
          <a:xfrm>
            <a:off x="895350" y="42767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14" name="txt-0.9680314813398883"/>
          <p:cNvSpPr>
            <a:spLocks noGrp="1"/>
          </p:cNvSpPr>
          <p:nvPr/>
        </p:nvSpPr>
        <p:spPr>
          <a:xfrm>
            <a:off x="1104900" y="42195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contribution_bucket：team_contribution 或 role_result；dimension 再细分团队贡献。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6" name="txt-0.6068092611760868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积分规则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txt-0.3664303055436825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118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txt-0.03067850376341663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7C6AE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7C6AE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积分规则</a:t>
            </a:r>
            <a:endParaRPr sz="975" b="1">
              <a:solidFill>
                <a:srgbClr val="7C6AE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7218491403276214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两类数据都进流水，但绝不混算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left"/>
          <p:cNvSpPr>
            <a:spLocks noGrp="1"/>
          </p:cNvSpPr>
          <p:nvPr/>
        </p:nvSpPr>
        <p:spPr>
          <a:xfrm>
            <a:off x="609600" y="1809750"/>
            <a:ext cx="4953000" cy="3333750"/>
          </a:xfrm>
          <a:prstGeom prst="roundRect">
            <a:avLst>
              <a:gd name="adj" fmla="val 5143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4" name="right"/>
          <p:cNvSpPr>
            <a:spLocks noGrp="1"/>
          </p:cNvSpPr>
          <p:nvPr/>
        </p:nvSpPr>
        <p:spPr>
          <a:xfrm>
            <a:off x="5943600" y="1809750"/>
            <a:ext cx="4953000" cy="3333750"/>
          </a:xfrm>
          <a:prstGeom prst="roundRect">
            <a:avLst>
              <a:gd name="adj" fmla="val 5143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txt-0.8615413175943334"/>
          <p:cNvSpPr>
            <a:spLocks noGrp="1"/>
          </p:cNvSpPr>
          <p:nvPr/>
        </p:nvSpPr>
        <p:spPr>
          <a:xfrm>
            <a:off x="876300" y="2095500"/>
            <a:ext cx="419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899"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role_result（职责结果）</a:t>
            </a:r>
            <a:endParaRPr sz="16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dot"/>
          <p:cNvSpPr>
            <a:spLocks noGrp="1"/>
          </p:cNvSpPr>
          <p:nvPr/>
        </p:nvSpPr>
        <p:spPr>
          <a:xfrm>
            <a:off x="876300" y="26765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7" name="txt-0.9665410011837922"/>
          <p:cNvSpPr>
            <a:spLocks noGrp="1"/>
          </p:cNvSpPr>
          <p:nvPr/>
        </p:nvSpPr>
        <p:spPr>
          <a:xfrm>
            <a:off x="1085850" y="2619375"/>
            <a:ext cx="3981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工单解决、SLA、满意度</a:t>
            </a:r>
            <a:endParaRPr sz="127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dot"/>
          <p:cNvSpPr>
            <a:spLocks noGrp="1"/>
          </p:cNvSpPr>
          <p:nvPr/>
        </p:nvSpPr>
        <p:spPr>
          <a:xfrm>
            <a:off x="876300" y="30956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9" name="txt-0.559782462513236"/>
          <p:cNvSpPr>
            <a:spLocks noGrp="1"/>
          </p:cNvSpPr>
          <p:nvPr/>
        </p:nvSpPr>
        <p:spPr>
          <a:xfrm>
            <a:off x="1085850" y="3038475"/>
            <a:ext cx="3981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变更合规</a:t>
            </a:r>
            <a:endParaRPr sz="127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dot"/>
          <p:cNvSpPr>
            <a:spLocks noGrp="1"/>
          </p:cNvSpPr>
          <p:nvPr/>
        </p:nvSpPr>
        <p:spPr>
          <a:xfrm>
            <a:off x="876300" y="35147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11" name="txt-0.6494723401869029"/>
          <p:cNvSpPr>
            <a:spLocks noGrp="1"/>
          </p:cNvSpPr>
          <p:nvPr/>
        </p:nvSpPr>
        <p:spPr>
          <a:xfrm>
            <a:off x="1085850" y="3457575"/>
            <a:ext cx="3981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需求任务/关闭交付</a:t>
            </a:r>
            <a:endParaRPr sz="127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dot"/>
          <p:cNvSpPr>
            <a:spLocks noGrp="1"/>
          </p:cNvSpPr>
          <p:nvPr/>
        </p:nvSpPr>
        <p:spPr>
          <a:xfrm>
            <a:off x="876300" y="39338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13" name="txt-0.24223412156638668"/>
          <p:cNvSpPr>
            <a:spLocks noGrp="1"/>
          </p:cNvSpPr>
          <p:nvPr/>
        </p:nvSpPr>
        <p:spPr>
          <a:xfrm>
            <a:off x="1085850" y="3876675"/>
            <a:ext cx="3981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项目 WBS/里程碑</a:t>
            </a:r>
            <a:endParaRPr sz="127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dot"/>
          <p:cNvSpPr>
            <a:spLocks noGrp="1"/>
          </p:cNvSpPr>
          <p:nvPr/>
        </p:nvSpPr>
        <p:spPr>
          <a:xfrm>
            <a:off x="876300" y="43529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15" name="txt-0.797740975613714"/>
          <p:cNvSpPr>
            <a:spLocks noGrp="1"/>
          </p:cNvSpPr>
          <p:nvPr/>
        </p:nvSpPr>
        <p:spPr>
          <a:xfrm>
            <a:off x="1085850" y="4295775"/>
            <a:ext cx="3981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流程任务及时性</a:t>
            </a:r>
            <a:endParaRPr sz="127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txt-0.6063763392172452"/>
          <p:cNvSpPr>
            <a:spLocks noGrp="1"/>
          </p:cNvSpPr>
          <p:nvPr/>
        </p:nvSpPr>
        <p:spPr>
          <a:xfrm>
            <a:off x="6210300" y="2095500"/>
            <a:ext cx="419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899"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team_contribution（团队贡献20%）</a:t>
            </a:r>
            <a:endParaRPr sz="16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dot"/>
          <p:cNvSpPr>
            <a:spLocks noGrp="1"/>
          </p:cNvSpPr>
          <p:nvPr/>
        </p:nvSpPr>
        <p:spPr>
          <a:xfrm>
            <a:off x="6210300" y="26765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18" name="txt-0.616548036613539"/>
          <p:cNvSpPr>
            <a:spLocks noGrp="1"/>
          </p:cNvSpPr>
          <p:nvPr/>
        </p:nvSpPr>
        <p:spPr>
          <a:xfrm>
            <a:off x="6419850" y="2619375"/>
            <a:ext cx="3981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专项活动</a:t>
            </a:r>
            <a:endParaRPr sz="127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dot"/>
          <p:cNvSpPr>
            <a:spLocks noGrp="1"/>
          </p:cNvSpPr>
          <p:nvPr/>
        </p:nvSpPr>
        <p:spPr>
          <a:xfrm>
            <a:off x="6210300" y="30956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20" name="txt-0.127710479480444"/>
          <p:cNvSpPr>
            <a:spLocks noGrp="1"/>
          </p:cNvSpPr>
          <p:nvPr/>
        </p:nvSpPr>
        <p:spPr>
          <a:xfrm>
            <a:off x="6419850" y="3038475"/>
            <a:ext cx="3981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学习成长</a:t>
            </a:r>
            <a:endParaRPr sz="127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" name="dot"/>
          <p:cNvSpPr>
            <a:spLocks noGrp="1"/>
          </p:cNvSpPr>
          <p:nvPr/>
        </p:nvSpPr>
        <p:spPr>
          <a:xfrm>
            <a:off x="6210300" y="35147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22" name="txt-0.472267958105298"/>
          <p:cNvSpPr>
            <a:spLocks noGrp="1"/>
          </p:cNvSpPr>
          <p:nvPr/>
        </p:nvSpPr>
        <p:spPr>
          <a:xfrm>
            <a:off x="6419850" y="3457575"/>
            <a:ext cx="3981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培训与知识分享</a:t>
            </a:r>
            <a:endParaRPr sz="127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" name="dot"/>
          <p:cNvSpPr>
            <a:spLocks noGrp="1"/>
          </p:cNvSpPr>
          <p:nvPr/>
        </p:nvSpPr>
        <p:spPr>
          <a:xfrm>
            <a:off x="6210300" y="39338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24" name="txt-0.3751719260404194"/>
          <p:cNvSpPr>
            <a:spLocks noGrp="1"/>
          </p:cNvSpPr>
          <p:nvPr/>
        </p:nvSpPr>
        <p:spPr>
          <a:xfrm>
            <a:off x="6419850" y="3876675"/>
            <a:ext cx="3981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建言与流程改进</a:t>
            </a:r>
            <a:endParaRPr sz="127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" name="dot"/>
          <p:cNvSpPr>
            <a:spLocks noGrp="1"/>
          </p:cNvSpPr>
          <p:nvPr/>
        </p:nvSpPr>
        <p:spPr>
          <a:xfrm>
            <a:off x="6210300" y="43529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26" name="txt-0.5457978934658505"/>
          <p:cNvSpPr>
            <a:spLocks noGrp="1"/>
          </p:cNvSpPr>
          <p:nvPr/>
        </p:nvSpPr>
        <p:spPr>
          <a:xfrm>
            <a:off x="6419850" y="4295775"/>
            <a:ext cx="3981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知识资产/复盘、跨团队支援</a:t>
            </a:r>
            <a:endParaRPr sz="127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7" name="直接连接符 26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28" name="txt-0.05441604850862358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积分规则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9" name="txt-0.5551705398988234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119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xt-0.20090890567690511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积分规则</a:t>
            </a:r>
            <a:endParaRPr sz="975" b="1">
              <a:solidFill>
                <a:srgbClr val="24A67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6831041786024197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团队贡献维度得分（只读 team_contribution）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formula"/>
          <p:cNvSpPr>
            <a:spLocks noGrp="1"/>
          </p:cNvSpPr>
          <p:nvPr/>
        </p:nvSpPr>
        <p:spPr>
          <a:xfrm>
            <a:off x="819150" y="2095500"/>
            <a:ext cx="10382250" cy="1047750"/>
          </a:xfrm>
          <a:prstGeom prst="roundRect">
            <a:avLst>
              <a:gd name="adj" fmla="val 16364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4" name="txt-0.3464954816782695"/>
          <p:cNvSpPr>
            <a:spLocks noGrp="1"/>
          </p:cNvSpPr>
          <p:nvPr/>
        </p:nvSpPr>
        <p:spPr>
          <a:xfrm>
            <a:off x="1095375" y="2438400"/>
            <a:ext cx="981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0970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1D4E8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1D4E8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维度分 = min(100，max(0，维度有效积分 ÷ 目标积分 ×100))</a:t>
            </a:r>
            <a:endParaRPr sz="2100" b="1">
              <a:solidFill>
                <a:srgbClr val="1D4E8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meaning"/>
          <p:cNvSpPr>
            <a:spLocks noGrp="1"/>
          </p:cNvSpPr>
          <p:nvPr/>
        </p:nvSpPr>
        <p:spPr>
          <a:xfrm>
            <a:off x="1524000" y="3714750"/>
            <a:ext cx="9144000" cy="1123950"/>
          </a:xfrm>
          <a:prstGeom prst="roundRect">
            <a:avLst>
              <a:gd name="adj" fmla="val 13559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6" name="txt-0.1655644011008326"/>
          <p:cNvSpPr>
            <a:spLocks noGrp="1"/>
          </p:cNvSpPr>
          <p:nvPr/>
        </p:nvSpPr>
        <p:spPr>
          <a:xfrm>
            <a:off x="1847850" y="4038600"/>
            <a:ext cx="8496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5818"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只读取 team_contribution 桶；无该维度贡献计 0，不按团队最高值归一化；同一事件只能进入一个维度。</a:t>
            </a:r>
            <a:endParaRPr sz="1425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8" name="txt-0.19908121235361742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积分规则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txt-0.9671064536102323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120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xt-0.9652059455463393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积分规则</a:t>
            </a:r>
            <a:endParaRPr sz="975" b="1">
              <a:solidFill>
                <a:srgbClr val="3D8D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4832256870062769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团队贡献总分（仅用于最终绩效20%）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formula"/>
          <p:cNvSpPr>
            <a:spLocks noGrp="1"/>
          </p:cNvSpPr>
          <p:nvPr/>
        </p:nvSpPr>
        <p:spPr>
          <a:xfrm>
            <a:off x="819150" y="2095500"/>
            <a:ext cx="10382250" cy="1047750"/>
          </a:xfrm>
          <a:prstGeom prst="roundRect">
            <a:avLst>
              <a:gd name="adj" fmla="val 16364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4" name="txt-0.10304946767090306"/>
          <p:cNvSpPr>
            <a:spLocks noGrp="1"/>
          </p:cNvSpPr>
          <p:nvPr/>
        </p:nvSpPr>
        <p:spPr>
          <a:xfrm>
            <a:off x="1095375" y="2438400"/>
            <a:ext cx="981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0970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1D4E8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1D4E8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团队贡献分 = Σ（维度分 × 维度权重）</a:t>
            </a:r>
            <a:endParaRPr sz="2100" b="1">
              <a:solidFill>
                <a:srgbClr val="1D4E8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meaning"/>
          <p:cNvSpPr>
            <a:spLocks noGrp="1"/>
          </p:cNvSpPr>
          <p:nvPr/>
        </p:nvSpPr>
        <p:spPr>
          <a:xfrm>
            <a:off x="1524000" y="3714750"/>
            <a:ext cx="9144000" cy="1123950"/>
          </a:xfrm>
          <a:prstGeom prst="roundRect">
            <a:avLst>
              <a:gd name="adj" fmla="val 13559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6" name="txt-0.5232584346698395"/>
          <p:cNvSpPr>
            <a:spLocks noGrp="1"/>
          </p:cNvSpPr>
          <p:nvPr/>
        </p:nvSpPr>
        <p:spPr>
          <a:xfrm>
            <a:off x="1847850" y="4038600"/>
            <a:ext cx="8496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4217"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默认权重：专项活动20、学习成长20、培训知识15、建言改进15、知识资产15、跨团队支援15；role_result 不参与。</a:t>
            </a:r>
            <a:endParaRPr sz="1425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8" name="txt-0.0003240851224446395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积分规则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txt-0.43594681214569997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121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txt-0.8974225687658548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积分规则</a:t>
            </a:r>
            <a:endParaRPr sz="975" b="1">
              <a:solidFill>
                <a:srgbClr val="24A67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039270910584586094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团队贡献默认目标也是可配置的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9855848643927146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目标决定“达到100分”需要多少团队贡献有效积分。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6" name="txt-0.11527596961264219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special_activity 目标 40。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8" name="txt-0.39770275541077704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learning_growth 目标 30。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10" name="txt-0.6811545892514438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training_knowledge 目标 30。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dot"/>
          <p:cNvSpPr>
            <a:spLocks noGrp="1"/>
          </p:cNvSpPr>
          <p:nvPr/>
        </p:nvSpPr>
        <p:spPr>
          <a:xfrm>
            <a:off x="895350" y="37814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12" name="txt-0.589354081749561"/>
          <p:cNvSpPr>
            <a:spLocks noGrp="1"/>
          </p:cNvSpPr>
          <p:nvPr/>
        </p:nvSpPr>
        <p:spPr>
          <a:xfrm>
            <a:off x="1104900" y="37242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suggestion_improvement 目标 20。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dot"/>
          <p:cNvSpPr>
            <a:spLocks noGrp="1"/>
          </p:cNvSpPr>
          <p:nvPr/>
        </p:nvSpPr>
        <p:spPr>
          <a:xfrm>
            <a:off x="895350" y="42767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14" name="txt-0.8075599623915544"/>
          <p:cNvSpPr>
            <a:spLocks noGrp="1"/>
          </p:cNvSpPr>
          <p:nvPr/>
        </p:nvSpPr>
        <p:spPr>
          <a:xfrm>
            <a:off x="1104900" y="42195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knowledge_asset 目标30；cross_team_support 目标20；仅用于团队贡献。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6" name="txt-0.1691660225288678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积分规则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txt-0.8595605166593965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122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46136035823976895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积分规则</a:t>
            </a:r>
            <a:endParaRPr sz="975" b="1">
              <a:solidFill>
                <a:srgbClr val="F4A34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5989893025196327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学习成长是“自填目标 + 自动折算”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14408621735907878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学习成长属于 team_contribution，不是 ITSM 角色结果。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6" name="txt-0.6240317981962271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员工填写目标、目标说明/验收标准、完成比例、佐证和说明。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8" name="txt-0.3749828212255272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同一周期多个目标按等权平均进度折算 learning_growth。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10" name="txt-0.41749628394469207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目标积分上限 30；每次保存幂等更新 PointEntry。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19389426928820797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积分规则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6106614801508775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123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txt-0.7907319555162747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绩效规则</a:t>
            </a:r>
            <a:endParaRPr sz="975" b="1">
              <a:solidFill>
                <a:srgbClr val="3D8D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2170185762060609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角色结果的取数指标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7183957444710333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角色规则配置的是职责指标，不是活动积分。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6" name="txt-0.5618318392411727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ticket_service：解决的服务请求/事件，SLA 与满意度组合。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8" name="txt-0.7923341928590966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change_compliance：已完结变更中审批、正常关闭与回退情况。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0" name="txt-0.47036459921887674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project_delivery / requirement_delivery：到期任务按期完成率。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dot"/>
          <p:cNvSpPr>
            <a:spLocks noGrp="1"/>
          </p:cNvSpPr>
          <p:nvPr/>
        </p:nvSpPr>
        <p:spPr>
          <a:xfrm>
            <a:off x="895350" y="37814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2" name="txt-0.21501225498818022"/>
          <p:cNvSpPr>
            <a:spLocks noGrp="1"/>
          </p:cNvSpPr>
          <p:nvPr/>
        </p:nvSpPr>
        <p:spPr>
          <a:xfrm>
            <a:off x="1104900" y="37242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domain_satisfaction：业务域成员经办工单的满意度。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dot"/>
          <p:cNvSpPr>
            <a:spLocks noGrp="1"/>
          </p:cNvSpPr>
          <p:nvPr/>
        </p:nvSpPr>
        <p:spPr>
          <a:xfrm>
            <a:off x="895350" y="42767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4" name="txt-0.2896447206236755"/>
          <p:cNvSpPr>
            <a:spLocks noGrp="1"/>
          </p:cNvSpPr>
          <p:nvPr/>
        </p:nvSpPr>
        <p:spPr>
          <a:xfrm>
            <a:off x="1104900" y="42195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process_task_timeliness：流程任务按期完成率；仍属角色职责结果。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6" name="txt-0.04134791703992424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绩效规则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txt-0.44069423544460207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124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6878038518279758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7C6AE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7C6AE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绩效规则</a:t>
            </a:r>
            <a:endParaRPr sz="975" b="1">
              <a:solidFill>
                <a:srgbClr val="7C6AE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849854798453506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系统取数的“无数据”原则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19307307962624554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不把没有发生过的工作误判成 0 分，也不让公共维度失真。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6" name="txt-0.9392061347944961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非公共职责维度无适用数据：不计入角色维度权重，剩余权重自动归一化。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8" name="txt-0.7218343586586026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团队贡献公共维度无活动：该维度按 0 分处理。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10" name="txt-0.163556978795956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系统评分先落 system_score；负责人/CIO 可以在有证据时核定。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4225791679829263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绩效规则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06636730816839131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125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xt-0.596237764244432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绩效规则</a:t>
            </a:r>
            <a:endParaRPr sz="975" b="1">
              <a:solidFill>
                <a:srgbClr val="F4A34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0019456080813343712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角色内得分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formula"/>
          <p:cNvSpPr>
            <a:spLocks noGrp="1"/>
          </p:cNvSpPr>
          <p:nvPr/>
        </p:nvSpPr>
        <p:spPr>
          <a:xfrm>
            <a:off x="819150" y="2095500"/>
            <a:ext cx="10382250" cy="1047750"/>
          </a:xfrm>
          <a:prstGeom prst="roundRect">
            <a:avLst>
              <a:gd name="adj" fmla="val 16364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4" name="txt-0.8884630779186062"/>
          <p:cNvSpPr>
            <a:spLocks noGrp="1"/>
          </p:cNvSpPr>
          <p:nvPr/>
        </p:nvSpPr>
        <p:spPr>
          <a:xfrm>
            <a:off x="1095375" y="2438400"/>
            <a:ext cx="981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0970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1D4E8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1D4E8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角色分 = Σ（有效维度生效分 × 维度权重）÷ 有效权重之和</a:t>
            </a:r>
            <a:endParaRPr sz="2100" b="1">
              <a:solidFill>
                <a:srgbClr val="1D4E8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meaning"/>
          <p:cNvSpPr>
            <a:spLocks noGrp="1"/>
          </p:cNvSpPr>
          <p:nvPr/>
        </p:nvSpPr>
        <p:spPr>
          <a:xfrm>
            <a:off x="1524000" y="3714750"/>
            <a:ext cx="9144000" cy="1123950"/>
          </a:xfrm>
          <a:prstGeom prst="roundRect">
            <a:avLst>
              <a:gd name="adj" fmla="val 13559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6" name="txt-0.775487321217887"/>
          <p:cNvSpPr>
            <a:spLocks noGrp="1"/>
          </p:cNvSpPr>
          <p:nvPr/>
        </p:nvSpPr>
        <p:spPr>
          <a:xfrm>
            <a:off x="1847850" y="4038600"/>
            <a:ext cx="8496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每个角色满分 100；生效分优先取 CIO，其次取对应线负责人，再取系统分。</a:t>
            </a:r>
            <a:endParaRPr sz="1425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8" name="txt-0.6645985319468466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绩效规则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txt-0.7407635231646491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126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xt-0.29328931876265885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绩效规则</a:t>
            </a:r>
            <a:endParaRPr sz="975" b="1">
              <a:solidFill>
                <a:srgbClr val="24A67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33900711465497935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80%角色结果 + 20%团队贡献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formula"/>
          <p:cNvSpPr>
            <a:spLocks noGrp="1"/>
          </p:cNvSpPr>
          <p:nvPr/>
        </p:nvSpPr>
        <p:spPr>
          <a:xfrm>
            <a:off x="819150" y="2095500"/>
            <a:ext cx="10382250" cy="1047750"/>
          </a:xfrm>
          <a:prstGeom prst="roundRect">
            <a:avLst>
              <a:gd name="adj" fmla="val 16364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4" name="txt-0.22190787134391166"/>
          <p:cNvSpPr>
            <a:spLocks noGrp="1"/>
          </p:cNvSpPr>
          <p:nvPr/>
        </p:nvSpPr>
        <p:spPr>
          <a:xfrm>
            <a:off x="1095375" y="2438400"/>
            <a:ext cx="981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0970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1D4E8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1D4E8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常规绩效 = 业务角色贡献 + 专业角色贡献 + 团队贡献分 ×20%</a:t>
            </a:r>
            <a:endParaRPr sz="2100" b="1">
              <a:solidFill>
                <a:srgbClr val="1D4E8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meaning"/>
          <p:cNvSpPr>
            <a:spLocks noGrp="1"/>
          </p:cNvSpPr>
          <p:nvPr/>
        </p:nvSpPr>
        <p:spPr>
          <a:xfrm>
            <a:off x="1524000" y="3714750"/>
            <a:ext cx="9144000" cy="1123950"/>
          </a:xfrm>
          <a:prstGeom prst="roundRect">
            <a:avLst>
              <a:gd name="adj" fmla="val 13559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6" name="txt-0.6120210823910469"/>
          <p:cNvSpPr>
            <a:spLocks noGrp="1"/>
          </p:cNvSpPr>
          <p:nvPr/>
        </p:nvSpPr>
        <p:spPr>
          <a:xfrm>
            <a:off x="1847850" y="4038600"/>
            <a:ext cx="8496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角色结果（业务+专业）合计80%；团队贡献分为0–100，再按20%折入。</a:t>
            </a:r>
            <a:endParaRPr sz="1425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8" name="txt-0.9720515444561286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绩效规则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txt-0.1680074108145232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127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5642321570534763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1D4E8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1D4E8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绩效规则</a:t>
            </a:r>
            <a:endParaRPr sz="975" b="1">
              <a:solidFill>
                <a:srgbClr val="1D4E8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8543297738164679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矩阵角色为什么比“默认岗位方案”更合理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3643981328019137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一个人可以同时承担业务服务线和专业线职责。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1D4E89"/>
          </a:solidFill>
          <a:ln w="9525">
            <a:solidFill>
              <a:srgbClr val="1D4E89"/>
            </a:solidFill>
            <a:prstDash val="solid"/>
          </a:ln>
        </p:spPr>
      </p:sp>
      <p:sp>
        <p:nvSpPr>
          <p:cNvPr id="6" name="txt-0.08625824093394208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业务服务线回答：对某条业务域的价值、体验、需求和结果负责多少。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1D4E89"/>
          </a:solidFill>
          <a:ln w="9525">
            <a:solidFill>
              <a:srgbClr val="1D4E89"/>
            </a:solidFill>
            <a:prstDash val="solid"/>
          </a:ln>
        </p:spPr>
      </p:sp>
      <p:sp>
        <p:nvSpPr>
          <p:cNvPr id="8" name="txt-0.06116464964803592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专业线回答：对产品、开发、运维、项目或平台能力负责多少。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1D4E89"/>
          </a:solidFill>
          <a:ln w="9525">
            <a:solidFill>
              <a:srgbClr val="1D4E89"/>
            </a:solidFill>
            <a:prstDash val="solid"/>
          </a:ln>
        </p:spPr>
      </p:sp>
      <p:sp>
        <p:nvSpPr>
          <p:cNvPr id="10" name="txt-0.4415115605726473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周期快照记录当期角色、范围、评审人和权重，不使用旧版默认方案覆盖当前结果。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1865044017620625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绩效规则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353594662732854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128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txt-0.7762321781054488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绩效规则</a:t>
            </a:r>
            <a:endParaRPr sz="975" b="1">
              <a:solidFill>
                <a:srgbClr val="3D8D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40439144174747066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角色权重如何约束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8473843903619385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总账必须闭合，才允许发布。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6" name="txt-0.7821376879336345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业务角色权重 + 专业角色权重 = 80%。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8" name="txt-0.8670060397709126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团队贡献固定 20%，不允许个人化修改。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0" name="txt-0.5251374932146611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同一条线有多个角色时，线内角色权重之和必须等于该线分配权重。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dot"/>
          <p:cNvSpPr>
            <a:spLocks noGrp="1"/>
          </p:cNvSpPr>
          <p:nvPr/>
        </p:nvSpPr>
        <p:spPr>
          <a:xfrm>
            <a:off x="895350" y="37814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2" name="txt-0.9135915872074932"/>
          <p:cNvSpPr>
            <a:spLocks noGrp="1"/>
          </p:cNvSpPr>
          <p:nvPr/>
        </p:nvSpPr>
        <p:spPr>
          <a:xfrm>
            <a:off x="1104900" y="37242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没有业务角色或专业角色时，另一条线可以独占 80%。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4" name="txt-0.014196327036439915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绩效规则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txt-0.34617968781859054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129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txt-0.14068107696450483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7C6AE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7C6AE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绩效规则</a:t>
            </a:r>
            <a:endParaRPr sz="975" b="1">
              <a:solidFill>
                <a:srgbClr val="7C6AE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841488111606892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评分主体按矩阵范围分工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20216080577092377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不是所有管理者都能评价所有人。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6" name="txt-0.5196227290116499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业务线负责人评价自己负责业务域的业务角色；不得自评。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8" name="txt-0.5025909200424395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专业线负责人评价自己负责资源池的专业角色；IT PM 由 PMO 形成专业评审范围。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10" name="txt-0.5229564310507822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平台服务角色默认 CIO 直评。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dot"/>
          <p:cNvSpPr>
            <a:spLocks noGrp="1"/>
          </p:cNvSpPr>
          <p:nvPr/>
        </p:nvSpPr>
        <p:spPr>
          <a:xfrm>
            <a:off x="895350" y="37814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12" name="txt-0.7810085726552701"/>
          <p:cNvSpPr>
            <a:spLocks noGrp="1"/>
          </p:cNvSpPr>
          <p:nvPr/>
        </p:nvSpPr>
        <p:spPr>
          <a:xfrm>
            <a:off x="1104900" y="37242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CIO 终审全部结果，并直接评价负责人本人。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4" name="txt-0.3559615729322555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绩效规则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txt-0.4527659338061204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130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5428141602721136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绩效规则</a:t>
            </a:r>
            <a:endParaRPr sz="975" b="1">
              <a:solidFill>
                <a:srgbClr val="F4A34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9107058867127593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外部业务满意度必须先录原数据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6816080574284874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不能直接把“业务感觉”写成覆盖分。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6" name="txt-0.125278163373434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按业务服务域录入，记录评价人、部门、原始分、量表、说明和证据。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8" name="txt-0.17314596578383978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raw_score/raw_scale → normalized_score = raw_score/raw_scale×100。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10" name="txt-0.06715561330278486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只对业务域负责人、备份负责人和该域 IT BP 生效，不扩散到开发/运维。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24953222391753938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绩效规则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1828815937060948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131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xt-0.7474317656755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绩效规则</a:t>
            </a:r>
            <a:endParaRPr sz="975" b="1">
              <a:solidFill>
                <a:srgbClr val="24A67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8019444892807626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内外部满意度组合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formula"/>
          <p:cNvSpPr>
            <a:spLocks noGrp="1"/>
          </p:cNvSpPr>
          <p:nvPr/>
        </p:nvSpPr>
        <p:spPr>
          <a:xfrm>
            <a:off x="819150" y="2095500"/>
            <a:ext cx="10382250" cy="1047750"/>
          </a:xfrm>
          <a:prstGeom prst="roundRect">
            <a:avLst>
              <a:gd name="adj" fmla="val 16364"/>
            </a:avLst>
          </a:prstGeom>
          <a:solidFill>
            <a:srgbClr val="EEF6FF"/>
          </a:solidFill>
          <a:ln w="0">
            <a:noFill/>
            <a:prstDash val="solid"/>
          </a:ln>
        </p:spPr>
      </p:sp>
      <p:sp>
        <p:nvSpPr>
          <p:cNvPr id="4" name="txt-0.08426170402093336"/>
          <p:cNvSpPr>
            <a:spLocks noGrp="1"/>
          </p:cNvSpPr>
          <p:nvPr/>
        </p:nvSpPr>
        <p:spPr>
          <a:xfrm>
            <a:off x="1095375" y="2438400"/>
            <a:ext cx="981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0970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1D4E8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1D4E8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组合满意度 = 内部 ITSM 满意度 ×内部权重 + 外部业务满意度 ×外部权重</a:t>
            </a:r>
            <a:endParaRPr sz="2100" b="1">
              <a:solidFill>
                <a:srgbClr val="1D4E8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meaning"/>
          <p:cNvSpPr>
            <a:spLocks noGrp="1"/>
          </p:cNvSpPr>
          <p:nvPr/>
        </p:nvSpPr>
        <p:spPr>
          <a:xfrm>
            <a:off x="1524000" y="3714750"/>
            <a:ext cx="9144000" cy="1123950"/>
          </a:xfrm>
          <a:prstGeom prst="roundRect">
            <a:avLst>
              <a:gd name="adj" fmla="val 13559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6" name="txt-0.19060479480869652"/>
          <p:cNvSpPr>
            <a:spLocks noGrp="1"/>
          </p:cNvSpPr>
          <p:nvPr/>
        </p:nvSpPr>
        <p:spPr>
          <a:xfrm>
            <a:off x="1847850" y="4038600"/>
            <a:ext cx="8496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当前配置默认 50% + 50%；缺一侧时按有效权重重新归一化。</a:t>
            </a:r>
            <a:endParaRPr sz="1425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8" name="txt-0.6601214563869388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绩效规则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txt-0.777925514274989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132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7" name="txt-0.8782917420562449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7C6AE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7C6AE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绩效规则</a:t>
            </a:r>
            <a:endParaRPr sz="975" b="1">
              <a:solidFill>
                <a:srgbClr val="7C6AE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7188666300438243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人效评分生命周期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flow"/>
          <p:cNvSpPr>
            <a:spLocks noGrp="1"/>
          </p:cNvSpPr>
          <p:nvPr/>
        </p:nvSpPr>
        <p:spPr>
          <a:xfrm>
            <a:off x="609600" y="2333625"/>
            <a:ext cx="1322614" cy="1524000"/>
          </a:xfrm>
          <a:prstGeom prst="roundRect">
            <a:avLst>
              <a:gd name="adj" fmla="val 11523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4" name="dot"/>
          <p:cNvSpPr>
            <a:spLocks noGrp="1"/>
          </p:cNvSpPr>
          <p:nvPr/>
        </p:nvSpPr>
        <p:spPr>
          <a:xfrm>
            <a:off x="781050" y="2524125"/>
            <a:ext cx="266700" cy="26670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5" name="txt-0.7840117888496081"/>
          <p:cNvSpPr>
            <a:spLocks noGrp="1"/>
          </p:cNvSpPr>
          <p:nvPr/>
        </p:nvSpPr>
        <p:spPr>
          <a:xfrm>
            <a:off x="78105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txt-0.8288330606247081"/>
          <p:cNvSpPr>
            <a:spLocks noGrp="1"/>
          </p:cNvSpPr>
          <p:nvPr/>
        </p:nvSpPr>
        <p:spPr>
          <a:xfrm>
            <a:off x="781050" y="2990850"/>
            <a:ext cx="979714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draft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txt-0.7766547027427012"/>
          <p:cNvSpPr>
            <a:spLocks noGrp="1"/>
          </p:cNvSpPr>
          <p:nvPr/>
        </p:nvSpPr>
        <p:spPr>
          <a:xfrm>
            <a:off x="781050" y="3409950"/>
            <a:ext cx="979714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草稿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arrow"/>
          <p:cNvSpPr>
            <a:spLocks noGrp="1"/>
          </p:cNvSpPr>
          <p:nvPr/>
        </p:nvSpPr>
        <p:spPr>
          <a:xfrm>
            <a:off x="1970314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9" name="flow"/>
          <p:cNvSpPr>
            <a:spLocks noGrp="1"/>
          </p:cNvSpPr>
          <p:nvPr/>
        </p:nvSpPr>
        <p:spPr>
          <a:xfrm>
            <a:off x="2103664" y="2333625"/>
            <a:ext cx="1322614" cy="1524000"/>
          </a:xfrm>
          <a:prstGeom prst="roundRect">
            <a:avLst>
              <a:gd name="adj" fmla="val 11523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10" name="dot"/>
          <p:cNvSpPr>
            <a:spLocks noGrp="1"/>
          </p:cNvSpPr>
          <p:nvPr/>
        </p:nvSpPr>
        <p:spPr>
          <a:xfrm>
            <a:off x="2275114" y="2524125"/>
            <a:ext cx="266700" cy="26670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11" name="txt-0.4626890889166153"/>
          <p:cNvSpPr>
            <a:spLocks noGrp="1"/>
          </p:cNvSpPr>
          <p:nvPr/>
        </p:nvSpPr>
        <p:spPr>
          <a:xfrm>
            <a:off x="2275114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txt-0.9272405346853783"/>
          <p:cNvSpPr>
            <a:spLocks noGrp="1"/>
          </p:cNvSpPr>
          <p:nvPr/>
        </p:nvSpPr>
        <p:spPr>
          <a:xfrm>
            <a:off x="2275114" y="2990850"/>
            <a:ext cx="979714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0272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auto_scored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7638847048526104"/>
          <p:cNvSpPr>
            <a:spLocks noGrp="1"/>
          </p:cNvSpPr>
          <p:nvPr/>
        </p:nvSpPr>
        <p:spPr>
          <a:xfrm>
            <a:off x="2275114" y="3409950"/>
            <a:ext cx="979714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系统初评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arrow"/>
          <p:cNvSpPr>
            <a:spLocks noGrp="1"/>
          </p:cNvSpPr>
          <p:nvPr/>
        </p:nvSpPr>
        <p:spPr>
          <a:xfrm>
            <a:off x="3464379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15" name="flow"/>
          <p:cNvSpPr>
            <a:spLocks noGrp="1"/>
          </p:cNvSpPr>
          <p:nvPr/>
        </p:nvSpPr>
        <p:spPr>
          <a:xfrm>
            <a:off x="3597729" y="2333625"/>
            <a:ext cx="1322614" cy="1524000"/>
          </a:xfrm>
          <a:prstGeom prst="roundRect">
            <a:avLst>
              <a:gd name="adj" fmla="val 11523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16" name="dot"/>
          <p:cNvSpPr>
            <a:spLocks noGrp="1"/>
          </p:cNvSpPr>
          <p:nvPr/>
        </p:nvSpPr>
        <p:spPr>
          <a:xfrm>
            <a:off x="3769179" y="2524125"/>
            <a:ext cx="266700" cy="26670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17" name="txt-0.6932771949374968"/>
          <p:cNvSpPr>
            <a:spLocks noGrp="1"/>
          </p:cNvSpPr>
          <p:nvPr/>
        </p:nvSpPr>
        <p:spPr>
          <a:xfrm>
            <a:off x="3769179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txt-0.4391936075874757"/>
          <p:cNvSpPr>
            <a:spLocks noGrp="1"/>
          </p:cNvSpPr>
          <p:nvPr/>
        </p:nvSpPr>
        <p:spPr>
          <a:xfrm>
            <a:off x="3769179" y="2990850"/>
            <a:ext cx="979714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0972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external_input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txt-0.12533603655542735"/>
          <p:cNvSpPr>
            <a:spLocks noGrp="1"/>
          </p:cNvSpPr>
          <p:nvPr/>
        </p:nvSpPr>
        <p:spPr>
          <a:xfrm>
            <a:off x="3769179" y="3409950"/>
            <a:ext cx="979714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外部原数据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arrow"/>
          <p:cNvSpPr>
            <a:spLocks noGrp="1"/>
          </p:cNvSpPr>
          <p:nvPr/>
        </p:nvSpPr>
        <p:spPr>
          <a:xfrm>
            <a:off x="4958443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21" name="flow"/>
          <p:cNvSpPr>
            <a:spLocks noGrp="1"/>
          </p:cNvSpPr>
          <p:nvPr/>
        </p:nvSpPr>
        <p:spPr>
          <a:xfrm>
            <a:off x="5091793" y="2333625"/>
            <a:ext cx="1322614" cy="1524000"/>
          </a:xfrm>
          <a:prstGeom prst="roundRect">
            <a:avLst>
              <a:gd name="adj" fmla="val 11523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22" name="dot"/>
          <p:cNvSpPr>
            <a:spLocks noGrp="1"/>
          </p:cNvSpPr>
          <p:nvPr/>
        </p:nvSpPr>
        <p:spPr>
          <a:xfrm>
            <a:off x="5263243" y="2524125"/>
            <a:ext cx="266700" cy="26670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23" name="txt-0.7803421727081944"/>
          <p:cNvSpPr>
            <a:spLocks noGrp="1"/>
          </p:cNvSpPr>
          <p:nvPr/>
        </p:nvSpPr>
        <p:spPr>
          <a:xfrm>
            <a:off x="5263243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" name="txt-0.5320395752228955"/>
          <p:cNvSpPr>
            <a:spLocks noGrp="1"/>
          </p:cNvSpPr>
          <p:nvPr/>
        </p:nvSpPr>
        <p:spPr>
          <a:xfrm>
            <a:off x="5263243" y="2990850"/>
            <a:ext cx="979714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3192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manager_review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" name="txt-0.04206076506561818"/>
          <p:cNvSpPr>
            <a:spLocks noGrp="1"/>
          </p:cNvSpPr>
          <p:nvPr/>
        </p:nvSpPr>
        <p:spPr>
          <a:xfrm>
            <a:off x="5263243" y="3409950"/>
            <a:ext cx="979714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负责人初评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" name="arrow"/>
          <p:cNvSpPr>
            <a:spLocks noGrp="1"/>
          </p:cNvSpPr>
          <p:nvPr/>
        </p:nvSpPr>
        <p:spPr>
          <a:xfrm>
            <a:off x="6452507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27" name="flow"/>
          <p:cNvSpPr>
            <a:spLocks noGrp="1"/>
          </p:cNvSpPr>
          <p:nvPr/>
        </p:nvSpPr>
        <p:spPr>
          <a:xfrm>
            <a:off x="6585857" y="2333625"/>
            <a:ext cx="1322614" cy="1524000"/>
          </a:xfrm>
          <a:prstGeom prst="roundRect">
            <a:avLst>
              <a:gd name="adj" fmla="val 11523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28" name="dot"/>
          <p:cNvSpPr>
            <a:spLocks noGrp="1"/>
          </p:cNvSpPr>
          <p:nvPr/>
        </p:nvSpPr>
        <p:spPr>
          <a:xfrm>
            <a:off x="6757307" y="2524125"/>
            <a:ext cx="266700" cy="26670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29" name="txt-0.758631378765441"/>
          <p:cNvSpPr>
            <a:spLocks noGrp="1"/>
          </p:cNvSpPr>
          <p:nvPr/>
        </p:nvSpPr>
        <p:spPr>
          <a:xfrm>
            <a:off x="6757307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" name="txt-0.6906562411448411"/>
          <p:cNvSpPr>
            <a:spLocks noGrp="1"/>
          </p:cNvSpPr>
          <p:nvPr/>
        </p:nvSpPr>
        <p:spPr>
          <a:xfrm>
            <a:off x="6757307" y="2990850"/>
            <a:ext cx="979714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cio_review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1" name="txt-0.9338776608525456"/>
          <p:cNvSpPr>
            <a:spLocks noGrp="1"/>
          </p:cNvSpPr>
          <p:nvPr/>
        </p:nvSpPr>
        <p:spPr>
          <a:xfrm>
            <a:off x="6757307" y="3409950"/>
            <a:ext cx="979714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CIO 终审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2" name="arrow"/>
          <p:cNvSpPr>
            <a:spLocks noGrp="1"/>
          </p:cNvSpPr>
          <p:nvPr/>
        </p:nvSpPr>
        <p:spPr>
          <a:xfrm>
            <a:off x="7946571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33" name="flow"/>
          <p:cNvSpPr>
            <a:spLocks noGrp="1"/>
          </p:cNvSpPr>
          <p:nvPr/>
        </p:nvSpPr>
        <p:spPr>
          <a:xfrm>
            <a:off x="8079921" y="2333625"/>
            <a:ext cx="1322614" cy="1524000"/>
          </a:xfrm>
          <a:prstGeom prst="roundRect">
            <a:avLst>
              <a:gd name="adj" fmla="val 11523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34" name="dot"/>
          <p:cNvSpPr>
            <a:spLocks noGrp="1"/>
          </p:cNvSpPr>
          <p:nvPr/>
        </p:nvSpPr>
        <p:spPr>
          <a:xfrm>
            <a:off x="8251371" y="2524125"/>
            <a:ext cx="266700" cy="26670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35" name="txt-0.48654939389038776"/>
          <p:cNvSpPr>
            <a:spLocks noGrp="1"/>
          </p:cNvSpPr>
          <p:nvPr/>
        </p:nvSpPr>
        <p:spPr>
          <a:xfrm>
            <a:off x="8251371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6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6" name="txt-0.43742501568209013"/>
          <p:cNvSpPr>
            <a:spLocks noGrp="1"/>
          </p:cNvSpPr>
          <p:nvPr/>
        </p:nvSpPr>
        <p:spPr>
          <a:xfrm>
            <a:off x="8251371" y="2990850"/>
            <a:ext cx="979714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published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7" name="txt-0.17973437787178448"/>
          <p:cNvSpPr>
            <a:spLocks noGrp="1"/>
          </p:cNvSpPr>
          <p:nvPr/>
        </p:nvSpPr>
        <p:spPr>
          <a:xfrm>
            <a:off x="8251371" y="3409950"/>
            <a:ext cx="979714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发布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8" name="arrow"/>
          <p:cNvSpPr>
            <a:spLocks noGrp="1"/>
          </p:cNvSpPr>
          <p:nvPr/>
        </p:nvSpPr>
        <p:spPr>
          <a:xfrm>
            <a:off x="9440636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39" name="flow"/>
          <p:cNvSpPr>
            <a:spLocks noGrp="1"/>
          </p:cNvSpPr>
          <p:nvPr/>
        </p:nvSpPr>
        <p:spPr>
          <a:xfrm>
            <a:off x="9573986" y="2333625"/>
            <a:ext cx="1322614" cy="1524000"/>
          </a:xfrm>
          <a:prstGeom prst="roundRect">
            <a:avLst>
              <a:gd name="adj" fmla="val 11523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40" name="dot"/>
          <p:cNvSpPr>
            <a:spLocks noGrp="1"/>
          </p:cNvSpPr>
          <p:nvPr/>
        </p:nvSpPr>
        <p:spPr>
          <a:xfrm>
            <a:off x="9745436" y="2524125"/>
            <a:ext cx="266700" cy="26670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41" name="txt-0.9455767515636784"/>
          <p:cNvSpPr>
            <a:spLocks noGrp="1"/>
          </p:cNvSpPr>
          <p:nvPr/>
        </p:nvSpPr>
        <p:spPr>
          <a:xfrm>
            <a:off x="9745436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7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2" name="txt-0.4392999021362729"/>
          <p:cNvSpPr>
            <a:spLocks noGrp="1"/>
          </p:cNvSpPr>
          <p:nvPr/>
        </p:nvSpPr>
        <p:spPr>
          <a:xfrm>
            <a:off x="9745436" y="2990850"/>
            <a:ext cx="979714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locked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3" name="txt-0.2500639866936224"/>
          <p:cNvSpPr>
            <a:spLocks noGrp="1"/>
          </p:cNvSpPr>
          <p:nvPr/>
        </p:nvSpPr>
        <p:spPr>
          <a:xfrm>
            <a:off x="9745436" y="3409950"/>
            <a:ext cx="979714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锁定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4" name="直接连接符 43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45" name="txt-0.7364565790516616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绩效规则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6" name="txt-0.043307777308790874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133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txt-0.5173844996351272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1D4E8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1D4E8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绩效规则</a:t>
            </a:r>
            <a:endParaRPr sz="975" b="1">
              <a:solidFill>
                <a:srgbClr val="1D4E8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017815924788153192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为什么要保存 system / manager / CIO 三个层次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1020177131891794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同一个“最终分”必须知道是怎么来的。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1D4E89"/>
          </a:solidFill>
          <a:ln w="9525">
            <a:solidFill>
              <a:srgbClr val="1D4E89"/>
            </a:solidFill>
            <a:prstDash val="solid"/>
          </a:ln>
        </p:spPr>
      </p:sp>
      <p:sp>
        <p:nvSpPr>
          <p:cNvPr id="6" name="txt-0.6167578117194301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system_score：代码和规则自动取数得到的参考分。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1D4E89"/>
          </a:solidFill>
          <a:ln w="9525">
            <a:solidFill>
              <a:srgbClr val="1D4E89"/>
            </a:solidFill>
            <a:prstDash val="solid"/>
          </a:ln>
        </p:spPr>
      </p:sp>
      <p:sp>
        <p:nvSpPr>
          <p:cNvPr id="8" name="txt-0.7138380041585004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manager_scores：多个评审人可按 evaluator_weights 汇总。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1D4E89"/>
          </a:solidFill>
          <a:ln w="9525">
            <a:solidFill>
              <a:srgbClr val="1D4E89"/>
            </a:solidFill>
            <a:prstDash val="solid"/>
          </a:ln>
        </p:spPr>
      </p:sp>
      <p:sp>
        <p:nvSpPr>
          <p:cNvPr id="10" name="txt-0.4365215622277988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business_manager_score / professional_manager_score：对应线的生效建议。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dot"/>
          <p:cNvSpPr>
            <a:spLocks noGrp="1"/>
          </p:cNvSpPr>
          <p:nvPr/>
        </p:nvSpPr>
        <p:spPr>
          <a:xfrm>
            <a:off x="895350" y="3781425"/>
            <a:ext cx="95250" cy="95250"/>
          </a:xfrm>
          <a:prstGeom prst="ellipse">
            <a:avLst/>
          </a:prstGeom>
          <a:solidFill>
            <a:srgbClr val="1D4E89"/>
          </a:solidFill>
          <a:ln w="9525">
            <a:solidFill>
              <a:srgbClr val="1D4E89"/>
            </a:solidFill>
            <a:prstDash val="solid"/>
          </a:ln>
        </p:spPr>
      </p:sp>
      <p:sp>
        <p:nvSpPr>
          <p:cNvPr id="12" name="txt-0.0894104018261993"/>
          <p:cNvSpPr>
            <a:spLocks noGrp="1"/>
          </p:cNvSpPr>
          <p:nvPr/>
        </p:nvSpPr>
        <p:spPr>
          <a:xfrm>
            <a:off x="1104900" y="37242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cio_score：CIO 终审覆盖；最终生效分按优先级解析。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4" name="txt-0.3028553970428606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绩效规则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txt-0.4232079047706081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134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7455625885969044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E56B6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E56B6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绩效规则</a:t>
            </a:r>
            <a:endParaRPr sz="975" b="1">
              <a:solidFill>
                <a:srgbClr val="E56B6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02578558091107941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发布后不能静默修改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5969599637152264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发布结果是历史事实。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E56B6F"/>
          </a:solidFill>
          <a:ln w="9525">
            <a:solidFill>
              <a:srgbClr val="E56B6F"/>
            </a:solidFill>
            <a:prstDash val="solid"/>
          </a:ln>
        </p:spPr>
      </p:sp>
      <p:sp>
        <p:nvSpPr>
          <p:cNvPr id="6" name="txt-0.6188764572821341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发布写 PerformanceScore 快照，包含角色、维度、团队贡献和调整项。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E56B6F"/>
          </a:solidFill>
          <a:ln w="9525">
            <a:solidFill>
              <a:srgbClr val="E56B6F"/>
            </a:solidFill>
            <a:prstDash val="solid"/>
          </a:ln>
        </p:spPr>
      </p:sp>
      <p:sp>
        <p:nvSpPr>
          <p:cNvPr id="8" name="txt-0.31296388368818084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发布后调整必须解锁并生成新 version，旧版本标记 locked。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E56B6F"/>
          </a:solidFill>
          <a:ln w="9525">
            <a:solidFill>
              <a:srgbClr val="E56B6F"/>
            </a:solidFill>
            <a:prstDash val="solid"/>
          </a:ln>
        </p:spPr>
      </p:sp>
      <p:sp>
        <p:nvSpPr>
          <p:cNvPr id="10" name="txt-0.01946005716288879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被评价者只看到发布后的最终结果，不看到未发布的内部评审明细。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08041086813471865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绩效规则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46627907789755274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135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txt-0.3885236257743764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规则治理</a:t>
            </a:r>
            <a:endParaRPr sz="975" b="1">
              <a:solidFill>
                <a:srgbClr val="F4A34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3676963207709416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规则修改的影响范围与本次口径纠正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24490904989456586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管理员修改规则前，先判断它影响现在还是未来，并确认评分桶。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6" name="txt-0.22211591541351372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本次纠正：PointRule 与 PointEntry 共用流水，不等于共用评分桶；ITSM结果明确归 role_result。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8" name="txt-0.1670117586318286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代码依据：award() 统一写入；perf_bplus._team_contribution_scores() 只取 team_contribution。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10" name="txt-0.05245436701888062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旧 perf.py 的 activity_points 仅兼容旧岗位方案，不代表当前 B+ 总览。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dot"/>
          <p:cNvSpPr>
            <a:spLocks noGrp="1"/>
          </p:cNvSpPr>
          <p:nvPr/>
        </p:nvSpPr>
        <p:spPr>
          <a:xfrm>
            <a:off x="895350" y="37814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12" name="txt-0.7981694843477413"/>
          <p:cNvSpPr>
            <a:spLocks noGrp="1"/>
          </p:cNvSpPr>
          <p:nvPr/>
        </p:nvSpPr>
        <p:spPr>
          <a:xfrm>
            <a:off x="1104900" y="37242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角色计分规则变更：新周期读取新规则，已发布周期保留 rule_snapshot。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4" name="txt-0.20916759441947386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规则治理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txt-0.09567104356629208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136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txt-0.20811897133882384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规则治理</a:t>
            </a:r>
            <a:endParaRPr sz="975" b="1">
              <a:solidFill>
                <a:srgbClr val="3D8D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529441464804009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服务器端约束是系统可信的底线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49403116699019645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页面能做到的，后端也必须做到。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6" name="txt-0.658164896792471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功能权限：require_perm。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8" name="txt-0.5738944136236952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数据范围：team_scope、业务域与人员选择校验。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0" name="txt-0.5376097798418167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流程动作：can_act_on_task、allowed_roles、步骤处理人守卫。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dot"/>
          <p:cNvSpPr>
            <a:spLocks noGrp="1"/>
          </p:cNvSpPr>
          <p:nvPr/>
        </p:nvSpPr>
        <p:spPr>
          <a:xfrm>
            <a:off x="895350" y="3781425"/>
            <a:ext cx="95250" cy="952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2" name="txt-0.8885163637095893"/>
          <p:cNvSpPr>
            <a:spLocks noGrp="1"/>
          </p:cNvSpPr>
          <p:nvPr/>
        </p:nvSpPr>
        <p:spPr>
          <a:xfrm>
            <a:off x="1104900" y="37242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审计：写操作统一记录；幂等事件避免重复计分。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4" name="txt-0.4860702129123379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规则治理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txt-0.1931221105240496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137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txt-0.04515280507022512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规则治理</a:t>
            </a:r>
            <a:endParaRPr sz="975" b="1">
              <a:solidFill>
                <a:srgbClr val="24A67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5521538940468972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规则配置练习：活动积分 vs 角色计分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2721670584181318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把需求放到正确页面，避免把 ITSM 结果改成活动积分。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6" name="txt-0.7365235632639875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调整“建言被采纳”分值 → 活动积分 → 积分规则。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8" name="txt-0.06376515768879187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调整 it_ops 的变更合规权重 → 人效评分 → 计分规则。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10" name="txt-0.6858747020797674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调整团队贡献维度目标/权重 → 活动积分 → 积分规则；两类规则互不替代。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dot"/>
          <p:cNvSpPr>
            <a:spLocks noGrp="1"/>
          </p:cNvSpPr>
          <p:nvPr/>
        </p:nvSpPr>
        <p:spPr>
          <a:xfrm>
            <a:off x="895350" y="37814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12" name="txt-0.33524762563504695"/>
          <p:cNvSpPr>
            <a:spLocks noGrp="1"/>
          </p:cNvSpPr>
          <p:nvPr/>
        </p:nvSpPr>
        <p:spPr>
          <a:xfrm>
            <a:off x="1104900" y="37242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调整 ticket_service / requirement_delivery / project_delivery 取数 → 人效评分 → 计分规则。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4" name="txt-0.8728393489540073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规则治理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txt-0.11296017015797466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138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section"/>
          <p:cNvSpPr>
            <a:spLocks noGrp="1"/>
          </p:cNvSpPr>
          <p:nvPr/>
        </p:nvSpPr>
        <p:spPr>
          <a:xfrm>
            <a:off x="0" y="0"/>
            <a:ext cx="3524250" cy="6858000"/>
          </a:xfrm>
          <a:prstGeom prst="roundRect">
            <a:avLst>
              <a:gd name="adj" fmla="val 2162"/>
            </a:avLst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" name="txt-0.24823307194646138"/>
          <p:cNvSpPr>
            <a:spLocks noGrp="1"/>
          </p:cNvSpPr>
          <p:nvPr/>
        </p:nvSpPr>
        <p:spPr>
          <a:xfrm>
            <a:off x="628650" y="800100"/>
            <a:ext cx="2190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2220"/>
          </a:bodyPr>
          <a:lstStyle/>
          <a:p>
            <a:pPr algn="l">
              <a:lnSpc>
                <a:spcPct val="106000"/>
              </a:lnSpc>
              <a:buNone/>
              <a:defRPr sz="72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72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139</a:t>
            </a:r>
            <a:endParaRPr sz="72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9631702921422569"/>
          <p:cNvSpPr>
            <a:spLocks noGrp="1"/>
          </p:cNvSpPr>
          <p:nvPr/>
        </p:nvSpPr>
        <p:spPr>
          <a:xfrm>
            <a:off x="647700" y="22098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0363"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ITOM 系统培训</a:t>
            </a:r>
            <a:endParaRPr sz="135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txt-0.6447163131417976"/>
          <p:cNvSpPr>
            <a:spLocks noGrp="1"/>
          </p:cNvSpPr>
          <p:nvPr/>
        </p:nvSpPr>
        <p:spPr>
          <a:xfrm>
            <a:off x="4057650" y="1543050"/>
            <a:ext cx="7048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5101"/>
          </a:bodyPr>
          <a:lstStyle/>
          <a:p>
            <a:pPr algn="l">
              <a:lnSpc>
                <a:spcPct val="92000"/>
              </a:lnSpc>
              <a:buNone/>
              <a:defRPr sz="39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9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第七章｜未来 Agent 与落地练习</a:t>
            </a:r>
            <a:endParaRPr sz="39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txt-0.5805759165646316"/>
          <p:cNvSpPr>
            <a:spLocks noGrp="1"/>
          </p:cNvSpPr>
          <p:nvPr/>
        </p:nvSpPr>
        <p:spPr>
          <a:xfrm>
            <a:off x="4057650" y="2533650"/>
            <a:ext cx="6953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25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Agent 可以做入口和补问，但不能绕过权限、流程、审计和人工兜底。</a:t>
            </a:r>
            <a:endParaRPr sz="1725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4057650" y="3752850"/>
            <a:ext cx="6610350" cy="0"/>
          </a:xfrm>
          <a:prstGeom prst="line">
            <a:avLst/>
          </a:prstGeom>
          <a:noFill/>
          <a:ln w="28575">
            <a:solidFill>
              <a:srgbClr val="3D8DFF"/>
            </a:solidFill>
            <a:prstDash val="solid"/>
          </a:ln>
        </p:spPr>
      </p:sp>
      <p:sp>
        <p:nvSpPr>
          <p:cNvPr id="7" name="txt-0.23492408430203493"/>
          <p:cNvSpPr>
            <a:spLocks noGrp="1"/>
          </p:cNvSpPr>
          <p:nvPr/>
        </p:nvSpPr>
        <p:spPr>
          <a:xfrm>
            <a:off x="4057650" y="4038600"/>
            <a:ext cx="657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2684"/>
          </a:bodyPr>
          <a:lstStyle/>
          <a:p>
            <a:pPr algn="l">
              <a:lnSpc>
                <a:spcPct val="106000"/>
              </a:lnSpc>
              <a:buNone/>
              <a:defRPr sz="1425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课程原则：先理解概念，再看系统如何落地，最后练习如何判断。</a:t>
            </a:r>
            <a:endParaRPr sz="1425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8039403598435232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未来态</a:t>
            </a:r>
            <a:endParaRPr sz="975" b="1">
              <a:solidFill>
                <a:srgbClr val="F4A34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7785724940626022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Feishu IT 服务小助手与 Agent 当前尚未真正接入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1778294030112929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培训中必须把设想和现状分开。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6" name="txt-0.9081152689995505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当前系统真实入口是 ITOM 登录后的服务门户、工作台和各业务模块。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8" name="txt-0.06248888839606859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未来 Agent 负责理解自然语言、补问关键字段、调用系统 API。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10" name="txt-0.9746418139096166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流程、权限、状态和审计仍由 ITOM 后端负责。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02543615596349924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未来态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49180036918191194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140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5" name="txt-0.27284441185755615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未来态</a:t>
            </a:r>
            <a:endParaRPr sz="975" b="1">
              <a:solidFill>
                <a:srgbClr val="3D8D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07811710189035226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Agent 的推荐分流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flow"/>
          <p:cNvSpPr>
            <a:spLocks noGrp="1"/>
          </p:cNvSpPr>
          <p:nvPr/>
        </p:nvSpPr>
        <p:spPr>
          <a:xfrm>
            <a:off x="609600" y="2333625"/>
            <a:ext cx="1920240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4" name="dot"/>
          <p:cNvSpPr>
            <a:spLocks noGrp="1"/>
          </p:cNvSpPr>
          <p:nvPr/>
        </p:nvSpPr>
        <p:spPr>
          <a:xfrm>
            <a:off x="781050" y="2524125"/>
            <a:ext cx="266700" cy="26670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5" name="txt-0.3623720458164986"/>
          <p:cNvSpPr>
            <a:spLocks noGrp="1"/>
          </p:cNvSpPr>
          <p:nvPr/>
        </p:nvSpPr>
        <p:spPr>
          <a:xfrm>
            <a:off x="78105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txt-0.590787272912872"/>
          <p:cNvSpPr>
            <a:spLocks noGrp="1"/>
          </p:cNvSpPr>
          <p:nvPr/>
        </p:nvSpPr>
        <p:spPr>
          <a:xfrm>
            <a:off x="781050" y="2990850"/>
            <a:ext cx="157734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标准服务？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txt-0.45950743479554745"/>
          <p:cNvSpPr>
            <a:spLocks noGrp="1"/>
          </p:cNvSpPr>
          <p:nvPr/>
        </p:nvSpPr>
        <p:spPr>
          <a:xfrm>
            <a:off x="781050" y="3409950"/>
            <a:ext cx="157734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服务请求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arrow"/>
          <p:cNvSpPr>
            <a:spLocks noGrp="1"/>
          </p:cNvSpPr>
          <p:nvPr/>
        </p:nvSpPr>
        <p:spPr>
          <a:xfrm>
            <a:off x="2567940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9" name="flow"/>
          <p:cNvSpPr>
            <a:spLocks noGrp="1"/>
          </p:cNvSpPr>
          <p:nvPr/>
        </p:nvSpPr>
        <p:spPr>
          <a:xfrm>
            <a:off x="2701290" y="2333625"/>
            <a:ext cx="1920240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10" name="dot"/>
          <p:cNvSpPr>
            <a:spLocks noGrp="1"/>
          </p:cNvSpPr>
          <p:nvPr/>
        </p:nvSpPr>
        <p:spPr>
          <a:xfrm>
            <a:off x="2872740" y="2524125"/>
            <a:ext cx="266700" cy="26670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1" name="txt-0.7162925404283073"/>
          <p:cNvSpPr>
            <a:spLocks noGrp="1"/>
          </p:cNvSpPr>
          <p:nvPr/>
        </p:nvSpPr>
        <p:spPr>
          <a:xfrm>
            <a:off x="287274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txt-0.1323685511564694"/>
          <p:cNvSpPr>
            <a:spLocks noGrp="1"/>
          </p:cNvSpPr>
          <p:nvPr/>
        </p:nvSpPr>
        <p:spPr>
          <a:xfrm>
            <a:off x="2872740" y="2990850"/>
            <a:ext cx="157734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已受影响？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6938160840103397"/>
          <p:cNvSpPr>
            <a:spLocks noGrp="1"/>
          </p:cNvSpPr>
          <p:nvPr/>
        </p:nvSpPr>
        <p:spPr>
          <a:xfrm>
            <a:off x="2872740" y="3409950"/>
            <a:ext cx="157734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事件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arrow"/>
          <p:cNvSpPr>
            <a:spLocks noGrp="1"/>
          </p:cNvSpPr>
          <p:nvPr/>
        </p:nvSpPr>
        <p:spPr>
          <a:xfrm>
            <a:off x="4659630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15" name="flow"/>
          <p:cNvSpPr>
            <a:spLocks noGrp="1"/>
          </p:cNvSpPr>
          <p:nvPr/>
        </p:nvSpPr>
        <p:spPr>
          <a:xfrm>
            <a:off x="4792980" y="2333625"/>
            <a:ext cx="1920240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16" name="dot"/>
          <p:cNvSpPr>
            <a:spLocks noGrp="1"/>
          </p:cNvSpPr>
          <p:nvPr/>
        </p:nvSpPr>
        <p:spPr>
          <a:xfrm>
            <a:off x="4964430" y="2524125"/>
            <a:ext cx="266700" cy="26670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7" name="txt-0.3354202237121062"/>
          <p:cNvSpPr>
            <a:spLocks noGrp="1"/>
          </p:cNvSpPr>
          <p:nvPr/>
        </p:nvSpPr>
        <p:spPr>
          <a:xfrm>
            <a:off x="496443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txt-0.5002490749245057"/>
          <p:cNvSpPr>
            <a:spLocks noGrp="1"/>
          </p:cNvSpPr>
          <p:nvPr/>
        </p:nvSpPr>
        <p:spPr>
          <a:xfrm>
            <a:off x="4964430" y="2990850"/>
            <a:ext cx="157734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计划改变？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txt-0.19508396286826934"/>
          <p:cNvSpPr>
            <a:spLocks noGrp="1"/>
          </p:cNvSpPr>
          <p:nvPr/>
        </p:nvSpPr>
        <p:spPr>
          <a:xfrm>
            <a:off x="4964430" y="3409950"/>
            <a:ext cx="157734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变更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arrow"/>
          <p:cNvSpPr>
            <a:spLocks noGrp="1"/>
          </p:cNvSpPr>
          <p:nvPr/>
        </p:nvSpPr>
        <p:spPr>
          <a:xfrm>
            <a:off x="6751320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21" name="flow"/>
          <p:cNvSpPr>
            <a:spLocks noGrp="1"/>
          </p:cNvSpPr>
          <p:nvPr/>
        </p:nvSpPr>
        <p:spPr>
          <a:xfrm>
            <a:off x="6884670" y="2333625"/>
            <a:ext cx="1920240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22" name="dot"/>
          <p:cNvSpPr>
            <a:spLocks noGrp="1"/>
          </p:cNvSpPr>
          <p:nvPr/>
        </p:nvSpPr>
        <p:spPr>
          <a:xfrm>
            <a:off x="7056120" y="2524125"/>
            <a:ext cx="266700" cy="26670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23" name="txt-0.1794836055845278"/>
          <p:cNvSpPr>
            <a:spLocks noGrp="1"/>
          </p:cNvSpPr>
          <p:nvPr/>
        </p:nvSpPr>
        <p:spPr>
          <a:xfrm>
            <a:off x="705612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" name="txt-0.2832762396563049"/>
          <p:cNvSpPr>
            <a:spLocks noGrp="1"/>
          </p:cNvSpPr>
          <p:nvPr/>
        </p:nvSpPr>
        <p:spPr>
          <a:xfrm>
            <a:off x="7056120" y="2990850"/>
            <a:ext cx="157734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反复根因？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" name="txt-0.11204927873241233"/>
          <p:cNvSpPr>
            <a:spLocks noGrp="1"/>
          </p:cNvSpPr>
          <p:nvPr/>
        </p:nvSpPr>
        <p:spPr>
          <a:xfrm>
            <a:off x="7056120" y="3409950"/>
            <a:ext cx="157734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问题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" name="arrow"/>
          <p:cNvSpPr>
            <a:spLocks noGrp="1"/>
          </p:cNvSpPr>
          <p:nvPr/>
        </p:nvSpPr>
        <p:spPr>
          <a:xfrm>
            <a:off x="8843010" y="2990850"/>
            <a:ext cx="133350" cy="266700"/>
          </a:xfrm>
          <a:prstGeom prst="rightArrow">
            <a:avLst/>
          </a:prstGeom>
          <a:solidFill>
            <a:srgbClr val="B9C3CB"/>
          </a:solidFill>
          <a:ln w="0">
            <a:noFill/>
            <a:prstDash val="solid"/>
          </a:ln>
        </p:spPr>
      </p:sp>
      <p:sp>
        <p:nvSpPr>
          <p:cNvPr id="27" name="flow"/>
          <p:cNvSpPr>
            <a:spLocks noGrp="1"/>
          </p:cNvSpPr>
          <p:nvPr/>
        </p:nvSpPr>
        <p:spPr>
          <a:xfrm>
            <a:off x="8976360" y="2333625"/>
            <a:ext cx="1920240" cy="1524000"/>
          </a:xfrm>
          <a:prstGeom prst="roundRect">
            <a:avLst>
              <a:gd name="adj" fmla="val 1000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28" name="dot"/>
          <p:cNvSpPr>
            <a:spLocks noGrp="1"/>
          </p:cNvSpPr>
          <p:nvPr/>
        </p:nvSpPr>
        <p:spPr>
          <a:xfrm>
            <a:off x="9147810" y="2524125"/>
            <a:ext cx="266700" cy="26670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29" name="txt-0.6085188164947924"/>
          <p:cNvSpPr>
            <a:spLocks noGrp="1"/>
          </p:cNvSpPr>
          <p:nvPr/>
        </p:nvSpPr>
        <p:spPr>
          <a:xfrm>
            <a:off x="9147810" y="25908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0798"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" name="txt-0.07279164613757294"/>
          <p:cNvSpPr>
            <a:spLocks noGrp="1"/>
          </p:cNvSpPr>
          <p:nvPr/>
        </p:nvSpPr>
        <p:spPr>
          <a:xfrm>
            <a:off x="9147810" y="2990850"/>
            <a:ext cx="157734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2327"/>
          </a:bodyPr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价值评估？</a:t>
            </a:r>
            <a:endParaRPr sz="15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1" name="txt-0.35516426877044893"/>
          <p:cNvSpPr>
            <a:spLocks noGrp="1"/>
          </p:cNvSpPr>
          <p:nvPr/>
        </p:nvSpPr>
        <p:spPr>
          <a:xfrm>
            <a:off x="9147810" y="3409950"/>
            <a:ext cx="157734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需求/项目</a:t>
            </a:r>
            <a:endParaRPr sz="105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2" name="直接连接符 31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33" name="txt-0.21239417701349517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未来态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4" name="txt-0.5881359549882246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141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xt-0.4702378223397705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E56B6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E56B6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未来态</a:t>
            </a:r>
            <a:endParaRPr sz="975" b="1">
              <a:solidFill>
                <a:srgbClr val="E56B6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21418063453481373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Agent 不能做的三件事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19872802329151484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自动化不是越多越好。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E56B6F"/>
          </a:solidFill>
          <a:ln w="9525">
            <a:solidFill>
              <a:srgbClr val="E56B6F"/>
            </a:solidFill>
            <a:prstDash val="solid"/>
          </a:ln>
        </p:spPr>
      </p:sp>
      <p:sp>
        <p:nvSpPr>
          <p:cNvPr id="6" name="txt-0.6618070217799742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不能用自然语言绕过 ticket_change 的权限。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E56B6F"/>
          </a:solidFill>
          <a:ln w="9525">
            <a:solidFill>
              <a:srgbClr val="E56B6F"/>
            </a:solidFill>
            <a:prstDash val="solid"/>
          </a:ln>
        </p:spPr>
      </p:sp>
      <p:sp>
        <p:nvSpPr>
          <p:cNvPr id="8" name="txt-0.7101315476331397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不能跳过变更审批或当前任务处理人。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E56B6F"/>
          </a:solidFill>
          <a:ln w="9525">
            <a:solidFill>
              <a:srgbClr val="E56B6F"/>
            </a:solidFill>
            <a:prstDash val="solid"/>
          </a:ln>
        </p:spPr>
      </p:sp>
      <p:sp>
        <p:nvSpPr>
          <p:cNvPr id="10" name="txt-0.9259738855390693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不能把猜测写进最终事实；缺字段就补问或转人工。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9820020960830833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未来态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8715818866459432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142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txt-0.9476852444684613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24A67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落地练习</a:t>
            </a:r>
            <a:endParaRPr sz="975" b="1">
              <a:solidFill>
                <a:srgbClr val="24A67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22536383725846043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练习一：判断五条输入属于什么单据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3885567972081462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先说判断依据，再说页面入口。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6" name="txt-0.48752297741776573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“给新员工开通邮箱和 VPN。” → 服务请求。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8" name="txt-0.8404930572082299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“订单系统现在所有人都打不开。” → 事件。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10" name="txt-0.3696231793056337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“周六升级生产数据库。” → 变更（发起人通常为 IT 运维/产品经理等 IT 角色）。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dot"/>
          <p:cNvSpPr>
            <a:spLocks noGrp="1"/>
          </p:cNvSpPr>
          <p:nvPr/>
        </p:nvSpPr>
        <p:spPr>
          <a:xfrm>
            <a:off x="895350" y="37814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12" name="txt-0.18001471536196567"/>
          <p:cNvSpPr>
            <a:spLocks noGrp="1"/>
          </p:cNvSpPr>
          <p:nvPr/>
        </p:nvSpPr>
        <p:spPr>
          <a:xfrm>
            <a:off x="1104900" y="37242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“这个错误每月结算都会复现。” → 问题。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dot"/>
          <p:cNvSpPr>
            <a:spLocks noGrp="1"/>
          </p:cNvSpPr>
          <p:nvPr/>
        </p:nvSpPr>
        <p:spPr>
          <a:xfrm>
            <a:off x="895350" y="4276725"/>
            <a:ext cx="95250" cy="95250"/>
          </a:xfrm>
          <a:prstGeom prst="ellipse">
            <a:avLst/>
          </a:prstGeom>
          <a:solidFill>
            <a:srgbClr val="24A67A"/>
          </a:solidFill>
          <a:ln w="9525">
            <a:solidFill>
              <a:srgbClr val="24A67A"/>
            </a:solidFill>
            <a:prstDash val="solid"/>
          </a:ln>
        </p:spPr>
      </p:sp>
      <p:sp>
        <p:nvSpPr>
          <p:cNvPr id="14" name="txt-0.3628472888827866"/>
          <p:cNvSpPr>
            <a:spLocks noGrp="1"/>
          </p:cNvSpPr>
          <p:nvPr/>
        </p:nvSpPr>
        <p:spPr>
          <a:xfrm>
            <a:off x="1104900" y="42195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“建设新的供应商准入门户。” → 需求，后续评估后可能转项目。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6" name="txt-0.5924056644164621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落地练习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txt-0.5591979345255678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143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txt-0.974244186684706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4A34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落地练习</a:t>
            </a:r>
            <a:endParaRPr sz="975" b="1">
              <a:solidFill>
                <a:srgbClr val="F4A34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7414122405354121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练习二：变更角色复述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16636186009363574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用当前运行时 change_flow 复述一遍，不要加入不存在的节点。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6" name="txt-0.13859089656304036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变更申请：it_ops。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8" name="txt-0.15745593683650605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变更审批：it_op_leader，it_bm 被知会；状态机允许 cio/it_tm/it_op_leader。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10" name="txt-0.5014079266292816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实施与验证：it_ops，当前节点无额外知会人。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dot"/>
          <p:cNvSpPr>
            <a:spLocks noGrp="1"/>
          </p:cNvSpPr>
          <p:nvPr/>
        </p:nvSpPr>
        <p:spPr>
          <a:xfrm>
            <a:off x="895350" y="3781425"/>
            <a:ext cx="95250" cy="95250"/>
          </a:xfrm>
          <a:prstGeom prst="ellipse">
            <a:avLst/>
          </a:prstGeom>
          <a:solidFill>
            <a:srgbClr val="F4A340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12" name="txt-0.5815960452607883"/>
          <p:cNvSpPr>
            <a:spLocks noGrp="1"/>
          </p:cNvSpPr>
          <p:nvPr/>
        </p:nvSpPr>
        <p:spPr>
          <a:xfrm>
            <a:off x="1104900" y="37242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变更复盘(PIR)：is_mgr，cio 被知会。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4" name="txt-0.8740161410545433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落地练习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txt-0.14986639330435503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144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txt-0.7057918889064203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7C6AE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7C6AE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落地练习</a:t>
            </a:r>
            <a:endParaRPr sz="975" b="1">
              <a:solidFill>
                <a:srgbClr val="7C6AE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535867550938266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练习三：从需求到开发或项目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632702423478893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说出系统依据。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6" name="txt-0.029218576696838028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先完成六维评分和评估决议。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8" name="txt-0.7233240751838828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方案是二次开发且人天 &lt; 阈值 → 转开发实现。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10" name="txt-0.8740307547000131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方案是新购或人天 ≥ 阈值 → 转项目管理。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dot"/>
          <p:cNvSpPr>
            <a:spLocks noGrp="1"/>
          </p:cNvSpPr>
          <p:nvPr/>
        </p:nvSpPr>
        <p:spPr>
          <a:xfrm>
            <a:off x="895350" y="3781425"/>
            <a:ext cx="95250" cy="95250"/>
          </a:xfrm>
          <a:prstGeom prst="ellipse">
            <a:avLst/>
          </a:prstGeom>
          <a:solidFill>
            <a:srgbClr val="7C6AE6"/>
          </a:solidFill>
          <a:ln w="9525">
            <a:solidFill>
              <a:srgbClr val="7C6AE6"/>
            </a:solidFill>
            <a:prstDash val="solid"/>
          </a:ln>
        </p:spPr>
      </p:sp>
      <p:sp>
        <p:nvSpPr>
          <p:cNvPr id="12" name="txt-0.015355276420219277"/>
          <p:cNvSpPr>
            <a:spLocks noGrp="1"/>
          </p:cNvSpPr>
          <p:nvPr/>
        </p:nvSpPr>
        <p:spPr>
          <a:xfrm>
            <a:off x="1104900" y="37242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项目验收关闭后，需求回到验收与闭环并自动关闭（验收清单完整时）。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4" name="txt-0.28557081018048225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落地练习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txt-0.55178317786514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145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txt-0.6216309547945039"/>
          <p:cNvSpPr>
            <a:spLocks noGrp="1"/>
          </p:cNvSpPr>
          <p:nvPr/>
        </p:nvSpPr>
        <p:spPr>
          <a:xfrm>
            <a:off x="609600" y="323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4988"/>
          </a:bodyPr>
          <a:lstStyle/>
          <a:p>
            <a:pPr algn="l">
              <a:lnSpc>
                <a:spcPct val="106000"/>
              </a:lnSpc>
              <a:buNone/>
              <a:defRPr sz="975" b="1">
                <a:solidFill>
                  <a:srgbClr val="1D4E8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1D4E8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结课检查</a:t>
            </a:r>
            <a:endParaRPr sz="975" b="1">
              <a:solidFill>
                <a:srgbClr val="1D4E8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txt-0.36399241859223974"/>
          <p:cNvSpPr>
            <a:spLocks noGrp="1"/>
          </p:cNvSpPr>
          <p:nvPr/>
        </p:nvSpPr>
        <p:spPr>
          <a:xfrm>
            <a:off x="609600" y="647700"/>
            <a:ext cx="1081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94000"/>
              </a:lnSpc>
              <a:buNone/>
              <a:def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5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五个问题，检验是否真的理解系统</a:t>
            </a:r>
            <a:endParaRPr sz="255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9638296611088097"/>
          <p:cNvSpPr>
            <a:spLocks noGrp="1"/>
          </p:cNvSpPr>
          <p:nvPr/>
        </p:nvSpPr>
        <p:spPr>
          <a:xfrm>
            <a:off x="60960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回答不上来时，回到对应章节，不要靠猜。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surface"/>
          <p:cNvSpPr>
            <a:spLocks noGrp="1"/>
          </p:cNvSpPr>
          <p:nvPr/>
        </p:nvSpPr>
        <p:spPr>
          <a:xfrm>
            <a:off x="609600" y="1857375"/>
            <a:ext cx="10287000" cy="3381375"/>
          </a:xfrm>
          <a:prstGeom prst="roundRect">
            <a:avLst>
              <a:gd name="adj" fmla="val 5070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5" name="dot"/>
          <p:cNvSpPr>
            <a:spLocks noGrp="1"/>
          </p:cNvSpPr>
          <p:nvPr/>
        </p:nvSpPr>
        <p:spPr>
          <a:xfrm>
            <a:off x="895350" y="2295525"/>
            <a:ext cx="95250" cy="95250"/>
          </a:xfrm>
          <a:prstGeom prst="ellipse">
            <a:avLst/>
          </a:prstGeom>
          <a:solidFill>
            <a:srgbClr val="1D4E89"/>
          </a:solidFill>
          <a:ln w="9525">
            <a:solidFill>
              <a:srgbClr val="1D4E89"/>
            </a:solidFill>
            <a:prstDash val="solid"/>
          </a:ln>
        </p:spPr>
      </p:sp>
      <p:sp>
        <p:nvSpPr>
          <p:cNvPr id="6" name="txt-0.5486211962437774"/>
          <p:cNvSpPr>
            <a:spLocks noGrp="1"/>
          </p:cNvSpPr>
          <p:nvPr/>
        </p:nvSpPr>
        <p:spPr>
          <a:xfrm>
            <a:off x="1104900" y="22383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为什么 requester 默认不能直接发起变更？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ot"/>
          <p:cNvSpPr>
            <a:spLocks noGrp="1"/>
          </p:cNvSpPr>
          <p:nvPr/>
        </p:nvSpPr>
        <p:spPr>
          <a:xfrm>
            <a:off x="895350" y="2790825"/>
            <a:ext cx="95250" cy="95250"/>
          </a:xfrm>
          <a:prstGeom prst="ellipse">
            <a:avLst/>
          </a:prstGeom>
          <a:solidFill>
            <a:srgbClr val="1D4E89"/>
          </a:solidFill>
          <a:ln w="9525">
            <a:solidFill>
              <a:srgbClr val="1D4E89"/>
            </a:solidFill>
            <a:prstDash val="solid"/>
          </a:ln>
        </p:spPr>
      </p:sp>
      <p:sp>
        <p:nvSpPr>
          <p:cNvPr id="8" name="txt-0.7151852612617444"/>
          <p:cNvSpPr>
            <a:spLocks noGrp="1"/>
          </p:cNvSpPr>
          <p:nvPr/>
        </p:nvSpPr>
        <p:spPr>
          <a:xfrm>
            <a:off x="1104900" y="27336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为什么业务域 owner 不是一个角色？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dot"/>
          <p:cNvSpPr>
            <a:spLocks noGrp="1"/>
          </p:cNvSpPr>
          <p:nvPr/>
        </p:nvSpPr>
        <p:spPr>
          <a:xfrm>
            <a:off x="895350" y="3286125"/>
            <a:ext cx="95250" cy="95250"/>
          </a:xfrm>
          <a:prstGeom prst="ellipse">
            <a:avLst/>
          </a:prstGeom>
          <a:solidFill>
            <a:srgbClr val="1D4E89"/>
          </a:solidFill>
          <a:ln w="9525">
            <a:solidFill>
              <a:srgbClr val="1D4E89"/>
            </a:solidFill>
            <a:prstDash val="solid"/>
          </a:ln>
        </p:spPr>
      </p:sp>
      <p:sp>
        <p:nvSpPr>
          <p:cNvPr id="10" name="txt-0.32070546294162194"/>
          <p:cNvSpPr>
            <a:spLocks noGrp="1"/>
          </p:cNvSpPr>
          <p:nvPr/>
        </p:nvSpPr>
        <p:spPr>
          <a:xfrm>
            <a:off x="1104900" y="32289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为什么流程节点变了要新版本，任务还要快照？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dot"/>
          <p:cNvSpPr>
            <a:spLocks noGrp="1"/>
          </p:cNvSpPr>
          <p:nvPr/>
        </p:nvSpPr>
        <p:spPr>
          <a:xfrm>
            <a:off x="895350" y="3781425"/>
            <a:ext cx="95250" cy="95250"/>
          </a:xfrm>
          <a:prstGeom prst="ellipse">
            <a:avLst/>
          </a:prstGeom>
          <a:solidFill>
            <a:srgbClr val="1D4E89"/>
          </a:solidFill>
          <a:ln w="9525">
            <a:solidFill>
              <a:srgbClr val="1D4E89"/>
            </a:solidFill>
            <a:prstDash val="solid"/>
          </a:ln>
        </p:spPr>
      </p:sp>
      <p:sp>
        <p:nvSpPr>
          <p:cNvPr id="12" name="txt-0.44349999191562217"/>
          <p:cNvSpPr>
            <a:spLocks noGrp="1"/>
          </p:cNvSpPr>
          <p:nvPr/>
        </p:nvSpPr>
        <p:spPr>
          <a:xfrm>
            <a:off x="1104900" y="37242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为什么活动积分和角色绩效必须分开？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dot"/>
          <p:cNvSpPr>
            <a:spLocks noGrp="1"/>
          </p:cNvSpPr>
          <p:nvPr/>
        </p:nvSpPr>
        <p:spPr>
          <a:xfrm>
            <a:off x="895350" y="4276725"/>
            <a:ext cx="95250" cy="95250"/>
          </a:xfrm>
          <a:prstGeom prst="ellipse">
            <a:avLst/>
          </a:prstGeom>
          <a:solidFill>
            <a:srgbClr val="1D4E89"/>
          </a:solidFill>
          <a:ln w="9525">
            <a:solidFill>
              <a:srgbClr val="1D4E89"/>
            </a:solidFill>
            <a:prstDash val="solid"/>
          </a:ln>
        </p:spPr>
      </p:sp>
      <p:sp>
        <p:nvSpPr>
          <p:cNvPr id="14" name="txt-0.5591299145958534"/>
          <p:cNvSpPr>
            <a:spLocks noGrp="1"/>
          </p:cNvSpPr>
          <p:nvPr/>
        </p:nvSpPr>
        <p:spPr>
          <a:xfrm>
            <a:off x="1104900" y="4219575"/>
            <a:ext cx="931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为什么项目进度和人效分数不能手工填？</a:t>
            </a:r>
            <a:endParaRPr sz="1425" b="0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6" name="txt-0.3447827878003713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结课检查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txt-0.24539946471230945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146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op"/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oundRect">
            <a:avLst>
              <a:gd name="adj" fmla="val 44444"/>
            </a:avLst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" name="txt-0.2731666748300705"/>
          <p:cNvSpPr>
            <a:spLocks noGrp="1"/>
          </p:cNvSpPr>
          <p:nvPr/>
        </p:nvSpPr>
        <p:spPr>
          <a:xfrm>
            <a:off x="647700" y="8763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805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3D8D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结语</a:t>
            </a:r>
            <a:endParaRPr sz="1500" b="1">
              <a:solidFill>
                <a:srgbClr val="3D8D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xt-0.5401660893009664"/>
          <p:cNvSpPr>
            <a:spLocks noGrp="1"/>
          </p:cNvSpPr>
          <p:nvPr/>
        </p:nvSpPr>
        <p:spPr>
          <a:xfrm>
            <a:off x="647700" y="1485900"/>
            <a:ext cx="7620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5650"/>
          </a:bodyPr>
          <a:lstStyle/>
          <a:p>
            <a:pPr algn="l">
              <a:lnSpc>
                <a:spcPct val="106000"/>
              </a:lnSpc>
              <a:buNone/>
              <a:defRPr sz="36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6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先把概念说清楚</a:t>
            </a:r>
            <a:endParaRPr sz="36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txt-0.07968579034830137"/>
          <p:cNvSpPr>
            <a:spLocks noGrp="1"/>
          </p:cNvSpPr>
          <p:nvPr/>
        </p:nvSpPr>
        <p:spPr>
          <a:xfrm>
            <a:off x="647700" y="2381250"/>
            <a:ext cx="7620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5650"/>
          </a:bodyPr>
          <a:lstStyle/>
          <a:p>
            <a:pPr algn="l">
              <a:lnSpc>
                <a:spcPct val="106000"/>
              </a:lnSpc>
              <a:buNone/>
              <a:defRPr sz="36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6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再把责任落到节点</a:t>
            </a:r>
            <a:endParaRPr sz="36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txt-0.9428725760923083"/>
          <p:cNvSpPr>
            <a:spLocks noGrp="1"/>
          </p:cNvSpPr>
          <p:nvPr/>
        </p:nvSpPr>
        <p:spPr>
          <a:xfrm>
            <a:off x="647700" y="3276600"/>
            <a:ext cx="7620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5650"/>
          </a:bodyPr>
          <a:lstStyle/>
          <a:p>
            <a:pPr algn="l">
              <a:lnSpc>
                <a:spcPct val="106000"/>
              </a:lnSpc>
              <a:buNone/>
              <a:defRPr sz="36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600" b="1">
                <a:solidFill>
                  <a:srgbClr val="15202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最后让数据留下证据</a:t>
            </a:r>
            <a:endParaRPr sz="3600" b="1">
              <a:solidFill>
                <a:srgbClr val="15202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647700" y="4438650"/>
            <a:ext cx="5543550" cy="0"/>
          </a:xfrm>
          <a:prstGeom prst="line">
            <a:avLst/>
          </a:prstGeom>
          <a:noFill/>
          <a:ln w="38100">
            <a:solidFill>
              <a:srgbClr val="3D8DFF"/>
            </a:solidFill>
            <a:prstDash val="solid"/>
          </a:ln>
        </p:spPr>
      </p:sp>
      <p:sp>
        <p:nvSpPr>
          <p:cNvPr id="7" name="txt-0.43956596660660086"/>
          <p:cNvSpPr>
            <a:spLocks noGrp="1"/>
          </p:cNvSpPr>
          <p:nvPr/>
        </p:nvSpPr>
        <p:spPr>
          <a:xfrm>
            <a:off x="647700" y="4810125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0189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ITIL 给出共同语言，ITOM 把共同语言变成可运行的工作。</a:t>
            </a:r>
            <a:endParaRPr sz="1500" b="1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end"/>
          <p:cNvSpPr>
            <a:spLocks noGrp="1"/>
          </p:cNvSpPr>
          <p:nvPr/>
        </p:nvSpPr>
        <p:spPr>
          <a:xfrm>
            <a:off x="8572500" y="1809750"/>
            <a:ext cx="2095500" cy="2095500"/>
          </a:xfrm>
          <a:prstGeom prst="roundRect">
            <a:avLst>
              <a:gd name="adj" fmla="val 12727"/>
            </a:avLst>
          </a:prstGeom>
          <a:solidFill>
            <a:srgbClr val="EFF2F4"/>
          </a:solidFill>
          <a:ln w="0">
            <a:noFill/>
            <a:prstDash val="solid"/>
          </a:ln>
        </p:spPr>
      </p:sp>
      <p:sp>
        <p:nvSpPr>
          <p:cNvPr id="9" name="txt-0.791650568743773"/>
          <p:cNvSpPr>
            <a:spLocks noGrp="1"/>
          </p:cNvSpPr>
          <p:nvPr/>
        </p:nvSpPr>
        <p:spPr>
          <a:xfrm>
            <a:off x="8572500" y="2400300"/>
            <a:ext cx="209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9271"/>
          </a:bodyPr>
          <a:lstStyle/>
          <a:p>
            <a:pPr algn="ctr">
              <a:lnSpc>
                <a:spcPct val="106000"/>
              </a:lnSpc>
              <a:buNone/>
              <a:defRPr sz="3600" b="1">
                <a:solidFill>
                  <a:srgbClr val="1D4E8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600" b="1">
                <a:solidFill>
                  <a:srgbClr val="1D4E8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ITOM</a:t>
            </a:r>
            <a:endParaRPr sz="3600" b="1">
              <a:solidFill>
                <a:srgbClr val="1D4E8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txt-0.5448888769959905"/>
          <p:cNvSpPr>
            <a:spLocks noGrp="1"/>
          </p:cNvSpPr>
          <p:nvPr/>
        </p:nvSpPr>
        <p:spPr>
          <a:xfrm>
            <a:off x="8572500" y="3143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0409"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5361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可控 · 可查 · 可改进</a:t>
            </a:r>
            <a:endParaRPr sz="1200" b="0">
              <a:solidFill>
                <a:srgbClr val="5361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B9C3CB"/>
            </a:solidFill>
            <a:prstDash val="solid"/>
          </a:ln>
        </p:spPr>
      </p:sp>
      <p:sp>
        <p:nvSpPr>
          <p:cNvPr id="12" name="txt-0.0959747253321449"/>
          <p:cNvSpPr>
            <a:spLocks noGrp="1"/>
          </p:cNvSpPr>
          <p:nvPr/>
        </p:nvSpPr>
        <p:spPr>
          <a:xfrm>
            <a:off x="609600" y="65341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55031"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ITOM 系统培训｜深度版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xt-0.9631418462306975"/>
          <p:cNvSpPr>
            <a:spLocks noGrp="1"/>
          </p:cNvSpPr>
          <p:nvPr/>
        </p:nvSpPr>
        <p:spPr>
          <a:xfrm>
            <a:off x="11029950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68134"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8C98A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147</a:t>
            </a:r>
            <a:endParaRPr sz="900" b="1">
              <a:solidFill>
                <a:srgbClr val="8C98A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21167</Words>
  <Application>WPS 表格</Application>
  <PresentationFormat>Converted Presentation</PresentationFormat>
  <Paragraphs>2726</Paragraphs>
  <Slides>147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147</vt:i4>
      </vt:variant>
    </vt:vector>
  </HeadingPairs>
  <TitlesOfParts>
    <vt:vector size="161" baseType="lpstr">
      <vt:lpstr>Arial</vt:lpstr>
      <vt:lpstr>宋体</vt:lpstr>
      <vt:lpstr>Wingdings</vt:lpstr>
      <vt:lpstr>Arial</vt:lpstr>
      <vt:lpstr>宋体</vt:lpstr>
      <vt:lpstr>汉仪书宋二KW</vt:lpstr>
      <vt:lpstr>微软雅黑</vt:lpstr>
      <vt:lpstr>汉仪旗黑</vt:lpstr>
      <vt:lpstr>Arial Unicode MS</vt:lpstr>
      <vt:lpstr>Calibri</vt:lpstr>
      <vt:lpstr>Helvetica Neue</vt:lpstr>
      <vt:lpstr>MS PGothic</vt:lpstr>
      <vt:lpstr>苹方-简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IT老熊</cp:lastModifiedBy>
  <cp:revision>2</cp:revision>
  <dcterms:created xsi:type="dcterms:W3CDTF">2026-07-24T01:59:23Z</dcterms:created>
  <dcterms:modified xsi:type="dcterms:W3CDTF">2026-07-24T01:59:23Z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2052-12.1.26026.26026</vt:lpwstr>
  </property>
  <property fmtid="{D5CDD505-2E9C-101B-9397-08002B2CF9AE}" pid="3" name="ICV">
    <vt:lpwstr>09F561332A816FFECBC6626A27AF1F48_42</vt:lpwstr>
  </property>
</Properties>
</file>